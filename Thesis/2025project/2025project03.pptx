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60" r:id="rId3"/>
    <p:sldId id="261" r:id="rId4"/>
    <p:sldId id="271" r:id="rId5"/>
    <p:sldId id="292" r:id="rId6"/>
    <p:sldId id="287" r:id="rId7"/>
    <p:sldId id="264" r:id="rId8"/>
    <p:sldId id="266" r:id="rId9"/>
    <p:sldId id="267" r:id="rId10"/>
    <p:sldId id="268" r:id="rId11"/>
    <p:sldId id="269" r:id="rId12"/>
    <p:sldId id="272" r:id="rId13"/>
    <p:sldId id="290" r:id="rId14"/>
    <p:sldId id="288" r:id="rId15"/>
    <p:sldId id="276" r:id="rId16"/>
    <p:sldId id="277" r:id="rId17"/>
    <p:sldId id="291" r:id="rId18"/>
    <p:sldId id="279" r:id="rId19"/>
    <p:sldId id="289" r:id="rId20"/>
    <p:sldId id="281" r:id="rId21"/>
    <p:sldId id="282" r:id="rId22"/>
    <p:sldId id="283" r:id="rId23"/>
    <p:sldId id="286" r:id="rId24"/>
    <p:sldId id="285" r:id="rId2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4660"/>
  </p:normalViewPr>
  <p:slideViewPr>
    <p:cSldViewPr snapToGrid="0">
      <p:cViewPr varScale="1">
        <p:scale>
          <a:sx n="70" d="100"/>
          <a:sy n="70" d="100"/>
        </p:scale>
        <p:origin x="3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BE9973-779A-4689-81E8-BA3AA37D778A}" type="datetimeFigureOut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BB0A8-C870-46D4-8E5D-4D63A3B2C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6519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B0A8-C870-46D4-8E5D-4D63A3B2C98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1456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7D4FE-5719-1921-93C0-CA47DD130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6A21725-70EB-2257-E152-55B84ED14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830EA3C-61B2-BAB6-249E-1CC6E47EC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9A3578-1A21-9BA8-D22E-77C3A5D29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B0A8-C870-46D4-8E5D-4D63A3B2C98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6026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232011-5BBE-4443-53CE-D697F8A9E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89E124-D01A-DCCC-7E3B-D939705F0D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C93E98-0B0D-B058-0268-9D970C1EE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904C7-B22B-46BE-9014-A6629B661A2E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985A30-0188-37C8-9D9F-1DCE9F792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878FC9-4595-8391-7875-8D20AC9B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9578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B9B216-9D13-ED39-3A32-65B64391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109A82-ADB2-74F6-3099-9B1AD70B9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63459A-5041-EE9D-5BCD-E2DD47319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19A42-259D-4B78-95E4-5E935A7EA16E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A1683C-B3A8-FD44-299B-A14FFF0E8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36F963-D591-E8C4-5EDD-BB008885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3060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C7FC4E-0C93-17C9-46F5-E92581753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0C3625-C363-F59D-C0C5-1874126D3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F9C17C-D307-4338-BFB5-6BCF4AB06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801C3-45E8-44A4-9DC7-B00D9632594F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EF1AA5-FE78-F748-3734-B59172525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897FF0-4B41-9711-B330-BFF1BDCE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594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AA646B-6862-2C26-408F-F89D092FF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F37737-115A-F553-4C42-48A0E1D60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2B65DB-F0AE-5292-F4BF-FCF43993F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865060-C458-95AD-D5D8-3E304BC1D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BAB7-C985-4E69-94E6-6CB5C25597F0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B0351B-C5E4-0DED-1E9A-A18F171FA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A8C99A-3306-24E2-7EA8-68BE3F5A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7518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F577EA-0C67-6577-959C-B9A4183C6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D88AB2-78D2-58ED-CA92-342EE5EF1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540ACA6-DA58-A6F4-0A2E-0557E8C79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0370256-6147-BBD1-53AC-807DE0844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042C172-2556-0CF9-8C24-F9672CE273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54C7863-89FE-082F-C4B0-4F72AE0B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69D34-249E-4992-8F23-FA43D5C42E9C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88A2FEE-F2EC-D09B-4CB9-D8581AD4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84B24E3-6616-75EE-8248-0B08627A8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4077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07E940-1DB3-5C6F-A643-264E3867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5074481-88D2-49D4-B118-D08F3EE6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839A-EC73-4CF8-BC58-FB93FE21E6BB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FA5D2CB-E956-FD11-B4D3-5347A7A19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275D9F1-9C7E-91E5-E38D-89401AF3C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7166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A0C710A-A3CE-1D37-A2D7-A13496BCC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5BB8-1CB1-4093-9B2C-F3685FC3A945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731A46-C415-CE5D-6029-A83A697A7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69415B-A8B4-A7E1-E616-7ABBB4DDB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9628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7F9916-E13B-6AEC-65E4-032919441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2FC1AD-6621-E421-202E-BBD1E2411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BF6F96E-E4B4-9AA1-60A3-8A152F661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22FA89-A111-3E7F-7591-7901B503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9D577-FBD4-4283-99E9-E10BC2EDD633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CFDEC1D-45ED-9C53-56FF-16DF4F50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DF7AB1-04C5-9E9E-C184-0B07E307D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6912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CAEB4F-0E1E-3878-C0A1-883FA62CE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1E7F325-4F96-275A-FA0C-EC42B6B4D2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5A3CA9-C251-7374-3ADD-897BF2AFC4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7C872E-F9E5-5A04-4B13-2552D4882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24F2-AE4A-4B57-8952-B5143D8A911E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BF1A47-2806-C66E-9D70-F01BB1040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923A42-09AC-B702-D0A4-8322E4FAA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6845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571A30-50D4-B8CD-13EA-6E0675AA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1BD8FFD-877A-6CC7-6755-AF3AACA96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B22455-A42E-1796-F43F-B33E66775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07A9A-D745-47D9-853B-90109E7E1CD7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111E56-D93E-BDED-269F-1437AE0A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330402-4140-EEFD-D977-567C290D9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4901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7773888-263A-3001-7ACC-DFC02B577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A7B9E6D-B5A1-C247-490E-7D7C18C87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BED210-5051-164F-D238-2AC22FBA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2F2B8-43F4-474D-A7B5-308185887424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D9CC18-8B58-3069-A4D1-4EDF2748D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1AAE4A-641B-A2BF-40EF-07B732EF8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214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DC544E1-34C8-8B99-3973-88D002844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8110A13-E54A-7E2B-5B09-8C030EDDD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ABF3B2-74A2-CDEE-77FA-6114BF535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C334B-92F4-4913-8AD7-DD5B41ED526D}" type="datetime1">
              <a:rPr kumimoji="1" lang="ja-JP" altLang="en-US" smtClean="0"/>
              <a:t>2026/1/15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AAB741-05BC-7FB8-7CD9-0E0F7DAA4B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F6A658-318D-76E1-2916-58A09D40E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0D84E8-3023-4240-8750-DEB3F40919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3128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A5B0FF-FF85-F291-E6FF-518552554E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400" b="1" dirty="0"/>
              <a:t>株価予測における</a:t>
            </a:r>
            <a:r>
              <a:rPr kumimoji="1" lang="en-US" altLang="ja-JP" sz="4400" b="1" dirty="0"/>
              <a:t>TCN-</a:t>
            </a:r>
            <a:r>
              <a:rPr kumimoji="1" lang="en-US" altLang="ja-JP" sz="4400" b="1" dirty="0" err="1"/>
              <a:t>LightGBM</a:t>
            </a:r>
            <a:br>
              <a:rPr kumimoji="1" lang="en-US" altLang="ja-JP" sz="4400" b="1" dirty="0"/>
            </a:br>
            <a:r>
              <a:rPr kumimoji="1" lang="ja-JP" altLang="en-US" sz="4400" b="1" dirty="0"/>
              <a:t>複合モデルの適用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213F93D-0846-C50C-B43A-BB62E78D6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42365"/>
            <a:ext cx="9144000" cy="1655762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株価予測グループ</a:t>
            </a:r>
            <a:r>
              <a:rPr kumimoji="1" lang="en-US" altLang="ja-JP" dirty="0"/>
              <a:t>   </a:t>
            </a:r>
          </a:p>
          <a:p>
            <a:r>
              <a:rPr kumimoji="1" lang="en-US" altLang="ja-JP" dirty="0"/>
              <a:t>  2</a:t>
            </a:r>
            <a:r>
              <a:rPr lang="en-US" altLang="ja-JP" dirty="0"/>
              <a:t>5R6211</a:t>
            </a:r>
            <a:r>
              <a:rPr kumimoji="1" lang="en-US" altLang="ja-JP" dirty="0"/>
              <a:t> </a:t>
            </a:r>
            <a:r>
              <a:rPr kumimoji="1" lang="ja-JP" altLang="en-US" dirty="0"/>
              <a:t>中居幸太　</a:t>
            </a:r>
            <a:r>
              <a:rPr lang="en-US" altLang="ja-JP" dirty="0"/>
              <a:t>25R6217 </a:t>
            </a:r>
            <a:r>
              <a:rPr lang="ja-JP" altLang="en-US" dirty="0"/>
              <a:t>李径直　</a:t>
            </a:r>
            <a:r>
              <a:rPr kumimoji="1" lang="en-US" altLang="ja-JP" dirty="0"/>
              <a:t>23X4024 </a:t>
            </a:r>
            <a:r>
              <a:rPr kumimoji="1" lang="ja-JP" altLang="en-US" dirty="0"/>
              <a:t>菓子尾伊織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639BF34-F787-5D66-959B-D92C1EC8C21D}"/>
              </a:ext>
            </a:extLst>
          </p:cNvPr>
          <p:cNvSpPr/>
          <p:nvPr/>
        </p:nvSpPr>
        <p:spPr>
          <a:xfrm>
            <a:off x="0" y="3723337"/>
            <a:ext cx="12192000" cy="48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EF4D76-A84D-7112-1A07-31F7F9CA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1</a:t>
            </a:fld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DA0484E-308E-28C1-25C1-02C4BA0A4B18}"/>
              </a:ext>
            </a:extLst>
          </p:cNvPr>
          <p:cNvSpPr/>
          <p:nvPr/>
        </p:nvSpPr>
        <p:spPr>
          <a:xfrm>
            <a:off x="0" y="3771828"/>
            <a:ext cx="12192000" cy="4849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564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E1F6A-AC49-CF25-F26E-5F204ECBB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07EDC-C43B-2E51-97ED-13D1027A9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b="1" dirty="0"/>
              <a:t>アジェンダ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F6FCCF5-F751-9546-BE5C-5CE20255B755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8D7F7A-CF71-0602-0EB9-9ECDF1526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2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87F6C38-D71D-C911-D550-634A5FE0937F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C7195D5-98FA-229E-910C-C55457CFDF26}"/>
              </a:ext>
            </a:extLst>
          </p:cNvPr>
          <p:cNvSpPr txBox="1"/>
          <p:nvPr/>
        </p:nvSpPr>
        <p:spPr>
          <a:xfrm>
            <a:off x="832104" y="1691640"/>
            <a:ext cx="1052169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ja-JP" altLang="en-US" sz="2400" dirty="0"/>
              <a:t>研究背景と目的</a:t>
            </a:r>
            <a:endParaRPr kumimoji="1" lang="en-US" altLang="ja-JP" sz="2400" dirty="0"/>
          </a:p>
          <a:p>
            <a:pPr marL="342900" indent="-342900">
              <a:buFont typeface="+mj-lt"/>
              <a:buAutoNum type="arabicPeriod"/>
            </a:pPr>
            <a:endParaRPr lang="en-US" altLang="ja-JP" sz="2400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sz="2400" dirty="0"/>
              <a:t>データの入手方法と特徴量</a:t>
            </a:r>
            <a:endParaRPr kumimoji="1" lang="en-US" altLang="ja-JP" sz="2400" dirty="0"/>
          </a:p>
          <a:p>
            <a:pPr marL="342900" indent="-342900">
              <a:buFont typeface="+mj-lt"/>
              <a:buAutoNum type="arabicPeriod"/>
            </a:pPr>
            <a:endParaRPr lang="en-US" altLang="ja-JP" sz="2400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sz="2400" dirty="0"/>
              <a:t>提案手法</a:t>
            </a:r>
            <a:endParaRPr kumimoji="1" lang="en-US" altLang="ja-JP" sz="2400" dirty="0"/>
          </a:p>
          <a:p>
            <a:pPr marL="342900" indent="-342900">
              <a:buFont typeface="+mj-lt"/>
              <a:buAutoNum type="arabicPeriod"/>
            </a:pPr>
            <a:endParaRPr lang="en-US" altLang="ja-JP" sz="2400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sz="2400" dirty="0"/>
              <a:t>実験設定と評価指標</a:t>
            </a:r>
            <a:endParaRPr kumimoji="1" lang="en-US" altLang="ja-JP" sz="2400" dirty="0"/>
          </a:p>
          <a:p>
            <a:pPr marL="342900" indent="-342900">
              <a:buFont typeface="+mj-lt"/>
              <a:buAutoNum type="arabicPeriod"/>
            </a:pPr>
            <a:endParaRPr lang="en-US" altLang="ja-JP" sz="2400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sz="2400" dirty="0"/>
              <a:t>実験結果と考察</a:t>
            </a:r>
            <a:endParaRPr kumimoji="1" lang="en-US" altLang="ja-JP" sz="2400" dirty="0"/>
          </a:p>
          <a:p>
            <a:pPr marL="342900" indent="-342900">
              <a:buFont typeface="+mj-lt"/>
              <a:buAutoNum type="arabicPeriod"/>
            </a:pPr>
            <a:endParaRPr lang="en-US" altLang="ja-JP" sz="2400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sz="2400" dirty="0"/>
              <a:t>今後の課題</a:t>
            </a:r>
            <a:endParaRPr kumimoji="1" lang="en-US" altLang="ja-JP" sz="2400" dirty="0"/>
          </a:p>
          <a:p>
            <a:pPr marL="342900" indent="-342900">
              <a:buFont typeface="+mj-lt"/>
              <a:buAutoNum type="arabicPeriod"/>
            </a:pPr>
            <a:endParaRPr lang="en-US" altLang="ja-JP" sz="2400" dirty="0"/>
          </a:p>
          <a:p>
            <a:pPr marL="342900" indent="-342900">
              <a:buFont typeface="+mj-lt"/>
              <a:buAutoNum type="arabicPeriod"/>
            </a:pPr>
            <a:r>
              <a:rPr kumimoji="1" lang="ja-JP" altLang="en-US" sz="2400" dirty="0"/>
              <a:t>まとめ</a:t>
            </a:r>
          </a:p>
        </p:txBody>
      </p:sp>
    </p:spTree>
    <p:extLst>
      <p:ext uri="{BB962C8B-B14F-4D97-AF65-F5344CB8AC3E}">
        <p14:creationId xmlns:p14="http://schemas.microsoft.com/office/powerpoint/2010/main" val="2115009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56EB8-42E6-A3B0-A05A-6CCD34B1E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80E63B-A1B2-E469-AA6D-B31E2364D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ja-JP" sz="3600" b="1" dirty="0"/>
              <a:t>1.</a:t>
            </a:r>
            <a:r>
              <a:rPr kumimoji="1" lang="ja-JP" altLang="en-US" sz="3600" b="1" dirty="0"/>
              <a:t>研究背景と目的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1CA43CB-5575-C755-0194-0DD7DE565041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5C66B6-5140-51D5-348B-6BA773FA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3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9B98052-E170-7BD4-28DD-D28E7AB7B6CD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7D1BE2-964C-4356-5233-B05C09C3545C}"/>
              </a:ext>
            </a:extLst>
          </p:cNvPr>
          <p:cNvSpPr txBox="1"/>
          <p:nvPr/>
        </p:nvSpPr>
        <p:spPr>
          <a:xfrm>
            <a:off x="893064" y="1773936"/>
            <a:ext cx="104058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株価予測における</a:t>
            </a:r>
            <a:r>
              <a:rPr lang="ja-JP" altLang="en-US" sz="2800" b="1" dirty="0"/>
              <a:t>ディープラーニング</a:t>
            </a:r>
            <a:r>
              <a:rPr lang="ja-JP" altLang="en-US" sz="2800" dirty="0"/>
              <a:t>（</a:t>
            </a:r>
            <a:r>
              <a:rPr kumimoji="1" lang="en-US" altLang="ja-JP" sz="2800" dirty="0"/>
              <a:t>RNN</a:t>
            </a:r>
            <a:r>
              <a:rPr lang="ja-JP" altLang="en-US" sz="2800" dirty="0"/>
              <a:t>，</a:t>
            </a:r>
            <a:r>
              <a:rPr kumimoji="1" lang="en-US" altLang="ja-JP" sz="2800" dirty="0"/>
              <a:t>LSTM</a:t>
            </a:r>
            <a:r>
              <a:rPr kumimoji="1" lang="ja-JP" altLang="en-US" sz="2800" b="1" dirty="0"/>
              <a:t>）</a:t>
            </a:r>
            <a:r>
              <a:rPr kumimoji="1" lang="ja-JP" altLang="en-US" sz="2800" dirty="0"/>
              <a:t>を</a:t>
            </a:r>
            <a:endParaRPr kumimoji="1" lang="en-US" altLang="ja-JP" sz="2800" dirty="0"/>
          </a:p>
          <a:p>
            <a:r>
              <a:rPr kumimoji="1" lang="ja-JP" altLang="en-US" sz="2800" dirty="0"/>
              <a:t>用いた研究の活発化</a:t>
            </a:r>
            <a:endParaRPr kumimoji="1" lang="en-US" altLang="ja-JP" sz="2800" dirty="0"/>
          </a:p>
          <a:p>
            <a:endParaRPr lang="en-US" altLang="ja-JP" sz="2800" dirty="0"/>
          </a:p>
        </p:txBody>
      </p:sp>
      <p:sp>
        <p:nvSpPr>
          <p:cNvPr id="7" name="スマイル 6">
            <a:extLst>
              <a:ext uri="{FF2B5EF4-FFF2-40B4-BE49-F238E27FC236}">
                <a16:creationId xmlns:a16="http://schemas.microsoft.com/office/drawing/2014/main" id="{DE83A0B8-09BD-3A44-90EE-7862F6C6ECEF}"/>
              </a:ext>
            </a:extLst>
          </p:cNvPr>
          <p:cNvSpPr/>
          <p:nvPr/>
        </p:nvSpPr>
        <p:spPr>
          <a:xfrm>
            <a:off x="3110485" y="5489366"/>
            <a:ext cx="941832" cy="915351"/>
          </a:xfrm>
          <a:prstGeom prst="smileyFac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CF53F04-A141-77F6-A765-636D882352D3}"/>
              </a:ext>
            </a:extLst>
          </p:cNvPr>
          <p:cNvSpPr/>
          <p:nvPr/>
        </p:nvSpPr>
        <p:spPr>
          <a:xfrm>
            <a:off x="2036065" y="3887738"/>
            <a:ext cx="3090672" cy="11896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 err="1">
                <a:solidFill>
                  <a:schemeClr val="tx1"/>
                </a:solidFill>
              </a:rPr>
              <a:t>LightGBM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B4209D1-93B3-C235-A7ED-AB2C6FCA978E}"/>
              </a:ext>
            </a:extLst>
          </p:cNvPr>
          <p:cNvSpPr/>
          <p:nvPr/>
        </p:nvSpPr>
        <p:spPr>
          <a:xfrm>
            <a:off x="6495289" y="3887738"/>
            <a:ext cx="3090672" cy="11896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>
                <a:solidFill>
                  <a:schemeClr val="tx1"/>
                </a:solidFill>
              </a:rPr>
              <a:t>LSTM</a:t>
            </a:r>
            <a:endParaRPr kumimoji="1" lang="ja-JP" altLang="en-US" sz="2800" b="1" dirty="0">
              <a:solidFill>
                <a:schemeClr val="tx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60857A2-E372-8F76-BA45-332197E6AC92}"/>
              </a:ext>
            </a:extLst>
          </p:cNvPr>
          <p:cNvSpPr txBox="1"/>
          <p:nvPr/>
        </p:nvSpPr>
        <p:spPr>
          <a:xfrm>
            <a:off x="5564125" y="4128630"/>
            <a:ext cx="493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b="1" dirty="0"/>
              <a:t>+</a:t>
            </a:r>
            <a:endParaRPr kumimoji="1" lang="ja-JP" altLang="en-US" sz="40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D943262-67AF-F305-3CAC-F5B65F7CB8AA}"/>
              </a:ext>
            </a:extLst>
          </p:cNvPr>
          <p:cNvSpPr txBox="1"/>
          <p:nvPr/>
        </p:nvSpPr>
        <p:spPr>
          <a:xfrm>
            <a:off x="4962144" y="5654653"/>
            <a:ext cx="5550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精度が改善した！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D2FED9A-E367-0938-942A-8A82DEAD3AAE}"/>
              </a:ext>
            </a:extLst>
          </p:cNvPr>
          <p:cNvSpPr txBox="1"/>
          <p:nvPr/>
        </p:nvSpPr>
        <p:spPr>
          <a:xfrm>
            <a:off x="893064" y="3063716"/>
            <a:ext cx="3413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先行研究によると</a:t>
            </a:r>
            <a:r>
              <a:rPr kumimoji="1" lang="en-US" altLang="ja-JP" sz="2800" dirty="0"/>
              <a:t>…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07431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5D0D5-AB87-1314-0144-79DA9F299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B70112-767A-0022-76DF-E2F229B08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ja-JP" sz="3600" b="1" dirty="0"/>
              <a:t>TCN(</a:t>
            </a:r>
            <a:r>
              <a:rPr kumimoji="1" lang="ja-JP" altLang="en-US" sz="3600" b="1" dirty="0"/>
              <a:t>時間的畳み込みネットワーク</a:t>
            </a:r>
            <a:r>
              <a:rPr kumimoji="1" lang="en-US" altLang="ja-JP" sz="3600" b="1" dirty="0"/>
              <a:t>)</a:t>
            </a:r>
            <a:endParaRPr kumimoji="1" lang="ja-JP" altLang="en-US" sz="3600" b="1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BE410F8-6CC9-A2C6-43E7-3F6A4576D8DC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9EAC22-C728-3EBE-EDE3-AB012B580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4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E2535EC-A7B2-F449-D5FA-7BD0650DBE40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3A059E5B-AB9B-8D42-C215-AFF026BBC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753" y="1686880"/>
            <a:ext cx="7704493" cy="393668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7D49FAF-2B40-C9C4-E541-40CC8075C33A}"/>
              </a:ext>
            </a:extLst>
          </p:cNvPr>
          <p:cNvSpPr txBox="1"/>
          <p:nvPr/>
        </p:nvSpPr>
        <p:spPr>
          <a:xfrm>
            <a:off x="1810512" y="5691341"/>
            <a:ext cx="8741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/>
              <a:t>LSTM</a:t>
            </a:r>
            <a:r>
              <a:rPr lang="ja-JP" altLang="en-US" sz="2400" dirty="0"/>
              <a:t>より高い精度を出している</a:t>
            </a:r>
            <a:r>
              <a:rPr lang="en-US" altLang="ja-JP" sz="2400" b="1" dirty="0">
                <a:solidFill>
                  <a:srgbClr val="FF0000"/>
                </a:solidFill>
              </a:rPr>
              <a:t>TCN</a:t>
            </a:r>
            <a:r>
              <a:rPr lang="ja-JP" altLang="en-US" sz="2400" dirty="0"/>
              <a:t>というモデルが存在する</a:t>
            </a:r>
            <a:endParaRPr kumimoji="1" lang="ja-JP" altLang="en-US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6580104-741F-66D9-BE0A-0D8E652A57D1}"/>
              </a:ext>
            </a:extLst>
          </p:cNvPr>
          <p:cNvSpPr txBox="1"/>
          <p:nvPr/>
        </p:nvSpPr>
        <p:spPr>
          <a:xfrm>
            <a:off x="758952" y="6220787"/>
            <a:ext cx="104424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dirty="0"/>
              <a:t>表の</a:t>
            </a:r>
            <a:r>
              <a:rPr kumimoji="1" lang="ja-JP" altLang="en-US" sz="1600" dirty="0"/>
              <a:t>引用元：</a:t>
            </a:r>
            <a:r>
              <a:rPr lang="en-US" altLang="ja-JP" sz="1600" dirty="0" err="1"/>
              <a:t>Shaojie</a:t>
            </a:r>
            <a:r>
              <a:rPr lang="en-US" altLang="ja-JP" sz="1600" dirty="0"/>
              <a:t> Bai et al.</a:t>
            </a:r>
            <a:r>
              <a:rPr lang="ja-JP" altLang="en-US" sz="1600" dirty="0"/>
              <a:t>，</a:t>
            </a:r>
            <a:r>
              <a:rPr lang="en-US" altLang="ja-JP" sz="1600" dirty="0"/>
              <a:t>An Empirical Evaluation of Generic Convolutional and Recurrent Networks for Sequence Modeling</a:t>
            </a:r>
            <a:r>
              <a:rPr lang="ja-JP" altLang="en-US" sz="1600" dirty="0"/>
              <a:t>，</a:t>
            </a:r>
            <a:r>
              <a:rPr lang="en-US" altLang="ja-JP" sz="1600" dirty="0"/>
              <a:t>2018</a:t>
            </a:r>
            <a:endParaRPr kumimoji="1" lang="ja-JP" altLang="en-US" sz="1600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9AB23E7-6ACB-8AA8-DE81-0FA1921B8A24}"/>
              </a:ext>
            </a:extLst>
          </p:cNvPr>
          <p:cNvSpPr/>
          <p:nvPr/>
        </p:nvSpPr>
        <p:spPr>
          <a:xfrm>
            <a:off x="9061704" y="2130552"/>
            <a:ext cx="776814" cy="33924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6061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90B17-99BB-C1B0-C154-E445EFA5B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92E41E-15B1-DAB1-3B0F-5576BD463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ja-JP" sz="3600" b="1" dirty="0"/>
              <a:t>TCN(</a:t>
            </a:r>
            <a:r>
              <a:rPr kumimoji="1" lang="ja-JP" altLang="en-US" sz="3600" b="1" dirty="0"/>
              <a:t>時間的畳み込みネットワーク</a:t>
            </a:r>
            <a:r>
              <a:rPr kumimoji="1" lang="en-US" altLang="ja-JP" sz="3600" b="1" dirty="0"/>
              <a:t>)</a:t>
            </a:r>
            <a:endParaRPr kumimoji="1" lang="ja-JP" altLang="en-US" sz="3600" b="1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18D50C3-D57C-A4A7-3844-5580ABAD3B9A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894A54A-656A-C13C-20D4-7B409A92A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5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5F37197-DB1D-5B04-BD23-A50CFA85406F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 descr="グラフ, 散布図&#10;&#10;AI 生成コンテンツは誤りを含む可能性があります。">
            <a:extLst>
              <a:ext uri="{FF2B5EF4-FFF2-40B4-BE49-F238E27FC236}">
                <a16:creationId xmlns:a16="http://schemas.microsoft.com/office/drawing/2014/main" id="{0CE89F45-7D31-FB4A-B536-B17BE1155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9003"/>
            <a:ext cx="8238433" cy="4497347"/>
          </a:xfrm>
          <a:prstGeom prst="rect">
            <a:avLst/>
          </a:prstGeom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4B93B595-257B-5382-AF5E-4113B33FEAD6}"/>
              </a:ext>
            </a:extLst>
          </p:cNvPr>
          <p:cNvSpPr/>
          <p:nvPr/>
        </p:nvSpPr>
        <p:spPr>
          <a:xfrm>
            <a:off x="8238432" y="1859003"/>
            <a:ext cx="3831647" cy="449734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4550D2C-7F0C-8F05-C36A-6BEAB734DC05}"/>
              </a:ext>
            </a:extLst>
          </p:cNvPr>
          <p:cNvSpPr txBox="1"/>
          <p:nvPr/>
        </p:nvSpPr>
        <p:spPr>
          <a:xfrm>
            <a:off x="9342120" y="2078076"/>
            <a:ext cx="2011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/>
              <a:t>TCN</a:t>
            </a:r>
            <a:r>
              <a:rPr kumimoji="1" lang="ja-JP" altLang="en-US" sz="2000" b="1" dirty="0"/>
              <a:t>の特徴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FC333BFE-0E74-C358-1CCF-264457E1DF6A}"/>
              </a:ext>
            </a:extLst>
          </p:cNvPr>
          <p:cNvCxnSpPr/>
          <p:nvPr/>
        </p:nvCxnSpPr>
        <p:spPr>
          <a:xfrm>
            <a:off x="8238432" y="2495677"/>
            <a:ext cx="3831647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F4FA37E-49A0-F28C-9B56-4AF760225E0C}"/>
              </a:ext>
            </a:extLst>
          </p:cNvPr>
          <p:cNvSpPr txBox="1"/>
          <p:nvPr/>
        </p:nvSpPr>
        <p:spPr>
          <a:xfrm>
            <a:off x="8610600" y="2846874"/>
            <a:ext cx="322783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000" dirty="0"/>
              <a:t>CNN</a:t>
            </a:r>
            <a:r>
              <a:rPr lang="ja-JP" altLang="en-US" sz="2000" dirty="0"/>
              <a:t>を用いた時系列</a:t>
            </a:r>
            <a:br>
              <a:rPr lang="en-US" altLang="ja-JP" sz="2000" dirty="0"/>
            </a:br>
            <a:r>
              <a:rPr lang="ja-JP" altLang="en-US" sz="2000" dirty="0"/>
              <a:t>アルゴリズム</a:t>
            </a: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未来の情報を使用しない構造</a:t>
            </a: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広い受容野を効率的に確保し、長期依存関係を学習可能</a:t>
            </a: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03930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7EA2C-B99D-C04C-C4DB-1809A78C7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8BA75B-B6BD-81C7-CAAB-9D676C438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ja-JP" sz="3600" b="1" dirty="0"/>
              <a:t>1.</a:t>
            </a:r>
            <a:r>
              <a:rPr kumimoji="1" lang="ja-JP" altLang="en-US" sz="3600" b="1" dirty="0"/>
              <a:t>研究背景と目的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33B5BED-26CB-5759-FED7-B7D628D9E7A6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A41778-D5F5-F5A8-45F7-68F5AE48D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6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9782F7D-A1E5-E24A-C32C-40F78C0C9E92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F4FCA6D1-2C21-C6BE-27AA-EFE10121024F}"/>
              </a:ext>
            </a:extLst>
          </p:cNvPr>
          <p:cNvSpPr/>
          <p:nvPr/>
        </p:nvSpPr>
        <p:spPr>
          <a:xfrm>
            <a:off x="609600" y="2000005"/>
            <a:ext cx="2563368" cy="3468107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9C645F9-87F7-FD69-337F-23173E568BB0}"/>
              </a:ext>
            </a:extLst>
          </p:cNvPr>
          <p:cNvSpPr txBox="1"/>
          <p:nvPr/>
        </p:nvSpPr>
        <p:spPr>
          <a:xfrm>
            <a:off x="1178382" y="2044080"/>
            <a:ext cx="1796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先行研究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EFC2A7B-E6BF-C768-11A9-BFB56B4FF871}"/>
              </a:ext>
            </a:extLst>
          </p:cNvPr>
          <p:cNvSpPr txBox="1"/>
          <p:nvPr/>
        </p:nvSpPr>
        <p:spPr>
          <a:xfrm>
            <a:off x="879621" y="3099633"/>
            <a:ext cx="20233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 err="1"/>
              <a:t>LightGBM</a:t>
            </a:r>
            <a:endParaRPr kumimoji="1" lang="en-US" altLang="ja-JP" sz="2800" b="1" dirty="0"/>
          </a:p>
          <a:p>
            <a:pPr algn="ctr"/>
            <a:r>
              <a:rPr lang="en-US" altLang="ja-JP" sz="2800" b="1" dirty="0"/>
              <a:t>+</a:t>
            </a:r>
          </a:p>
          <a:p>
            <a:pPr algn="ctr"/>
            <a:r>
              <a:rPr kumimoji="1" lang="en-US" altLang="ja-JP" sz="2800" b="1" u="sng" dirty="0"/>
              <a:t>LSTM</a:t>
            </a:r>
            <a:endParaRPr kumimoji="1" lang="ja-JP" altLang="en-US" sz="2800" b="1" u="sng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E1FB6DA-0CCC-B7ED-B2E3-66C2D072A43D}"/>
              </a:ext>
            </a:extLst>
          </p:cNvPr>
          <p:cNvCxnSpPr/>
          <p:nvPr/>
        </p:nvCxnSpPr>
        <p:spPr>
          <a:xfrm>
            <a:off x="609600" y="2549819"/>
            <a:ext cx="2563368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フローチャート: 処理 14">
            <a:extLst>
              <a:ext uri="{FF2B5EF4-FFF2-40B4-BE49-F238E27FC236}">
                <a16:creationId xmlns:a16="http://schemas.microsoft.com/office/drawing/2014/main" id="{09FF3B64-E8E4-6E8A-872C-CE212E0B2037}"/>
              </a:ext>
            </a:extLst>
          </p:cNvPr>
          <p:cNvSpPr/>
          <p:nvPr/>
        </p:nvSpPr>
        <p:spPr>
          <a:xfrm>
            <a:off x="4814317" y="2000005"/>
            <a:ext cx="2563368" cy="3468107"/>
          </a:xfrm>
          <a:prstGeom prst="flowChartProcess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DC7ECDD-7539-E530-E39E-80187B823C89}"/>
              </a:ext>
            </a:extLst>
          </p:cNvPr>
          <p:cNvSpPr txBox="1"/>
          <p:nvPr/>
        </p:nvSpPr>
        <p:spPr>
          <a:xfrm>
            <a:off x="5417274" y="2043894"/>
            <a:ext cx="1796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提案手法</a:t>
            </a:r>
            <a:endParaRPr kumimoji="1" lang="ja-JP" altLang="en-US" sz="2400" b="1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44C7FE5-B585-DD59-6483-3AA247D69C25}"/>
              </a:ext>
            </a:extLst>
          </p:cNvPr>
          <p:cNvSpPr txBox="1"/>
          <p:nvPr/>
        </p:nvSpPr>
        <p:spPr>
          <a:xfrm>
            <a:off x="5094732" y="3101295"/>
            <a:ext cx="20233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 err="1"/>
              <a:t>LightGBM</a:t>
            </a:r>
            <a:endParaRPr kumimoji="1" lang="en-US" altLang="ja-JP" sz="2800" b="1" dirty="0"/>
          </a:p>
          <a:p>
            <a:pPr algn="ctr"/>
            <a:r>
              <a:rPr lang="en-US" altLang="ja-JP" sz="2800" b="1" dirty="0"/>
              <a:t>+</a:t>
            </a:r>
          </a:p>
          <a:p>
            <a:pPr algn="ctr"/>
            <a:r>
              <a:rPr lang="en-US" altLang="ja-JP" sz="3200" b="1" u="sng" dirty="0">
                <a:solidFill>
                  <a:srgbClr val="FF0000"/>
                </a:solidFill>
              </a:rPr>
              <a:t>TCN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232306EA-5D47-611B-D8F1-3B80A25A8C3E}"/>
              </a:ext>
            </a:extLst>
          </p:cNvPr>
          <p:cNvCxnSpPr/>
          <p:nvPr/>
        </p:nvCxnSpPr>
        <p:spPr>
          <a:xfrm>
            <a:off x="4814317" y="2569060"/>
            <a:ext cx="2563368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フローチャート: 処理 24">
            <a:extLst>
              <a:ext uri="{FF2B5EF4-FFF2-40B4-BE49-F238E27FC236}">
                <a16:creationId xmlns:a16="http://schemas.microsoft.com/office/drawing/2014/main" id="{E6109A9D-4ADF-3BCF-AF7D-B906A57B63B9}"/>
              </a:ext>
            </a:extLst>
          </p:cNvPr>
          <p:cNvSpPr/>
          <p:nvPr/>
        </p:nvSpPr>
        <p:spPr>
          <a:xfrm>
            <a:off x="9019034" y="2000005"/>
            <a:ext cx="2563368" cy="3468107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DF382E1-41C0-5F5E-9B11-8F7CF6C7A5BE}"/>
              </a:ext>
            </a:extLst>
          </p:cNvPr>
          <p:cNvSpPr txBox="1"/>
          <p:nvPr/>
        </p:nvSpPr>
        <p:spPr>
          <a:xfrm>
            <a:off x="9402684" y="2043894"/>
            <a:ext cx="1796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b="1" dirty="0"/>
              <a:t>S&amp;P500</a:t>
            </a:r>
            <a:r>
              <a:rPr lang="ja-JP" altLang="en-US" sz="2400" b="1" dirty="0"/>
              <a:t>の株価予測</a:t>
            </a:r>
            <a:endParaRPr kumimoji="1" lang="ja-JP" altLang="en-US" sz="2400" b="1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1B6C11C-C569-B97D-D653-A8502047B93C}"/>
              </a:ext>
            </a:extLst>
          </p:cNvPr>
          <p:cNvSpPr txBox="1"/>
          <p:nvPr/>
        </p:nvSpPr>
        <p:spPr>
          <a:xfrm>
            <a:off x="9289055" y="3099633"/>
            <a:ext cx="20233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b="1" dirty="0">
                <a:solidFill>
                  <a:srgbClr val="FF0000"/>
                </a:solidFill>
              </a:rPr>
              <a:t>上昇</a:t>
            </a:r>
            <a:endParaRPr lang="en-US" altLang="ja-JP" sz="3200" b="1" dirty="0">
              <a:solidFill>
                <a:srgbClr val="FF0000"/>
              </a:solidFill>
            </a:endParaRPr>
          </a:p>
          <a:p>
            <a:pPr algn="ctr"/>
            <a:r>
              <a:rPr lang="en-US" altLang="ja-JP" sz="3200" b="1" dirty="0"/>
              <a:t>or</a:t>
            </a:r>
          </a:p>
          <a:p>
            <a:pPr algn="ctr"/>
            <a:r>
              <a:rPr lang="ja-JP" altLang="en-US" sz="3200" b="1" dirty="0">
                <a:solidFill>
                  <a:srgbClr val="0070C0"/>
                </a:solidFill>
              </a:rPr>
              <a:t>下落</a:t>
            </a:r>
            <a:endParaRPr kumimoji="1" lang="ja-JP" altLang="en-US" sz="2800" b="1" dirty="0">
              <a:solidFill>
                <a:srgbClr val="0070C0"/>
              </a:solidFill>
            </a:endParaRP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F30DFC5A-81D2-86BF-9F24-5CD386EB70AC}"/>
              </a:ext>
            </a:extLst>
          </p:cNvPr>
          <p:cNvCxnSpPr/>
          <p:nvPr/>
        </p:nvCxnSpPr>
        <p:spPr>
          <a:xfrm>
            <a:off x="9019034" y="2873720"/>
            <a:ext cx="2563368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7F780ED-4813-F0D9-EE03-7E971D6A1BCF}"/>
              </a:ext>
            </a:extLst>
          </p:cNvPr>
          <p:cNvSpPr txBox="1"/>
          <p:nvPr/>
        </p:nvSpPr>
        <p:spPr>
          <a:xfrm>
            <a:off x="2506832" y="5852688"/>
            <a:ext cx="7616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時系列モデルを変更したら精度は上がるか？</a:t>
            </a:r>
          </a:p>
        </p:txBody>
      </p:sp>
      <p:sp>
        <p:nvSpPr>
          <p:cNvPr id="36" name="矢印: 右 35">
            <a:extLst>
              <a:ext uri="{FF2B5EF4-FFF2-40B4-BE49-F238E27FC236}">
                <a16:creationId xmlns:a16="http://schemas.microsoft.com/office/drawing/2014/main" id="{91211453-9C3B-DC2A-CA94-FF1E95FD0776}"/>
              </a:ext>
            </a:extLst>
          </p:cNvPr>
          <p:cNvSpPr/>
          <p:nvPr/>
        </p:nvSpPr>
        <p:spPr>
          <a:xfrm>
            <a:off x="3172968" y="3487958"/>
            <a:ext cx="1641349" cy="49220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矢印: 右 36">
            <a:extLst>
              <a:ext uri="{FF2B5EF4-FFF2-40B4-BE49-F238E27FC236}">
                <a16:creationId xmlns:a16="http://schemas.microsoft.com/office/drawing/2014/main" id="{A7D8F7ED-A961-525D-9488-814A8C2767B5}"/>
              </a:ext>
            </a:extLst>
          </p:cNvPr>
          <p:cNvSpPr/>
          <p:nvPr/>
        </p:nvSpPr>
        <p:spPr>
          <a:xfrm>
            <a:off x="7377685" y="3487958"/>
            <a:ext cx="1641349" cy="49220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3351824E-E439-6BED-D4E2-C4EF02B30213}"/>
              </a:ext>
            </a:extLst>
          </p:cNvPr>
          <p:cNvCxnSpPr>
            <a:stCxn id="9" idx="2"/>
            <a:endCxn id="17" idx="2"/>
          </p:cNvCxnSpPr>
          <p:nvPr/>
        </p:nvCxnSpPr>
        <p:spPr>
          <a:xfrm rot="16200000" flipH="1">
            <a:off x="3967231" y="2408680"/>
            <a:ext cx="63217" cy="4215111"/>
          </a:xfrm>
          <a:prstGeom prst="bentConnector3">
            <a:avLst>
              <a:gd name="adj1" fmla="val 461612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055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464B3-8B81-335C-E169-183DAB1DD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7B5991-478D-25D3-4E27-16A6E0DD0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ja-JP" sz="3600" b="1" dirty="0"/>
              <a:t>2.</a:t>
            </a:r>
            <a:r>
              <a:rPr kumimoji="1" lang="ja-JP" altLang="en-US" sz="3600" b="1" dirty="0"/>
              <a:t>データ入手方法と特徴量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AE3DF74-ED3E-4BCC-4A49-F621E3143B35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5EC097-CF6D-1AFA-8FAB-95E6B649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7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6CB4848-FFEC-61D7-8AAF-056D4A6C448D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E8A9FC1-366B-07AD-7B99-CC6F2A30C539}"/>
              </a:ext>
            </a:extLst>
          </p:cNvPr>
          <p:cNvSpPr txBox="1"/>
          <p:nvPr/>
        </p:nvSpPr>
        <p:spPr>
          <a:xfrm>
            <a:off x="859536" y="2304288"/>
            <a:ext cx="1040587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800" dirty="0"/>
              <a:t>株価データ：</a:t>
            </a:r>
            <a:r>
              <a:rPr lang="en-US" altLang="ja-JP" sz="2800" b="1" dirty="0"/>
              <a:t>Investing.com</a:t>
            </a:r>
            <a:r>
              <a:rPr lang="ja-JP" altLang="en-US" sz="2800" dirty="0"/>
              <a:t>より入手した</a:t>
            </a:r>
            <a:r>
              <a:rPr lang="en-US" altLang="ja-JP" sz="2800" dirty="0"/>
              <a:t>2014</a:t>
            </a:r>
            <a:r>
              <a:rPr lang="ja-JP" altLang="en-US" sz="2800" dirty="0"/>
              <a:t>年～</a:t>
            </a:r>
            <a:r>
              <a:rPr lang="en-US" altLang="ja-JP" sz="2800" dirty="0"/>
              <a:t>2018</a:t>
            </a:r>
            <a:r>
              <a:rPr lang="ja-JP" altLang="en-US" sz="2800" dirty="0"/>
              <a:t>年の</a:t>
            </a:r>
            <a:r>
              <a:rPr lang="en-US" altLang="ja-JP" sz="2800" dirty="0"/>
              <a:t>S&amp;P500</a:t>
            </a:r>
            <a:r>
              <a:rPr lang="ja-JP" altLang="en-US" sz="2800" dirty="0"/>
              <a:t>株価指数の日足データ</a:t>
            </a: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800" dirty="0"/>
              <a:t>ニュースデータ：</a:t>
            </a:r>
            <a:r>
              <a:rPr lang="en-US" altLang="ja-JP" sz="2800" b="1" dirty="0"/>
              <a:t>Kaggle</a:t>
            </a:r>
            <a:r>
              <a:rPr lang="ja-JP" altLang="en-US" sz="2800" dirty="0"/>
              <a:t>の</a:t>
            </a:r>
            <a:r>
              <a:rPr lang="en-US" altLang="ja-JP" sz="2800" dirty="0"/>
              <a:t>Financial News Headlines(2008-2024)</a:t>
            </a:r>
            <a:r>
              <a:rPr lang="ja-JP" altLang="en-US" sz="2800" dirty="0"/>
              <a:t>より入手した</a:t>
            </a:r>
            <a:r>
              <a:rPr lang="en-US" altLang="ja-JP" sz="2800" dirty="0"/>
              <a:t>2014</a:t>
            </a:r>
            <a:r>
              <a:rPr lang="ja-JP" altLang="en-US" sz="2800" dirty="0"/>
              <a:t>年～</a:t>
            </a:r>
            <a:r>
              <a:rPr lang="en-US" altLang="ja-JP" sz="2800" dirty="0"/>
              <a:t>2018</a:t>
            </a:r>
            <a:r>
              <a:rPr lang="ja-JP" altLang="en-US" sz="2800" dirty="0"/>
              <a:t>年のデータ</a:t>
            </a: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800" dirty="0"/>
              <a:t>経済指標：米国債利回り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933046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FD875-EB93-C543-C83C-100E42024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2A3521-E933-91E4-10F7-B5913AABA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8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pic>
        <p:nvPicPr>
          <p:cNvPr id="7" name="図 6" descr="ダイアグラム, 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B1B00FC5-F153-638D-688E-9BCA93799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77" y="271960"/>
            <a:ext cx="11145646" cy="608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16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D4621-CC06-0882-36E1-52B7C87C1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74239D-BA97-0B0F-47A6-9C70DBD0C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b="1" dirty="0"/>
              <a:t>テクニカル指標の追加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CBE6E98-BC37-5D08-9132-0F8FC5B37A90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E66BF55-B848-9037-F444-4B919D955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9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4399669-6495-1BDF-55BC-8EB756501CE7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768108F-83F7-412F-3574-D03973FA5468}"/>
              </a:ext>
            </a:extLst>
          </p:cNvPr>
          <p:cNvSpPr txBox="1"/>
          <p:nvPr/>
        </p:nvSpPr>
        <p:spPr>
          <a:xfrm>
            <a:off x="859536" y="2304288"/>
            <a:ext cx="1040587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b="1" dirty="0"/>
              <a:t>RSI</a:t>
            </a:r>
            <a:r>
              <a:rPr lang="ja-JP" altLang="en-US" sz="2800" dirty="0"/>
              <a:t>（相対力指数）：買われすぎ・売られすぎの判断</a:t>
            </a: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b="1" dirty="0"/>
              <a:t>MACD</a:t>
            </a:r>
            <a:r>
              <a:rPr lang="ja-JP" altLang="en-US" sz="2800" dirty="0"/>
              <a:t>：トレンドと売買タイミングの把握</a:t>
            </a: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b="1" dirty="0"/>
              <a:t>SMA</a:t>
            </a:r>
            <a:r>
              <a:rPr lang="ja-JP" altLang="en-US" sz="2800" dirty="0"/>
              <a:t>（</a:t>
            </a:r>
            <a:r>
              <a:rPr lang="en-US" altLang="ja-JP" sz="2800" dirty="0"/>
              <a:t>10</a:t>
            </a:r>
            <a:r>
              <a:rPr lang="ja-JP" altLang="en-US" sz="2800" dirty="0"/>
              <a:t>日移動平均）：短期的な価格トレンド</a:t>
            </a: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800" b="1" dirty="0"/>
              <a:t>ボリンジャーバンド</a:t>
            </a:r>
            <a:r>
              <a:rPr lang="ja-JP" altLang="en-US" sz="2800" dirty="0"/>
              <a:t>：ボラティリティの高さの指標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133401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A4271-3097-78A2-3380-A43184FAD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16F3BA-DA2F-311A-90B5-64187E57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10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pic>
        <p:nvPicPr>
          <p:cNvPr id="7" name="図 6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A1B71A35-7789-6239-DD24-1F71DDBFA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30" y="310896"/>
            <a:ext cx="10937140" cy="597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809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58381-DFFC-16A0-7529-168D90BF9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43EE6D-1250-F647-8069-21BB4846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ja-JP" sz="3600" b="1" dirty="0"/>
              <a:t>3.</a:t>
            </a:r>
            <a:r>
              <a:rPr kumimoji="1" lang="ja-JP" altLang="en-US" sz="3600" b="1" dirty="0"/>
              <a:t>提案手法</a:t>
            </a:r>
            <a:r>
              <a:rPr kumimoji="1" lang="en-US" altLang="ja-JP" sz="3600" b="1" dirty="0"/>
              <a:t>(TCN-</a:t>
            </a:r>
            <a:r>
              <a:rPr kumimoji="1" lang="en-US" altLang="ja-JP" sz="3600" b="1" dirty="0" err="1"/>
              <a:t>LightGBM</a:t>
            </a:r>
            <a:r>
              <a:rPr kumimoji="1" lang="ja-JP" altLang="en-US" sz="3600" b="1" dirty="0"/>
              <a:t>モデル</a:t>
            </a:r>
            <a:r>
              <a:rPr kumimoji="1" lang="en-US" altLang="ja-JP" sz="3600" b="1" dirty="0"/>
              <a:t>)</a:t>
            </a:r>
            <a:endParaRPr kumimoji="1" lang="ja-JP" altLang="en-US" sz="3600" b="1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FF102EF-EEEA-E6CE-5082-553E36E0DC68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2017404-9D7C-49B1-4EB6-E0C8B156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11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B27E310-25A5-5BA6-8FE2-D209B9DEA512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7D286A14-7A6A-24B6-49A5-42E0A7C5A9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23"/>
          <a:stretch>
            <a:fillRect/>
          </a:stretch>
        </p:blipFill>
        <p:spPr>
          <a:xfrm>
            <a:off x="838200" y="1719073"/>
            <a:ext cx="10187425" cy="489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08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7B346-B999-9D04-2116-71AD9C376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6C48C2-8288-61D9-67C9-2335FD6A7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ja-JP" sz="3600" b="1" dirty="0"/>
              <a:t>4.</a:t>
            </a:r>
            <a:r>
              <a:rPr kumimoji="1" lang="ja-JP" altLang="en-US" sz="3600" b="1" dirty="0"/>
              <a:t>実験設定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A7749D0-FDA9-11C1-B680-0C7D3C081F80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257991-2BAB-554F-1006-A353E7971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12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0054623-4912-507D-06C7-43BEF75E2A35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2422E5F6-DC5A-10AA-4309-BD8482D9D09F}"/>
              </a:ext>
            </a:extLst>
          </p:cNvPr>
          <p:cNvSpPr/>
          <p:nvPr/>
        </p:nvSpPr>
        <p:spPr>
          <a:xfrm>
            <a:off x="2209800" y="1994262"/>
            <a:ext cx="3377184" cy="3084058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43C337-CA89-9565-3332-68121B6C5F79}"/>
              </a:ext>
            </a:extLst>
          </p:cNvPr>
          <p:cNvSpPr txBox="1"/>
          <p:nvPr/>
        </p:nvSpPr>
        <p:spPr>
          <a:xfrm>
            <a:off x="2586558" y="2069114"/>
            <a:ext cx="2872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 err="1"/>
              <a:t>LightGBM</a:t>
            </a:r>
            <a:r>
              <a:rPr kumimoji="1" lang="ja-JP" altLang="en-US" sz="2000" b="1" dirty="0"/>
              <a:t>単体モデル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C38918B-ABB5-B57A-F210-FCCCE7E49186}"/>
              </a:ext>
            </a:extLst>
          </p:cNvPr>
          <p:cNvSpPr txBox="1"/>
          <p:nvPr/>
        </p:nvSpPr>
        <p:spPr>
          <a:xfrm>
            <a:off x="2565547" y="3280587"/>
            <a:ext cx="26656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 err="1"/>
              <a:t>LightGBM</a:t>
            </a:r>
            <a:endParaRPr kumimoji="1" lang="en-US" altLang="ja-JP" sz="2800" b="1" dirty="0"/>
          </a:p>
          <a:p>
            <a:pPr algn="ctr"/>
            <a:r>
              <a:rPr lang="ja-JP" altLang="en-US" sz="2800" b="1" dirty="0"/>
              <a:t>のみ</a:t>
            </a:r>
            <a:endParaRPr kumimoji="1" lang="en-US" altLang="ja-JP" sz="2800" b="1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06FD7AFD-7C12-3AFA-6E19-7205F306B1A4}"/>
              </a:ext>
            </a:extLst>
          </p:cNvPr>
          <p:cNvCxnSpPr>
            <a:cxnSpLocks/>
          </p:cNvCxnSpPr>
          <p:nvPr/>
        </p:nvCxnSpPr>
        <p:spPr>
          <a:xfrm>
            <a:off x="2209800" y="2544076"/>
            <a:ext cx="3377184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フローチャート: 処理 16">
            <a:extLst>
              <a:ext uri="{FF2B5EF4-FFF2-40B4-BE49-F238E27FC236}">
                <a16:creationId xmlns:a16="http://schemas.microsoft.com/office/drawing/2014/main" id="{F72CA3BB-8BDC-4F7F-5538-2A5FFC7FB879}"/>
              </a:ext>
            </a:extLst>
          </p:cNvPr>
          <p:cNvSpPr/>
          <p:nvPr/>
        </p:nvSpPr>
        <p:spPr>
          <a:xfrm>
            <a:off x="6605016" y="1983418"/>
            <a:ext cx="3377184" cy="3084058"/>
          </a:xfrm>
          <a:prstGeom prst="flowChartProcess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FA199F0-1F4A-3610-ED8C-7B1529E7E38D}"/>
              </a:ext>
            </a:extLst>
          </p:cNvPr>
          <p:cNvSpPr txBox="1"/>
          <p:nvPr/>
        </p:nvSpPr>
        <p:spPr>
          <a:xfrm>
            <a:off x="6835470" y="2069114"/>
            <a:ext cx="2872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提案モデル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EFB81AA-ECA0-77B6-9F00-57EAA9AEE141}"/>
              </a:ext>
            </a:extLst>
          </p:cNvPr>
          <p:cNvSpPr txBox="1"/>
          <p:nvPr/>
        </p:nvSpPr>
        <p:spPr>
          <a:xfrm>
            <a:off x="6960763" y="3059796"/>
            <a:ext cx="26656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 err="1"/>
              <a:t>LightGBM</a:t>
            </a:r>
            <a:endParaRPr kumimoji="1" lang="en-US" altLang="ja-JP" sz="2800" b="1" dirty="0"/>
          </a:p>
          <a:p>
            <a:pPr algn="ctr"/>
            <a:r>
              <a:rPr kumimoji="1" lang="en-US" altLang="ja-JP" sz="2800" b="1" dirty="0"/>
              <a:t>+</a:t>
            </a:r>
          </a:p>
          <a:p>
            <a:pPr algn="ctr"/>
            <a:r>
              <a:rPr lang="en-US" altLang="ja-JP" sz="2800" b="1" dirty="0">
                <a:solidFill>
                  <a:srgbClr val="FF0000"/>
                </a:solidFill>
              </a:rPr>
              <a:t>TCN</a:t>
            </a:r>
            <a:endParaRPr kumimoji="1" lang="en-US" altLang="ja-JP" sz="2800" b="1" dirty="0">
              <a:solidFill>
                <a:srgbClr val="FF0000"/>
              </a:solidFill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504E28D-3758-D28D-7022-977A75D59797}"/>
              </a:ext>
            </a:extLst>
          </p:cNvPr>
          <p:cNvCxnSpPr>
            <a:cxnSpLocks/>
          </p:cNvCxnSpPr>
          <p:nvPr/>
        </p:nvCxnSpPr>
        <p:spPr>
          <a:xfrm>
            <a:off x="6605016" y="2533232"/>
            <a:ext cx="3377184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498FC61-B7EE-24A5-F59E-A026448F4621}"/>
              </a:ext>
            </a:extLst>
          </p:cNvPr>
          <p:cNvSpPr txBox="1"/>
          <p:nvPr/>
        </p:nvSpPr>
        <p:spPr>
          <a:xfrm>
            <a:off x="3136392" y="5628134"/>
            <a:ext cx="6190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どちらのモデルの方が精度が高いか</a:t>
            </a:r>
          </a:p>
        </p:txBody>
      </p:sp>
    </p:spTree>
    <p:extLst>
      <p:ext uri="{BB962C8B-B14F-4D97-AF65-F5344CB8AC3E}">
        <p14:creationId xmlns:p14="http://schemas.microsoft.com/office/powerpoint/2010/main" val="3540165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F19B0-9083-FD9D-1EA4-AE2EF98F4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477325-DE5C-C10B-9176-F75D28B2C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ja-JP" sz="3600" b="1" dirty="0"/>
              <a:t>4.</a:t>
            </a:r>
            <a:r>
              <a:rPr kumimoji="1" lang="ja-JP" altLang="en-US" sz="3600" b="1" dirty="0"/>
              <a:t>評価指標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450C6FC-784E-9F65-C300-30A66E009E9F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A8574C-0F44-4D07-20B2-4489C01AB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13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2C3B910-37AF-FB85-68F0-AB9225776D85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9B3F4057-749D-519C-1429-80DDCE6506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637"/>
          <a:stretch>
            <a:fillRect/>
          </a:stretch>
        </p:blipFill>
        <p:spPr>
          <a:xfrm>
            <a:off x="1877579" y="1719072"/>
            <a:ext cx="8436842" cy="411575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AF55485-816F-65EC-7302-9B87F9641766}"/>
              </a:ext>
            </a:extLst>
          </p:cNvPr>
          <p:cNvSpPr txBox="1"/>
          <p:nvPr/>
        </p:nvSpPr>
        <p:spPr>
          <a:xfrm>
            <a:off x="4096512" y="6015692"/>
            <a:ext cx="4306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最終予測の</a:t>
            </a:r>
            <a:r>
              <a:rPr kumimoji="1" lang="ja-JP" altLang="en-US" sz="2800" b="1" dirty="0"/>
              <a:t>正解率</a:t>
            </a:r>
            <a:r>
              <a:rPr kumimoji="1" lang="ja-JP" altLang="en-US" sz="2800" dirty="0"/>
              <a:t>で判断</a:t>
            </a: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BB3E7C1-3419-F555-D58D-15C11B9D30A4}"/>
              </a:ext>
            </a:extLst>
          </p:cNvPr>
          <p:cNvSpPr/>
          <p:nvPr/>
        </p:nvSpPr>
        <p:spPr>
          <a:xfrm>
            <a:off x="8403336" y="3146487"/>
            <a:ext cx="1993392" cy="274362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397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D5F8B-E51D-5A55-4230-3F3DA9674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BF15F2-5FF4-2757-D698-D3DA17B2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ja-JP" sz="3600" b="1" dirty="0"/>
              <a:t>5.</a:t>
            </a:r>
            <a:r>
              <a:rPr kumimoji="1" lang="ja-JP" altLang="en-US" sz="3600" b="1" dirty="0"/>
              <a:t>実験</a:t>
            </a:r>
            <a:r>
              <a:rPr kumimoji="1" lang="en-US" altLang="ja-JP" sz="3600" b="1" dirty="0"/>
              <a:t>1</a:t>
            </a:r>
            <a:r>
              <a:rPr kumimoji="1" lang="ja-JP" altLang="en-US" sz="3600" b="1" dirty="0"/>
              <a:t>：</a:t>
            </a:r>
            <a:r>
              <a:rPr kumimoji="1" lang="en-US" altLang="ja-JP" sz="3600" b="1" dirty="0"/>
              <a:t>2018</a:t>
            </a:r>
            <a:r>
              <a:rPr kumimoji="1" lang="ja-JP" altLang="en-US" sz="3600" b="1" dirty="0"/>
              <a:t>年の株価予測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517FD49-4A9A-1618-D6F7-254AE70775E4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DCFBE4-6AC3-A73A-C71A-CB53330A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14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EC52C16-8315-FDFE-F2FD-70FEEF4F2F32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70947B6-BB64-DF84-964C-F1005482E9BF}"/>
              </a:ext>
            </a:extLst>
          </p:cNvPr>
          <p:cNvSpPr/>
          <p:nvPr/>
        </p:nvSpPr>
        <p:spPr>
          <a:xfrm>
            <a:off x="911353" y="1975104"/>
            <a:ext cx="4306824" cy="423430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F85571A-5C4F-4793-2872-2323A30726B4}"/>
              </a:ext>
            </a:extLst>
          </p:cNvPr>
          <p:cNvSpPr txBox="1"/>
          <p:nvPr/>
        </p:nvSpPr>
        <p:spPr>
          <a:xfrm>
            <a:off x="2103120" y="2266444"/>
            <a:ext cx="3767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訓練データ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67A0B7C-0EC1-5EB4-B142-83AE74FFC40B}"/>
              </a:ext>
            </a:extLst>
          </p:cNvPr>
          <p:cNvSpPr txBox="1"/>
          <p:nvPr/>
        </p:nvSpPr>
        <p:spPr>
          <a:xfrm>
            <a:off x="1583437" y="3337560"/>
            <a:ext cx="29626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600" b="1" dirty="0"/>
              <a:t>2014</a:t>
            </a:r>
            <a:r>
              <a:rPr kumimoji="1" lang="ja-JP" altLang="en-US" sz="3600" b="1" dirty="0"/>
              <a:t>年</a:t>
            </a:r>
            <a:endParaRPr kumimoji="1" lang="en-US" altLang="ja-JP" sz="3600" b="1" dirty="0"/>
          </a:p>
          <a:p>
            <a:pPr algn="ctr"/>
            <a:r>
              <a:rPr kumimoji="1" lang="ja-JP" altLang="en-US" sz="3600" b="1" dirty="0"/>
              <a:t>～</a:t>
            </a:r>
            <a:endParaRPr kumimoji="1" lang="en-US" altLang="ja-JP" sz="3600" b="1" dirty="0"/>
          </a:p>
          <a:p>
            <a:pPr algn="ctr"/>
            <a:r>
              <a:rPr lang="en-US" altLang="ja-JP" sz="3600" b="1" dirty="0"/>
              <a:t>2017</a:t>
            </a:r>
            <a:r>
              <a:rPr lang="ja-JP" altLang="en-US" sz="3600" b="1" dirty="0"/>
              <a:t>年</a:t>
            </a:r>
            <a:endParaRPr kumimoji="1" lang="ja-JP" altLang="en-US" sz="3600" b="1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1C6A33AC-4DC0-D7FE-F8DE-482D52EE59FF}"/>
              </a:ext>
            </a:extLst>
          </p:cNvPr>
          <p:cNvSpPr/>
          <p:nvPr/>
        </p:nvSpPr>
        <p:spPr>
          <a:xfrm>
            <a:off x="6409944" y="1975104"/>
            <a:ext cx="4306824" cy="423430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3750C88-8A23-AEB1-0784-30B532D89592}"/>
              </a:ext>
            </a:extLst>
          </p:cNvPr>
          <p:cNvSpPr txBox="1"/>
          <p:nvPr/>
        </p:nvSpPr>
        <p:spPr>
          <a:xfrm>
            <a:off x="7409687" y="2266444"/>
            <a:ext cx="3767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テストデータ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49D898F-C5E4-EC04-1101-39598A5218C9}"/>
              </a:ext>
            </a:extLst>
          </p:cNvPr>
          <p:cNvSpPr txBox="1"/>
          <p:nvPr/>
        </p:nvSpPr>
        <p:spPr>
          <a:xfrm>
            <a:off x="6847332" y="3622374"/>
            <a:ext cx="35265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600" b="1" dirty="0">
                <a:solidFill>
                  <a:srgbClr val="FF0000"/>
                </a:solidFill>
              </a:rPr>
              <a:t>2018</a:t>
            </a:r>
            <a:r>
              <a:rPr kumimoji="1" lang="ja-JP" altLang="en-US" sz="3600" b="1" dirty="0">
                <a:solidFill>
                  <a:srgbClr val="FF0000"/>
                </a:solidFill>
              </a:rPr>
              <a:t>年</a:t>
            </a:r>
            <a:r>
              <a:rPr kumimoji="1" lang="ja-JP" altLang="en-US" sz="3600" b="1" dirty="0"/>
              <a:t>の</a:t>
            </a:r>
            <a:endParaRPr kumimoji="1" lang="en-US" altLang="ja-JP" sz="3600" b="1" dirty="0"/>
          </a:p>
          <a:p>
            <a:pPr algn="ctr"/>
            <a:r>
              <a:rPr kumimoji="1" lang="ja-JP" altLang="en-US" sz="3600" b="1" dirty="0"/>
              <a:t>株価を予測する</a:t>
            </a:r>
            <a:endParaRPr kumimoji="1" lang="en-US" altLang="ja-JP" sz="3600" b="1" dirty="0"/>
          </a:p>
          <a:p>
            <a:pPr algn="ctr"/>
            <a:endParaRPr lang="en-US" altLang="ja-JP" sz="3600" b="1" dirty="0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8E4EE5D3-86B5-D59E-EB84-B0AD93952DD3}"/>
              </a:ext>
            </a:extLst>
          </p:cNvPr>
          <p:cNvSpPr/>
          <p:nvPr/>
        </p:nvSpPr>
        <p:spPr>
          <a:xfrm>
            <a:off x="5218177" y="3789526"/>
            <a:ext cx="1191767" cy="850393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8908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C92F4-ABDB-4556-EC34-241AAF2F5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D462B9-F02B-2A98-88BD-2051D3671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b="1" dirty="0"/>
              <a:t>実験</a:t>
            </a:r>
            <a:r>
              <a:rPr kumimoji="1" lang="en-US" altLang="ja-JP" sz="3600" b="1" dirty="0"/>
              <a:t>1</a:t>
            </a:r>
            <a:r>
              <a:rPr kumimoji="1" lang="ja-JP" altLang="en-US" sz="3600" b="1" dirty="0"/>
              <a:t>：</a:t>
            </a:r>
            <a:r>
              <a:rPr kumimoji="1" lang="en-US" altLang="ja-JP" sz="3600" b="1" dirty="0"/>
              <a:t>2018</a:t>
            </a:r>
            <a:r>
              <a:rPr kumimoji="1" lang="ja-JP" altLang="en-US" sz="3600" b="1" dirty="0"/>
              <a:t>年の予測結果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4F754B8-368B-457C-5F14-033A10969866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52CAB4-90D6-531E-CAC8-F0E3C1BC1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15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D33DDB1-CCFE-FAA2-993B-CC1AEBE34015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3A34BB5-5E19-E237-78B1-0470AA0EDDD6}"/>
              </a:ext>
            </a:extLst>
          </p:cNvPr>
          <p:cNvSpPr txBox="1"/>
          <p:nvPr/>
        </p:nvSpPr>
        <p:spPr>
          <a:xfrm>
            <a:off x="859536" y="2304288"/>
            <a:ext cx="106710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43B375-BD9B-A3BB-3484-B4AB321ED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16" y="1710118"/>
            <a:ext cx="474345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726556C-A949-AC15-71B7-DE6BC7564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137" y="1710118"/>
            <a:ext cx="48291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F38DE3F-9897-2F7B-1FEE-5B43D01B9357}"/>
              </a:ext>
            </a:extLst>
          </p:cNvPr>
          <p:cNvSpPr txBox="1"/>
          <p:nvPr/>
        </p:nvSpPr>
        <p:spPr>
          <a:xfrm>
            <a:off x="7376160" y="6176498"/>
            <a:ext cx="28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正解率：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53.5%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DBEFA88-C6BF-7152-FB55-0F40A1699603}"/>
              </a:ext>
            </a:extLst>
          </p:cNvPr>
          <p:cNvSpPr txBox="1"/>
          <p:nvPr/>
        </p:nvSpPr>
        <p:spPr>
          <a:xfrm>
            <a:off x="1962912" y="6176497"/>
            <a:ext cx="28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正解率：</a:t>
            </a:r>
            <a:r>
              <a:rPr kumimoji="1" lang="en-US" altLang="ja-JP" sz="2400" b="1" dirty="0"/>
              <a:t>51.9%</a:t>
            </a:r>
            <a:endParaRPr kumimoji="1"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12469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856E4-277C-5EF0-BDF0-4E73F0C2E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646E34-65BE-32EE-F29C-8CBE970A6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sz="3600" b="1" dirty="0"/>
              <a:t>実験</a:t>
            </a:r>
            <a:r>
              <a:rPr lang="en-US" altLang="ja-JP" sz="3600" b="1" dirty="0"/>
              <a:t>1</a:t>
            </a:r>
            <a:r>
              <a:rPr lang="ja-JP" altLang="en-US" sz="3600" b="1" dirty="0"/>
              <a:t>：特徴量重要度</a:t>
            </a:r>
            <a:endParaRPr kumimoji="1" lang="ja-JP" altLang="en-US" sz="3600" b="1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4428EB5-9526-7DB8-E4DF-DDCA7C917692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ACD37B-60BA-4702-D521-B495F9C5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16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0686D38-13D9-3650-1A70-D4C644CF2317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79DD607-B5AB-3976-1C41-2E7353A02478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734" y="1906682"/>
            <a:ext cx="7586740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E143EE8-9EEF-CD7F-BDC9-367FC6BB350C}"/>
              </a:ext>
            </a:extLst>
          </p:cNvPr>
          <p:cNvSpPr/>
          <p:nvPr/>
        </p:nvSpPr>
        <p:spPr>
          <a:xfrm>
            <a:off x="2377440" y="5111497"/>
            <a:ext cx="804672" cy="1463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82E711A-F4D2-F45C-EF6F-1B41BCC25D0E}"/>
              </a:ext>
            </a:extLst>
          </p:cNvPr>
          <p:cNvSpPr txBox="1"/>
          <p:nvPr/>
        </p:nvSpPr>
        <p:spPr>
          <a:xfrm>
            <a:off x="492947" y="4999983"/>
            <a:ext cx="1691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18</a:t>
            </a:r>
            <a:r>
              <a:rPr lang="ja-JP" altLang="en-US" dirty="0"/>
              <a:t>個中</a:t>
            </a:r>
            <a:r>
              <a:rPr lang="en-US" altLang="ja-JP" b="1" dirty="0"/>
              <a:t>15</a:t>
            </a:r>
            <a:r>
              <a:rPr lang="ja-JP" altLang="en-US" dirty="0"/>
              <a:t>番目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5060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407CC-1F52-13C1-41AF-E546248AA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D76B6F-8A25-C834-A729-22C8D6E0A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b="1" dirty="0"/>
              <a:t>課題と原因の考察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F702157-C0DC-9520-84D3-292E3AB92CDD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6156162-646A-CBFA-6516-336AFBD3F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17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596C355-68A6-E9EC-41A6-36E09413796C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69B32176-B521-82DD-0C8B-559A8911F06C}"/>
              </a:ext>
            </a:extLst>
          </p:cNvPr>
          <p:cNvSpPr/>
          <p:nvPr/>
        </p:nvSpPr>
        <p:spPr>
          <a:xfrm>
            <a:off x="2209800" y="1813441"/>
            <a:ext cx="3377184" cy="3084058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1643F52-0421-23E4-30D9-33D1E575DE12}"/>
              </a:ext>
            </a:extLst>
          </p:cNvPr>
          <p:cNvSpPr txBox="1"/>
          <p:nvPr/>
        </p:nvSpPr>
        <p:spPr>
          <a:xfrm>
            <a:off x="2586558" y="1888293"/>
            <a:ext cx="2872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 err="1"/>
              <a:t>LightGBM</a:t>
            </a:r>
            <a:r>
              <a:rPr kumimoji="1" lang="ja-JP" altLang="en-US" sz="2000" b="1" dirty="0"/>
              <a:t>単体モデル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9ECF654-CC31-4D2E-6084-D9C3F7BB5183}"/>
              </a:ext>
            </a:extLst>
          </p:cNvPr>
          <p:cNvSpPr txBox="1"/>
          <p:nvPr/>
        </p:nvSpPr>
        <p:spPr>
          <a:xfrm>
            <a:off x="2586558" y="2663531"/>
            <a:ext cx="266569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 err="1"/>
              <a:t>LightGBM</a:t>
            </a:r>
            <a:endParaRPr kumimoji="1" lang="en-US" altLang="ja-JP" sz="2800" b="1" dirty="0"/>
          </a:p>
          <a:p>
            <a:pPr algn="ctr"/>
            <a:r>
              <a:rPr lang="ja-JP" altLang="en-US" sz="2800" b="1" dirty="0"/>
              <a:t>のみ</a:t>
            </a:r>
            <a:endParaRPr lang="en-US" altLang="ja-JP" sz="2800" b="1" dirty="0"/>
          </a:p>
          <a:p>
            <a:pPr algn="ctr"/>
            <a:endParaRPr kumimoji="1" lang="en-US" altLang="ja-JP" sz="2800" b="1" dirty="0"/>
          </a:p>
          <a:p>
            <a:pPr algn="ctr"/>
            <a:endParaRPr kumimoji="1" lang="en-US" altLang="ja-JP" b="1" dirty="0"/>
          </a:p>
          <a:p>
            <a:pPr algn="ctr"/>
            <a:r>
              <a:rPr lang="ja-JP" altLang="en-US" sz="2800" b="1" dirty="0"/>
              <a:t>正解率：</a:t>
            </a:r>
            <a:r>
              <a:rPr lang="en-US" altLang="ja-JP" sz="2800" b="1" dirty="0"/>
              <a:t>51.9%</a:t>
            </a:r>
            <a:endParaRPr kumimoji="1" lang="en-US" altLang="ja-JP" sz="2800" b="1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197DF36-A37B-408B-5DCE-323657DE5D22}"/>
              </a:ext>
            </a:extLst>
          </p:cNvPr>
          <p:cNvCxnSpPr>
            <a:cxnSpLocks/>
          </p:cNvCxnSpPr>
          <p:nvPr/>
        </p:nvCxnSpPr>
        <p:spPr>
          <a:xfrm>
            <a:off x="2209800" y="2363255"/>
            <a:ext cx="3377184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フローチャート: 処理 16">
            <a:extLst>
              <a:ext uri="{FF2B5EF4-FFF2-40B4-BE49-F238E27FC236}">
                <a16:creationId xmlns:a16="http://schemas.microsoft.com/office/drawing/2014/main" id="{40177655-1A8C-6338-2134-66D81F6D867A}"/>
              </a:ext>
            </a:extLst>
          </p:cNvPr>
          <p:cNvSpPr/>
          <p:nvPr/>
        </p:nvSpPr>
        <p:spPr>
          <a:xfrm>
            <a:off x="6605016" y="1802597"/>
            <a:ext cx="3377184" cy="3084058"/>
          </a:xfrm>
          <a:prstGeom prst="flowChartProcess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5C330E3-95BA-F1B1-E851-E62B7CEB92B6}"/>
              </a:ext>
            </a:extLst>
          </p:cNvPr>
          <p:cNvSpPr txBox="1"/>
          <p:nvPr/>
        </p:nvSpPr>
        <p:spPr>
          <a:xfrm>
            <a:off x="6835470" y="1888293"/>
            <a:ext cx="2872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dirty="0"/>
              <a:t>提案モデル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C44E807-4AD1-DE48-B52F-32B13070E0A8}"/>
              </a:ext>
            </a:extLst>
          </p:cNvPr>
          <p:cNvSpPr txBox="1"/>
          <p:nvPr/>
        </p:nvSpPr>
        <p:spPr>
          <a:xfrm>
            <a:off x="6960763" y="2496149"/>
            <a:ext cx="26656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 err="1"/>
              <a:t>LightGBM</a:t>
            </a:r>
            <a:endParaRPr kumimoji="1" lang="en-US" altLang="ja-JP" sz="2800" b="1" dirty="0"/>
          </a:p>
          <a:p>
            <a:pPr algn="ctr"/>
            <a:r>
              <a:rPr kumimoji="1" lang="en-US" altLang="ja-JP" sz="2800" b="1" dirty="0"/>
              <a:t>+</a:t>
            </a:r>
          </a:p>
          <a:p>
            <a:pPr algn="ctr"/>
            <a:r>
              <a:rPr lang="en-US" altLang="ja-JP" sz="2800" b="1" dirty="0">
                <a:solidFill>
                  <a:srgbClr val="FF0000"/>
                </a:solidFill>
              </a:rPr>
              <a:t>TCN</a:t>
            </a:r>
          </a:p>
          <a:p>
            <a:pPr algn="ctr"/>
            <a:endParaRPr kumimoji="1" lang="en-US" altLang="ja-JP" sz="2800" b="1" dirty="0">
              <a:solidFill>
                <a:srgbClr val="FF0000"/>
              </a:solidFill>
            </a:endParaRPr>
          </a:p>
          <a:p>
            <a:pPr algn="ctr"/>
            <a:r>
              <a:rPr lang="ja-JP" altLang="en-US" sz="2800" b="1" dirty="0"/>
              <a:t>正解率：</a:t>
            </a:r>
            <a:r>
              <a:rPr lang="en-US" altLang="ja-JP" sz="2800" b="1" dirty="0"/>
              <a:t>53.5%</a:t>
            </a:r>
            <a:endParaRPr kumimoji="1" lang="en-US" altLang="ja-JP" sz="2800" b="1" dirty="0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A19B3DB-E896-2B5B-1128-4ACA9AB0A1C3}"/>
              </a:ext>
            </a:extLst>
          </p:cNvPr>
          <p:cNvCxnSpPr>
            <a:cxnSpLocks/>
          </p:cNvCxnSpPr>
          <p:nvPr/>
        </p:nvCxnSpPr>
        <p:spPr>
          <a:xfrm>
            <a:off x="6605016" y="2352411"/>
            <a:ext cx="3377184" cy="0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D363447-FDA7-F0F3-1469-F6BCA8B21EF0}"/>
              </a:ext>
            </a:extLst>
          </p:cNvPr>
          <p:cNvSpPr txBox="1"/>
          <p:nvPr/>
        </p:nvSpPr>
        <p:spPr>
          <a:xfrm>
            <a:off x="4149878" y="5054330"/>
            <a:ext cx="40568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/>
              <a:t>最大でも</a:t>
            </a:r>
            <a:r>
              <a:rPr kumimoji="1" lang="en-US" altLang="ja-JP" sz="2400" b="1" dirty="0"/>
              <a:t>3.5%</a:t>
            </a:r>
            <a:r>
              <a:rPr kumimoji="1" lang="ja-JP" altLang="en-US" sz="2400" dirty="0"/>
              <a:t>の精度改善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F294429-8B29-2D82-BAF2-1AFE7B3960E0}"/>
              </a:ext>
            </a:extLst>
          </p:cNvPr>
          <p:cNvSpPr txBox="1"/>
          <p:nvPr/>
        </p:nvSpPr>
        <p:spPr>
          <a:xfrm>
            <a:off x="3131057" y="6079798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b="1" dirty="0"/>
              <a:t>課題：当て推量からの改善がわずかである</a:t>
            </a:r>
            <a:endParaRPr lang="en-US" altLang="ja-JP" sz="2400" b="1" dirty="0"/>
          </a:p>
        </p:txBody>
      </p:sp>
      <p:sp>
        <p:nvSpPr>
          <p:cNvPr id="14" name="矢印: 下 13">
            <a:extLst>
              <a:ext uri="{FF2B5EF4-FFF2-40B4-BE49-F238E27FC236}">
                <a16:creationId xmlns:a16="http://schemas.microsoft.com/office/drawing/2014/main" id="{2EB570F1-1428-E48A-8150-84FA016C4C31}"/>
              </a:ext>
            </a:extLst>
          </p:cNvPr>
          <p:cNvSpPr/>
          <p:nvPr/>
        </p:nvSpPr>
        <p:spPr>
          <a:xfrm>
            <a:off x="5942076" y="5593913"/>
            <a:ext cx="307848" cy="407967"/>
          </a:xfrm>
          <a:prstGeom prst="down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2106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136F0-3EC6-11AF-8D39-443973E63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168F3C-FFD1-D5F6-3639-0E5E0D9F7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18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45A59C5-F0F4-7A85-A123-1AAD98BE15FD}"/>
              </a:ext>
            </a:extLst>
          </p:cNvPr>
          <p:cNvSpPr txBox="1"/>
          <p:nvPr/>
        </p:nvSpPr>
        <p:spPr>
          <a:xfrm>
            <a:off x="838200" y="5249291"/>
            <a:ext cx="106710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原因の考察：</a:t>
            </a:r>
            <a:r>
              <a:rPr lang="en-US" altLang="ja-JP" sz="2800" b="1" dirty="0"/>
              <a:t>2018</a:t>
            </a:r>
            <a:r>
              <a:rPr lang="ja-JP" altLang="en-US" sz="2800" dirty="0"/>
              <a:t>年の傾向が大幅に変わってしまったため、予測精度が伸び悩んだのではないか→</a:t>
            </a:r>
            <a:r>
              <a:rPr lang="en-US" altLang="ja-JP" sz="2800" b="1" u="sng" dirty="0">
                <a:solidFill>
                  <a:srgbClr val="FF0000"/>
                </a:solidFill>
              </a:rPr>
              <a:t>2017</a:t>
            </a:r>
            <a:r>
              <a:rPr lang="ja-JP" altLang="en-US" sz="2800" b="1" u="sng" dirty="0">
                <a:solidFill>
                  <a:srgbClr val="FF0000"/>
                </a:solidFill>
              </a:rPr>
              <a:t>年</a:t>
            </a:r>
            <a:r>
              <a:rPr lang="ja-JP" altLang="en-US" sz="2800" dirty="0"/>
              <a:t>でも検証してみる</a:t>
            </a:r>
            <a:endParaRPr lang="en-US" altLang="ja-JP" sz="2800" dirty="0"/>
          </a:p>
          <a:p>
            <a:endParaRPr lang="en-US" altLang="ja-JP" sz="2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E94177-642A-89E2-071E-23EAD0E0E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84" y="136525"/>
            <a:ext cx="10736116" cy="4976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824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AB718-94F6-1EB4-3664-9B556DF9F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DBADC5-AA9D-ADBE-1526-8579E319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b="1" dirty="0"/>
              <a:t>実験</a:t>
            </a:r>
            <a:r>
              <a:rPr lang="en-US" altLang="ja-JP" sz="3600" b="1" dirty="0"/>
              <a:t>2</a:t>
            </a:r>
            <a:r>
              <a:rPr kumimoji="1" lang="ja-JP" altLang="en-US" sz="3600" b="1" dirty="0"/>
              <a:t>：</a:t>
            </a:r>
            <a:r>
              <a:rPr kumimoji="1" lang="en-US" altLang="ja-JP" sz="3600" b="1" dirty="0"/>
              <a:t>2017</a:t>
            </a:r>
            <a:r>
              <a:rPr kumimoji="1" lang="ja-JP" altLang="en-US" sz="3600" b="1" dirty="0"/>
              <a:t>年の株価予測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897CE9B-0555-DDBF-69F0-F32A9CF2F55C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F67CA9-256D-BE67-BBC7-02A9F021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19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7BC2D32-BF3D-3593-DEB7-DBE9B7ACF28F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E51984CA-DE05-54AD-37FE-EF2A39AE445C}"/>
              </a:ext>
            </a:extLst>
          </p:cNvPr>
          <p:cNvSpPr/>
          <p:nvPr/>
        </p:nvSpPr>
        <p:spPr>
          <a:xfrm>
            <a:off x="911353" y="1975104"/>
            <a:ext cx="4306824" cy="423430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92DE127-8484-F7CA-B9DC-924BDD063E57}"/>
              </a:ext>
            </a:extLst>
          </p:cNvPr>
          <p:cNvSpPr txBox="1"/>
          <p:nvPr/>
        </p:nvSpPr>
        <p:spPr>
          <a:xfrm>
            <a:off x="2103120" y="2266444"/>
            <a:ext cx="3767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訓練データ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C0AB731-22AD-DDD2-9325-1C3140468BED}"/>
              </a:ext>
            </a:extLst>
          </p:cNvPr>
          <p:cNvSpPr txBox="1"/>
          <p:nvPr/>
        </p:nvSpPr>
        <p:spPr>
          <a:xfrm>
            <a:off x="1583437" y="3337560"/>
            <a:ext cx="29626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600" b="1" dirty="0"/>
              <a:t>2014</a:t>
            </a:r>
            <a:r>
              <a:rPr kumimoji="1" lang="ja-JP" altLang="en-US" sz="3600" b="1" dirty="0"/>
              <a:t>年</a:t>
            </a:r>
            <a:endParaRPr kumimoji="1" lang="en-US" altLang="ja-JP" sz="3600" b="1" dirty="0"/>
          </a:p>
          <a:p>
            <a:pPr algn="ctr"/>
            <a:r>
              <a:rPr kumimoji="1" lang="ja-JP" altLang="en-US" sz="3600" b="1" dirty="0"/>
              <a:t>～</a:t>
            </a:r>
            <a:endParaRPr kumimoji="1" lang="en-US" altLang="ja-JP" sz="3600" b="1" dirty="0"/>
          </a:p>
          <a:p>
            <a:pPr algn="ctr"/>
            <a:r>
              <a:rPr lang="en-US" altLang="ja-JP" sz="3600" b="1" dirty="0"/>
              <a:t>2016</a:t>
            </a:r>
            <a:r>
              <a:rPr lang="ja-JP" altLang="en-US" sz="3600" b="1" dirty="0"/>
              <a:t>年</a:t>
            </a:r>
            <a:endParaRPr kumimoji="1" lang="ja-JP" altLang="en-US" sz="3600" b="1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96449F8-B6EA-A9C8-3AF4-99F02BFD5267}"/>
              </a:ext>
            </a:extLst>
          </p:cNvPr>
          <p:cNvSpPr/>
          <p:nvPr/>
        </p:nvSpPr>
        <p:spPr>
          <a:xfrm>
            <a:off x="6409944" y="1975104"/>
            <a:ext cx="4306824" cy="423430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7F12FFE-D25B-B899-0242-F8B85C94E7ED}"/>
              </a:ext>
            </a:extLst>
          </p:cNvPr>
          <p:cNvSpPr txBox="1"/>
          <p:nvPr/>
        </p:nvSpPr>
        <p:spPr>
          <a:xfrm>
            <a:off x="7409687" y="2266444"/>
            <a:ext cx="3767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dirty="0"/>
              <a:t>テストデータ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8E792D7-865A-9E55-8055-8DBF2E2774C9}"/>
              </a:ext>
            </a:extLst>
          </p:cNvPr>
          <p:cNvSpPr txBox="1"/>
          <p:nvPr/>
        </p:nvSpPr>
        <p:spPr>
          <a:xfrm>
            <a:off x="6847332" y="3622374"/>
            <a:ext cx="35265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600" b="1" dirty="0">
                <a:solidFill>
                  <a:srgbClr val="FF0000"/>
                </a:solidFill>
              </a:rPr>
              <a:t>2017</a:t>
            </a:r>
            <a:r>
              <a:rPr kumimoji="1" lang="ja-JP" altLang="en-US" sz="3600" b="1" dirty="0">
                <a:solidFill>
                  <a:srgbClr val="FF0000"/>
                </a:solidFill>
              </a:rPr>
              <a:t>年</a:t>
            </a:r>
            <a:r>
              <a:rPr kumimoji="1" lang="ja-JP" altLang="en-US" sz="3600" b="1" dirty="0"/>
              <a:t>の</a:t>
            </a:r>
            <a:endParaRPr kumimoji="1" lang="en-US" altLang="ja-JP" sz="3600" b="1" dirty="0"/>
          </a:p>
          <a:p>
            <a:pPr algn="ctr"/>
            <a:r>
              <a:rPr kumimoji="1" lang="ja-JP" altLang="en-US" sz="3600" b="1" dirty="0"/>
              <a:t>株価を予測する</a:t>
            </a:r>
            <a:endParaRPr kumimoji="1" lang="en-US" altLang="ja-JP" sz="3600" b="1" dirty="0"/>
          </a:p>
          <a:p>
            <a:pPr algn="ctr"/>
            <a:endParaRPr lang="en-US" altLang="ja-JP" sz="3600" b="1" dirty="0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8C1EEEF2-D228-8912-1245-04E4CB84C3E2}"/>
              </a:ext>
            </a:extLst>
          </p:cNvPr>
          <p:cNvSpPr/>
          <p:nvPr/>
        </p:nvSpPr>
        <p:spPr>
          <a:xfrm>
            <a:off x="5218177" y="3789526"/>
            <a:ext cx="1191767" cy="850393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思考の吹き出し: 雲形 5">
            <a:extLst>
              <a:ext uri="{FF2B5EF4-FFF2-40B4-BE49-F238E27FC236}">
                <a16:creationId xmlns:a16="http://schemas.microsoft.com/office/drawing/2014/main" id="{2BCB0D2E-6B77-C133-238E-E52E8A2CD35E}"/>
              </a:ext>
            </a:extLst>
          </p:cNvPr>
          <p:cNvSpPr/>
          <p:nvPr/>
        </p:nvSpPr>
        <p:spPr>
          <a:xfrm>
            <a:off x="2974086" y="5028774"/>
            <a:ext cx="6398514" cy="1445125"/>
          </a:xfrm>
          <a:prstGeom prst="cloudCallou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変動傾向が似ていれば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上手くいくだろうか？</a:t>
            </a:r>
          </a:p>
        </p:txBody>
      </p:sp>
    </p:spTree>
    <p:extLst>
      <p:ext uri="{BB962C8B-B14F-4D97-AF65-F5344CB8AC3E}">
        <p14:creationId xmlns:p14="http://schemas.microsoft.com/office/powerpoint/2010/main" val="959642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6BF52-B27A-D82F-3065-AECCF627C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311A37-DDAF-1785-661C-7C4A2BC98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b="1" dirty="0"/>
              <a:t>実験</a:t>
            </a:r>
            <a:r>
              <a:rPr lang="en-US" altLang="ja-JP" sz="3600" b="1" dirty="0"/>
              <a:t>2</a:t>
            </a:r>
            <a:r>
              <a:rPr kumimoji="1" lang="ja-JP" altLang="en-US" sz="3600" b="1" dirty="0"/>
              <a:t>：</a:t>
            </a:r>
            <a:r>
              <a:rPr kumimoji="1" lang="en-US" altLang="ja-JP" sz="3600" b="1" dirty="0"/>
              <a:t>2017</a:t>
            </a:r>
            <a:r>
              <a:rPr kumimoji="1" lang="ja-JP" altLang="en-US" sz="3600" b="1" dirty="0"/>
              <a:t>年の予測結果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A6FCE33-8009-EDB0-CFBE-9B7157EEEA57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7B4CF80-0859-0DF5-AA28-8C1A1721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20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D9799E3-EBDB-DDD6-E487-49B3CABE12D7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996BFBB-5FFB-7BA4-758E-9719277FB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16" y="1710118"/>
            <a:ext cx="474345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54EA32A-571E-DBEE-6092-6BEE237624FC}"/>
              </a:ext>
            </a:extLst>
          </p:cNvPr>
          <p:cNvSpPr txBox="1"/>
          <p:nvPr/>
        </p:nvSpPr>
        <p:spPr>
          <a:xfrm>
            <a:off x="7376160" y="6176498"/>
            <a:ext cx="28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正解率：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56.6%</a:t>
            </a:r>
            <a:endParaRPr kumimoji="1" lang="ja-JP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CF9CF92-A911-FC2E-3158-A2885BDD256F}"/>
              </a:ext>
            </a:extLst>
          </p:cNvPr>
          <p:cNvSpPr txBox="1"/>
          <p:nvPr/>
        </p:nvSpPr>
        <p:spPr>
          <a:xfrm>
            <a:off x="1962912" y="6176497"/>
            <a:ext cx="28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正解率：</a:t>
            </a:r>
            <a:r>
              <a:rPr kumimoji="1" lang="en-US" altLang="ja-JP" sz="2400" b="1" dirty="0"/>
              <a:t>56.2%</a:t>
            </a:r>
            <a:endParaRPr kumimoji="1" lang="ja-JP" altLang="en-US" sz="2400" b="1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10A559B-9D2F-BC48-56EB-A536B1CC4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16" y="1722393"/>
            <a:ext cx="48291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958F5BE-9FBA-C496-5623-3EF9134A4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012" y="1722393"/>
            <a:ext cx="48291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9631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2D43F-3B78-1D68-A9DE-15F23A7A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A4E940-1412-A164-4D8A-3BBFD5F87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sz="3600" b="1" dirty="0"/>
              <a:t>実験</a:t>
            </a:r>
            <a:r>
              <a:rPr lang="en-US" altLang="ja-JP" sz="3600" b="1" dirty="0"/>
              <a:t>2</a:t>
            </a:r>
            <a:r>
              <a:rPr lang="ja-JP" altLang="en-US" sz="3600" b="1" dirty="0"/>
              <a:t>：特徴量重要度</a:t>
            </a:r>
            <a:endParaRPr kumimoji="1" lang="ja-JP" altLang="en-US" sz="3600" b="1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78C2F7B-428A-6636-7931-A254CD9CF13E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5C87CE9-6515-B479-954E-7B3B8C3F3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21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22D7BFC-A3C9-E7BB-EED9-4324D7089215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C13B3AD-A41E-264D-FC28-6A31C0C10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102" y="1818704"/>
            <a:ext cx="7803458" cy="465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FB3F0AE-89A5-1044-454F-8BAC55EA437F}"/>
              </a:ext>
            </a:extLst>
          </p:cNvPr>
          <p:cNvSpPr/>
          <p:nvPr/>
        </p:nvSpPr>
        <p:spPr>
          <a:xfrm>
            <a:off x="2377440" y="4919473"/>
            <a:ext cx="804672" cy="14630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F461E81-49EB-1EF8-B728-F7928337089F}"/>
              </a:ext>
            </a:extLst>
          </p:cNvPr>
          <p:cNvSpPr txBox="1"/>
          <p:nvPr/>
        </p:nvSpPr>
        <p:spPr>
          <a:xfrm>
            <a:off x="566928" y="4807959"/>
            <a:ext cx="1691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18</a:t>
            </a:r>
            <a:r>
              <a:rPr lang="ja-JP" altLang="en-US" dirty="0"/>
              <a:t>個中</a:t>
            </a:r>
            <a:r>
              <a:rPr lang="en-US" altLang="ja-JP" b="1" dirty="0"/>
              <a:t>14</a:t>
            </a:r>
            <a:r>
              <a:rPr lang="ja-JP" altLang="en-US" dirty="0"/>
              <a:t>番目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74897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54DF6-79EC-58CC-2250-028E97559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BC104C-B3D3-C3FE-ADE9-84836DF3A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ja-JP" altLang="en-US" sz="3600" b="1" dirty="0"/>
              <a:t>精度の変動要因の考察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259AACF-145E-B000-F127-25C129DCD9E1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AF93878-E217-229D-B4C4-FFC1CF74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22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1E40CE0-DBAC-7CC9-81FD-5500267DD0D6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C272987-9D86-F59F-0C6B-1F44A40E03B8}"/>
              </a:ext>
            </a:extLst>
          </p:cNvPr>
          <p:cNvSpPr txBox="1"/>
          <p:nvPr/>
        </p:nvSpPr>
        <p:spPr>
          <a:xfrm>
            <a:off x="603504" y="2176272"/>
            <a:ext cx="1114653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b="1" dirty="0"/>
              <a:t>2017</a:t>
            </a:r>
            <a:r>
              <a:rPr lang="ja-JP" altLang="en-US" sz="2800" dirty="0"/>
              <a:t>年の方が精度が高かった理由：訓練データと変動傾向の</a:t>
            </a:r>
            <a:r>
              <a:rPr lang="ja-JP" altLang="en-US" sz="2800" b="1" dirty="0"/>
              <a:t>類似</a:t>
            </a:r>
            <a:endParaRPr lang="en-US" altLang="ja-JP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800" b="1" dirty="0"/>
              <a:t>モデルドリフト</a:t>
            </a:r>
            <a:r>
              <a:rPr lang="ja-JP" altLang="en-US" sz="2800" dirty="0"/>
              <a:t>の影響：レジームスイッチ等による株価傾向の</a:t>
            </a:r>
            <a:r>
              <a:rPr lang="ja-JP" altLang="en-US" sz="2800" b="1" dirty="0"/>
              <a:t>急変</a:t>
            </a:r>
            <a:r>
              <a:rPr lang="ja-JP" altLang="en-US" sz="2800" dirty="0"/>
              <a:t>の影響を受けた</a:t>
            </a: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800" dirty="0"/>
              <a:t>対策：</a:t>
            </a:r>
            <a:r>
              <a:rPr lang="ja-JP" altLang="en-US" sz="2800" b="1" dirty="0"/>
              <a:t>継続的な学習サイクル</a:t>
            </a:r>
            <a:r>
              <a:rPr lang="ja-JP" altLang="en-US" sz="2800" dirty="0"/>
              <a:t>の実施が必要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4020723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57543-12FD-D277-1A8E-2991F05F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E352C6-30ED-A8F7-B535-BFD35BBA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ja-JP" sz="3600" b="1" dirty="0"/>
              <a:t>6.</a:t>
            </a:r>
            <a:r>
              <a:rPr lang="ja-JP" altLang="en-US" sz="3600" b="1" dirty="0"/>
              <a:t>今後の課題</a:t>
            </a:r>
            <a:endParaRPr kumimoji="1" lang="ja-JP" altLang="en-US" sz="3600" b="1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FAE5E64-A3A9-93BC-F5B4-7BBE352C31EB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3BCA556-05F0-93BF-1284-C2B48EE75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23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7F4556F-26C4-88AE-6D6B-9D020E3C434A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3709BB2-DCFA-B4FB-1D81-6B0316C5A463}"/>
              </a:ext>
            </a:extLst>
          </p:cNvPr>
          <p:cNvSpPr txBox="1"/>
          <p:nvPr/>
        </p:nvSpPr>
        <p:spPr>
          <a:xfrm>
            <a:off x="859536" y="2304288"/>
            <a:ext cx="106710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800" b="1" dirty="0"/>
              <a:t>重要度が高く</a:t>
            </a:r>
            <a:r>
              <a:rPr lang="ja-JP" altLang="en-US" sz="2800" dirty="0"/>
              <a:t>精度向上に大きく寄与する新規特徴量の調査</a:t>
            </a: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800" b="1" dirty="0"/>
              <a:t>回帰的</a:t>
            </a:r>
            <a:r>
              <a:rPr lang="ja-JP" altLang="en-US" sz="2800" dirty="0"/>
              <a:t>な株価予測における</a:t>
            </a:r>
            <a:r>
              <a:rPr lang="en-US" altLang="ja-JP" sz="2800" dirty="0"/>
              <a:t>TCN</a:t>
            </a:r>
            <a:r>
              <a:rPr lang="ja-JP" altLang="en-US" sz="2800" dirty="0"/>
              <a:t>予測値の寄与度の検証</a:t>
            </a: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800" dirty="0"/>
              <a:t>最新の市場トレンドへの</a:t>
            </a:r>
            <a:r>
              <a:rPr lang="ja-JP" altLang="en-US" sz="2800" b="1" dirty="0"/>
              <a:t>リアルタイム</a:t>
            </a:r>
            <a:r>
              <a:rPr lang="ja-JP" altLang="en-US" sz="2800" dirty="0"/>
              <a:t>な追従手法の開発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3045847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A885E-0C43-681D-BF2F-16A72B3BE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D5547A-8A18-9215-00B2-F510516D9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ja-JP" sz="3600" b="1" dirty="0"/>
              <a:t>7.</a:t>
            </a:r>
            <a:r>
              <a:rPr lang="ja-JP" altLang="en-US" sz="3600" b="1" dirty="0"/>
              <a:t>まとめ</a:t>
            </a:r>
            <a:endParaRPr kumimoji="1" lang="ja-JP" altLang="en-US" sz="3600" b="1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C3D612F-9A0B-8389-ED88-C46101C417E4}"/>
              </a:ext>
            </a:extLst>
          </p:cNvPr>
          <p:cNvSpPr/>
          <p:nvPr/>
        </p:nvSpPr>
        <p:spPr>
          <a:xfrm>
            <a:off x="0" y="1416369"/>
            <a:ext cx="1219200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54A0D9-B430-BAF0-ABB6-56CCC43F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4E8-3023-4240-8750-DEB3F40919D7}" type="slidenum">
              <a:rPr kumimoji="1" lang="ja-JP" altLang="en-US" sz="1600" smtClean="0">
                <a:solidFill>
                  <a:schemeClr val="tx1"/>
                </a:solidFill>
              </a:rPr>
              <a:t>24</a:t>
            </a:fld>
            <a:endParaRPr kumimoji="1" lang="ja-JP" altLang="en-US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60DFFBC-8074-9C03-83CD-0730DB29087D}"/>
              </a:ext>
            </a:extLst>
          </p:cNvPr>
          <p:cNvSpPr/>
          <p:nvPr/>
        </p:nvSpPr>
        <p:spPr>
          <a:xfrm>
            <a:off x="0" y="1462088"/>
            <a:ext cx="12192000" cy="4571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D09BDEF-3724-BF88-DAE9-3E2C436F539A}"/>
              </a:ext>
            </a:extLst>
          </p:cNvPr>
          <p:cNvSpPr txBox="1"/>
          <p:nvPr/>
        </p:nvSpPr>
        <p:spPr>
          <a:xfrm>
            <a:off x="859536" y="2304288"/>
            <a:ext cx="106710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b="1" dirty="0"/>
              <a:t>TCN</a:t>
            </a:r>
            <a:r>
              <a:rPr lang="ja-JP" altLang="en-US" sz="2800" b="1" dirty="0"/>
              <a:t>の予測値</a:t>
            </a:r>
            <a:r>
              <a:rPr lang="ja-JP" altLang="en-US" sz="2800" dirty="0"/>
              <a:t>を特徴量に加える提案手法により，精度をやや改善できた</a:t>
            </a: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800" b="1" dirty="0"/>
              <a:t>2017</a:t>
            </a:r>
            <a:r>
              <a:rPr lang="ja-JP" altLang="en-US" sz="2800" dirty="0"/>
              <a:t>年の予測において最大</a:t>
            </a:r>
            <a:r>
              <a:rPr lang="en-US" altLang="ja-JP" sz="2800" b="1" dirty="0">
                <a:solidFill>
                  <a:srgbClr val="FF0000"/>
                </a:solidFill>
              </a:rPr>
              <a:t>56.6%</a:t>
            </a:r>
            <a:r>
              <a:rPr lang="ja-JP" altLang="en-US" sz="2800" dirty="0"/>
              <a:t>の精度を達成</a:t>
            </a: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800" b="1" dirty="0"/>
              <a:t>市場環境の変化</a:t>
            </a:r>
            <a:r>
              <a:rPr lang="ja-JP" altLang="en-US" sz="2800" dirty="0"/>
              <a:t>に応じたモデルの再訓練の重要性を確認した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2295015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686</Words>
  <Application>Microsoft Office PowerPoint</Application>
  <PresentationFormat>ワイド画面</PresentationFormat>
  <Paragraphs>163</Paragraphs>
  <Slides>24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8" baseType="lpstr">
      <vt:lpstr>游ゴシック</vt:lpstr>
      <vt:lpstr>游ゴシック Light</vt:lpstr>
      <vt:lpstr>Arial</vt:lpstr>
      <vt:lpstr>Office テーマ</vt:lpstr>
      <vt:lpstr>株価予測におけるTCN-LightGBM 複合モデルの適用</vt:lpstr>
      <vt:lpstr>アジェンダ</vt:lpstr>
      <vt:lpstr>1.研究背景と目的</vt:lpstr>
      <vt:lpstr>TCN(時間的畳み込みネットワーク)</vt:lpstr>
      <vt:lpstr>TCN(時間的畳み込みネットワーク)</vt:lpstr>
      <vt:lpstr>1.研究背景と目的</vt:lpstr>
      <vt:lpstr>2.データ入手方法と特徴量</vt:lpstr>
      <vt:lpstr>PowerPoint プレゼンテーション</vt:lpstr>
      <vt:lpstr>テクニカル指標の追加</vt:lpstr>
      <vt:lpstr>PowerPoint プレゼンテーション</vt:lpstr>
      <vt:lpstr>3.提案手法(TCN-LightGBMモデル)</vt:lpstr>
      <vt:lpstr>4.実験設定</vt:lpstr>
      <vt:lpstr>4.評価指標</vt:lpstr>
      <vt:lpstr>5.実験1：2018年の株価予測</vt:lpstr>
      <vt:lpstr>実験1：2018年の予測結果</vt:lpstr>
      <vt:lpstr>実験1：特徴量重要度</vt:lpstr>
      <vt:lpstr>課題と原因の考察</vt:lpstr>
      <vt:lpstr>PowerPoint プレゼンテーション</vt:lpstr>
      <vt:lpstr>実験2：2017年の株価予測</vt:lpstr>
      <vt:lpstr>実験2：2017年の予測結果</vt:lpstr>
      <vt:lpstr>実験2：特徴量重要度</vt:lpstr>
      <vt:lpstr>精度の変動要因の考察</vt:lpstr>
      <vt:lpstr>6.今後の課題</vt:lpstr>
      <vt:lpstr>7.まとめ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kota nakai</dc:creator>
  <cp:lastModifiedBy>中居　幸太</cp:lastModifiedBy>
  <cp:revision>58</cp:revision>
  <dcterms:created xsi:type="dcterms:W3CDTF">2025-01-11T07:47:51Z</dcterms:created>
  <dcterms:modified xsi:type="dcterms:W3CDTF">2026-01-15T14:09:51Z</dcterms:modified>
</cp:coreProperties>
</file>