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73" r:id="rId3"/>
    <p:sldId id="257" r:id="rId4"/>
    <p:sldId id="258" r:id="rId5"/>
    <p:sldId id="259" r:id="rId6"/>
    <p:sldId id="260" r:id="rId7"/>
    <p:sldId id="261" r:id="rId8"/>
    <p:sldId id="262" r:id="rId9"/>
    <p:sldId id="263" r:id="rId10"/>
    <p:sldId id="264" r:id="rId11"/>
    <p:sldId id="265" r:id="rId12"/>
    <p:sldId id="267" r:id="rId13"/>
    <p:sldId id="268" r:id="rId14"/>
    <p:sldId id="272" r:id="rId15"/>
    <p:sldId id="269" r:id="rId16"/>
    <p:sldId id="270"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050"/>
    <a:srgbClr val="FFCCCC"/>
    <a:srgbClr val="CC9900"/>
    <a:srgbClr val="FFFFCC"/>
    <a:srgbClr val="FFDDD9"/>
    <a:srgbClr val="FFCC99"/>
    <a:srgbClr val="FF9999"/>
    <a:srgbClr val="FFF3EB"/>
    <a:srgbClr val="CCFFCC"/>
    <a:srgbClr val="00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淡色スタイル 1 - アクセント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95" autoAdjust="0"/>
    <p:restoredTop sz="94660"/>
  </p:normalViewPr>
  <p:slideViewPr>
    <p:cSldViewPr snapToGrid="0">
      <p:cViewPr varScale="1">
        <p:scale>
          <a:sx n="70" d="100"/>
          <a:sy n="70" d="100"/>
        </p:scale>
        <p:origin x="40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ltLang="ja-JP" b="1" i="0" dirty="0">
                <a:effectLst/>
              </a:rPr>
              <a:t>RMSE</a:t>
            </a:r>
            <a:r>
              <a:rPr lang="ja-JP" altLang="en-US" b="1" i="0" dirty="0">
                <a:effectLst/>
              </a:rPr>
              <a:t>改善の推移とベンチマーク比較</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ja-JP"/>
        </a:p>
      </c:txPr>
    </c:title>
    <c:autoTitleDeleted val="0"/>
    <c:plotArea>
      <c:layout/>
      <c:barChart>
        <c:barDir val="col"/>
        <c:grouping val="clustered"/>
        <c:varyColors val="0"/>
        <c:ser>
          <c:idx val="0"/>
          <c:order val="0"/>
          <c:tx>
            <c:strRef>
              <c:f>Sheet1!$B$1</c:f>
              <c:strCache>
                <c:ptCount val="1"/>
                <c:pt idx="0">
                  <c:v>初期モデル</c:v>
                </c:pt>
              </c:strCache>
            </c:strRef>
          </c:tx>
          <c:spPr>
            <a:solidFill>
              <a:schemeClr val="bg1">
                <a:lumMod val="65000"/>
              </a:schemeClr>
            </a:solidFill>
            <a:ln>
              <a:solidFill>
                <a:schemeClr val="bg1">
                  <a:lumMod val="65000"/>
                </a:schemeClr>
              </a:solidFill>
            </a:ln>
            <a:effectLst/>
          </c:spPr>
          <c:invertIfNegative val="0"/>
          <c:dLbls>
            <c:dLbl>
              <c:idx val="0"/>
              <c:tx>
                <c:rich>
                  <a:bodyPr/>
                  <a:lstStyle/>
                  <a:p>
                    <a:fld id="{D874E072-320C-458F-8BE3-4C3540589112}" type="VALUE">
                      <a:rPr lang="en-US" altLang="ja-JP" sz="1600" b="1">
                        <a:solidFill>
                          <a:schemeClr val="tx2"/>
                        </a:solidFill>
                      </a:rPr>
                      <a:pPr/>
                      <a:t>[値]</a:t>
                    </a:fld>
                    <a:endParaRPr lang="ja-JP" alt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1618-48ED-A903-92981C032A0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Sheet1!$B$2</c:f>
              <c:numCache>
                <c:formatCode>General</c:formatCode>
                <c:ptCount val="1"/>
                <c:pt idx="0">
                  <c:v>43.14</c:v>
                </c:pt>
              </c:numCache>
            </c:numRef>
          </c:val>
          <c:extLst>
            <c:ext xmlns:c16="http://schemas.microsoft.com/office/drawing/2014/chart" uri="{C3380CC4-5D6E-409C-BE32-E72D297353CC}">
              <c16:uniqueId val="{00000000-1618-48ED-A903-92981C032A0D}"/>
            </c:ext>
          </c:extLst>
        </c:ser>
        <c:ser>
          <c:idx val="1"/>
          <c:order val="1"/>
          <c:tx>
            <c:strRef>
              <c:f>Sheet1!$C$1</c:f>
              <c:strCache>
                <c:ptCount val="1"/>
                <c:pt idx="0">
                  <c:v>optuna最適化後1</c:v>
                </c:pt>
              </c:strCache>
            </c:strRef>
          </c:tx>
          <c:spPr>
            <a:solidFill>
              <a:schemeClr val="accent4">
                <a:lumMod val="60000"/>
                <a:lumOff val="40000"/>
              </a:schemeClr>
            </a:solidFill>
            <a:ln>
              <a:noFill/>
            </a:ln>
            <a:effectLst/>
          </c:spPr>
          <c:invertIfNegative val="0"/>
          <c:dLbls>
            <c:dLbl>
              <c:idx val="0"/>
              <c:tx>
                <c:rich>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fld id="{917A7A87-329F-40DB-A736-1D160C837EA4}" type="VALUE">
                      <a:rPr lang="en-US" altLang="ja-JP" sz="1600">
                        <a:solidFill>
                          <a:schemeClr val="tx2"/>
                        </a:solidFill>
                      </a:rPr>
                      <a:pPr>
                        <a:defRPr b="1"/>
                      </a:pPr>
                      <a:t>[値]</a:t>
                    </a:fld>
                    <a:endParaRPr lang="ja-JP" altLang="en-US"/>
                  </a:p>
                </c:rich>
              </c:tx>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ja-JP" altLang="en-US"/>
                </a:p>
              </c:tx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1618-48ED-A903-92981C032A0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Sheet1!$C$2</c:f>
              <c:numCache>
                <c:formatCode>General</c:formatCode>
                <c:ptCount val="1"/>
                <c:pt idx="0">
                  <c:v>28.5</c:v>
                </c:pt>
              </c:numCache>
            </c:numRef>
          </c:val>
          <c:extLst>
            <c:ext xmlns:c16="http://schemas.microsoft.com/office/drawing/2014/chart" uri="{C3380CC4-5D6E-409C-BE32-E72D297353CC}">
              <c16:uniqueId val="{00000001-1618-48ED-A903-92981C032A0D}"/>
            </c:ext>
          </c:extLst>
        </c:ser>
        <c:ser>
          <c:idx val="2"/>
          <c:order val="2"/>
          <c:tx>
            <c:strRef>
              <c:f>Sheet1!$D$1</c:f>
              <c:strCache>
                <c:ptCount val="1"/>
                <c:pt idx="0">
                  <c:v>optuna最適化後2</c:v>
                </c:pt>
              </c:strCache>
            </c:strRef>
          </c:tx>
          <c:spPr>
            <a:solidFill>
              <a:schemeClr val="accent4"/>
            </a:solidFill>
            <a:ln>
              <a:noFill/>
            </a:ln>
            <a:effectLst/>
          </c:spPr>
          <c:invertIfNegative val="0"/>
          <c:dLbls>
            <c:dLbl>
              <c:idx val="0"/>
              <c:tx>
                <c:rich>
                  <a:bodyPr/>
                  <a:lstStyle/>
                  <a:p>
                    <a:fld id="{04C436F9-AC06-481A-8BD6-6ECB90916EB5}" type="VALUE">
                      <a:rPr lang="en-US" altLang="ja-JP" sz="1600" b="1">
                        <a:solidFill>
                          <a:schemeClr val="tx2"/>
                        </a:solidFill>
                      </a:rPr>
                      <a:pPr/>
                      <a:t>[値]</a:t>
                    </a:fld>
                    <a:endParaRPr lang="ja-JP" alt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1618-48ED-A903-92981C032A0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Sheet1!$D$2</c:f>
              <c:numCache>
                <c:formatCode>General</c:formatCode>
                <c:ptCount val="1"/>
                <c:pt idx="0">
                  <c:v>21.3</c:v>
                </c:pt>
              </c:numCache>
            </c:numRef>
          </c:val>
          <c:extLst>
            <c:ext xmlns:c16="http://schemas.microsoft.com/office/drawing/2014/chart" uri="{C3380CC4-5D6E-409C-BE32-E72D297353CC}">
              <c16:uniqueId val="{00000002-1618-48ED-A903-92981C032A0D}"/>
            </c:ext>
          </c:extLst>
        </c:ser>
        <c:ser>
          <c:idx val="3"/>
          <c:order val="3"/>
          <c:tx>
            <c:strRef>
              <c:f>Sheet1!$E$1</c:f>
              <c:strCache>
                <c:ptCount val="1"/>
                <c:pt idx="0">
                  <c:v>optuna最適化後3</c:v>
                </c:pt>
              </c:strCache>
            </c:strRef>
          </c:tx>
          <c:spPr>
            <a:solidFill>
              <a:schemeClr val="accent1"/>
            </a:solidFill>
            <a:ln>
              <a:solidFill>
                <a:schemeClr val="accent1"/>
              </a:solidFill>
            </a:ln>
            <a:effectLst/>
          </c:spPr>
          <c:invertIfNegative val="0"/>
          <c:dLbls>
            <c:dLbl>
              <c:idx val="0"/>
              <c:tx>
                <c:rich>
                  <a:bodyPr/>
                  <a:lstStyle/>
                  <a:p>
                    <a:fld id="{91D4BE7B-BF69-4A67-84EF-C732BA212CBC}" type="VALUE">
                      <a:rPr lang="en-US" altLang="ja-JP" sz="1600" b="1">
                        <a:solidFill>
                          <a:schemeClr val="tx2"/>
                        </a:solidFill>
                      </a:rPr>
                      <a:pPr/>
                      <a:t>[値]</a:t>
                    </a:fld>
                    <a:endParaRPr lang="ja-JP" alt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1618-48ED-A903-92981C032A0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Sheet1!$E$2</c:f>
              <c:numCache>
                <c:formatCode>General</c:formatCode>
                <c:ptCount val="1"/>
                <c:pt idx="0">
                  <c:v>16.7</c:v>
                </c:pt>
              </c:numCache>
            </c:numRef>
          </c:val>
          <c:extLst>
            <c:ext xmlns:c16="http://schemas.microsoft.com/office/drawing/2014/chart" uri="{C3380CC4-5D6E-409C-BE32-E72D297353CC}">
              <c16:uniqueId val="{00000003-1618-48ED-A903-92981C032A0D}"/>
            </c:ext>
          </c:extLst>
        </c:ser>
        <c:dLbls>
          <c:dLblPos val="outEnd"/>
          <c:showLegendKey val="0"/>
          <c:showVal val="1"/>
          <c:showCatName val="0"/>
          <c:showSerName val="0"/>
          <c:showPercent val="0"/>
          <c:showBubbleSize val="0"/>
        </c:dLbls>
        <c:gapWidth val="219"/>
        <c:overlap val="-27"/>
        <c:axId val="1832129568"/>
        <c:axId val="1832126208"/>
      </c:barChart>
      <c:catAx>
        <c:axId val="18321295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1832126208"/>
        <c:crosses val="autoZero"/>
        <c:auto val="1"/>
        <c:lblAlgn val="ctr"/>
        <c:lblOffset val="100"/>
        <c:noMultiLvlLbl val="0"/>
      </c:catAx>
      <c:valAx>
        <c:axId val="183212620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ltLang="ja-JP" b="1" dirty="0"/>
                  <a:t>RMSE (</a:t>
                </a:r>
                <a:r>
                  <a:rPr lang="ja-JP" altLang="en-US" b="1" dirty="0"/>
                  <a:t>低いほど良い</a:t>
                </a:r>
                <a:r>
                  <a:rPr lang="en-US" altLang="ja-JP" b="1" dirty="0"/>
                  <a:t>)</a:t>
                </a:r>
                <a:endParaRPr lang="ja-JP" altLang="en-US" b="1" dirty="0"/>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ja-JP" altLang="en-US"/>
            </a:p>
          </c:txPr>
        </c:title>
        <c:numFmt formatCode="General" sourceLinked="1"/>
        <c:majorTickMark val="none"/>
        <c:minorTickMark val="none"/>
        <c:tickLblPos val="nextTo"/>
        <c:spPr>
          <a:noFill/>
          <a:ln>
            <a:solidFill>
              <a:schemeClr val="accent1">
                <a:alpha val="97000"/>
              </a:schemeClr>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1832129568"/>
        <c:crosses val="autoZero"/>
        <c:crossBetween val="between"/>
        <c:majorUnit val="10"/>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PIの値</c:v>
                </c:pt>
              </c:strCache>
            </c:strRef>
          </c:tx>
          <c:spPr>
            <a:solidFill>
              <a:schemeClr val="bg2">
                <a:lumMod val="75000"/>
              </a:schemeClr>
            </a:solidFill>
            <a:ln>
              <a:noFill/>
            </a:ln>
            <a:effectLst/>
          </c:spPr>
          <c:invertIfNegative val="0"/>
          <c:dPt>
            <c:idx val="0"/>
            <c:invertIfNegative val="0"/>
            <c:bubble3D val="0"/>
            <c:spPr>
              <a:solidFill>
                <a:srgbClr val="00B0F0"/>
              </a:solidFill>
              <a:ln>
                <a:noFill/>
              </a:ln>
              <a:effectLst/>
            </c:spPr>
            <c:extLst>
              <c:ext xmlns:c16="http://schemas.microsoft.com/office/drawing/2014/chart" uri="{C3380CC4-5D6E-409C-BE32-E72D297353CC}">
                <c16:uniqueId val="{00000007-E3EA-4B3A-B8CF-CE7FAE5469FB}"/>
              </c:ext>
            </c:extLst>
          </c:dPt>
          <c:dPt>
            <c:idx val="3"/>
            <c:invertIfNegative val="0"/>
            <c:bubble3D val="0"/>
            <c:spPr>
              <a:solidFill>
                <a:schemeClr val="accent5">
                  <a:lumMod val="60000"/>
                  <a:lumOff val="40000"/>
                </a:schemeClr>
              </a:solidFill>
              <a:ln>
                <a:solidFill>
                  <a:schemeClr val="accent5">
                    <a:lumMod val="60000"/>
                    <a:lumOff val="40000"/>
                  </a:schemeClr>
                </a:solidFill>
              </a:ln>
              <a:effectLst/>
            </c:spPr>
            <c:extLst>
              <c:ext xmlns:c16="http://schemas.microsoft.com/office/drawing/2014/chart" uri="{C3380CC4-5D6E-409C-BE32-E72D297353CC}">
                <c16:uniqueId val="{00000009-E3EA-4B3A-B8CF-CE7FAE5469FB}"/>
              </c:ext>
            </c:extLst>
          </c:dPt>
          <c:dPt>
            <c:idx val="4"/>
            <c:invertIfNegative val="0"/>
            <c:bubble3D val="0"/>
            <c:spPr>
              <a:solidFill>
                <a:srgbClr val="00B0F0"/>
              </a:solidFill>
              <a:ln>
                <a:noFill/>
              </a:ln>
              <a:effectLst/>
            </c:spPr>
            <c:extLst>
              <c:ext xmlns:c16="http://schemas.microsoft.com/office/drawing/2014/chart" uri="{C3380CC4-5D6E-409C-BE32-E72D297353CC}">
                <c16:uniqueId val="{00000006-E3EA-4B3A-B8CF-CE7FAE5469FB}"/>
              </c:ext>
            </c:extLst>
          </c:dPt>
          <c:dPt>
            <c:idx val="5"/>
            <c:invertIfNegative val="0"/>
            <c:bubble3D val="0"/>
            <c:spPr>
              <a:solidFill>
                <a:schemeClr val="accent5">
                  <a:lumMod val="60000"/>
                  <a:lumOff val="40000"/>
                </a:schemeClr>
              </a:solidFill>
              <a:ln>
                <a:solidFill>
                  <a:schemeClr val="accent5">
                    <a:lumMod val="60000"/>
                    <a:lumOff val="40000"/>
                  </a:schemeClr>
                </a:solidFill>
              </a:ln>
              <a:effectLst/>
            </c:spPr>
            <c:extLst>
              <c:ext xmlns:c16="http://schemas.microsoft.com/office/drawing/2014/chart" uri="{C3380CC4-5D6E-409C-BE32-E72D297353CC}">
                <c16:uniqueId val="{00000008-E3EA-4B3A-B8CF-CE7FAE5469FB}"/>
              </c:ext>
            </c:extLst>
          </c:dPt>
          <c:dPt>
            <c:idx val="7"/>
            <c:invertIfNegative val="0"/>
            <c:bubble3D val="0"/>
            <c:spPr>
              <a:solidFill>
                <a:schemeClr val="accent6"/>
              </a:solidFill>
              <a:ln>
                <a:noFill/>
              </a:ln>
              <a:effectLst/>
            </c:spPr>
            <c:extLst>
              <c:ext xmlns:c16="http://schemas.microsoft.com/office/drawing/2014/chart" uri="{C3380CC4-5D6E-409C-BE32-E72D297353CC}">
                <c16:uniqueId val="{00000005-E3EA-4B3A-B8CF-CE7FAE5469FB}"/>
              </c:ext>
            </c:extLst>
          </c:dPt>
          <c:dPt>
            <c:idx val="8"/>
            <c:invertIfNegative val="0"/>
            <c:bubble3D val="0"/>
            <c:spPr>
              <a:solidFill>
                <a:schemeClr val="accent2"/>
              </a:solidFill>
              <a:ln>
                <a:noFill/>
              </a:ln>
              <a:effectLst/>
            </c:spPr>
            <c:extLst>
              <c:ext xmlns:c16="http://schemas.microsoft.com/office/drawing/2014/chart" uri="{C3380CC4-5D6E-409C-BE32-E72D297353CC}">
                <c16:uniqueId val="{00000004-E3EA-4B3A-B8CF-CE7FAE5469FB}"/>
              </c:ext>
            </c:extLst>
          </c:dPt>
          <c:dPt>
            <c:idx val="9"/>
            <c:invertIfNegative val="0"/>
            <c:bubble3D val="0"/>
            <c:spPr>
              <a:solidFill>
                <a:schemeClr val="tx2">
                  <a:lumMod val="75000"/>
                  <a:lumOff val="25000"/>
                </a:schemeClr>
              </a:solidFill>
              <a:ln w="0">
                <a:solidFill>
                  <a:schemeClr val="bg1">
                    <a:lumMod val="65000"/>
                  </a:schemeClr>
                </a:solidFill>
              </a:ln>
              <a:effectLst/>
            </c:spPr>
            <c:extLst>
              <c:ext xmlns:c16="http://schemas.microsoft.com/office/drawing/2014/chart" uri="{C3380CC4-5D6E-409C-BE32-E72D297353CC}">
                <c16:uniqueId val="{00000003-E3EA-4B3A-B8CF-CE7FAE5469FB}"/>
              </c:ext>
            </c:extLst>
          </c:dPt>
          <c:cat>
            <c:strRef>
              <c:f>Sheet1!$A$2:$A$11</c:f>
              <c:strCache>
                <c:ptCount val="10"/>
                <c:pt idx="0">
                  <c:v>bert_reduced_33</c:v>
                </c:pt>
                <c:pt idx="1">
                  <c:v>広告_有無</c:v>
                </c:pt>
                <c:pt idx="2">
                  <c:v>納入予定数</c:v>
                </c:pt>
                <c:pt idx="3">
                  <c:v>広告有無×店頭在庫数</c:v>
                </c:pt>
                <c:pt idx="4">
                  <c:v>bert_reduced_1</c:v>
                </c:pt>
                <c:pt idx="5">
                  <c:v>広告有無×在庫手持週</c:v>
                </c:pt>
                <c:pt idx="6">
                  <c:v>3日間移動平均</c:v>
                </c:pt>
                <c:pt idx="7">
                  <c:v>客数</c:v>
                </c:pt>
                <c:pt idx="8">
                  <c:v>店頭在庫数</c:v>
                </c:pt>
                <c:pt idx="9">
                  <c:v>店頭在庫手持週</c:v>
                </c:pt>
              </c:strCache>
            </c:strRef>
          </c:cat>
          <c:val>
            <c:numRef>
              <c:f>Sheet1!$B$2:$B$11</c:f>
              <c:numCache>
                <c:formatCode>General</c:formatCode>
                <c:ptCount val="10"/>
                <c:pt idx="0">
                  <c:v>37.782715000000003</c:v>
                </c:pt>
                <c:pt idx="1">
                  <c:v>38.671857000000003</c:v>
                </c:pt>
                <c:pt idx="2">
                  <c:v>50.270131999999997</c:v>
                </c:pt>
                <c:pt idx="3">
                  <c:v>59.277312999999999</c:v>
                </c:pt>
                <c:pt idx="4">
                  <c:v>71.672274999999999</c:v>
                </c:pt>
                <c:pt idx="5">
                  <c:v>152.477036</c:v>
                </c:pt>
                <c:pt idx="6">
                  <c:v>187.64103700000001</c:v>
                </c:pt>
                <c:pt idx="7">
                  <c:v>574.77379199999996</c:v>
                </c:pt>
                <c:pt idx="8">
                  <c:v>1917.261749</c:v>
                </c:pt>
                <c:pt idx="9">
                  <c:v>2824.0413149999999</c:v>
                </c:pt>
              </c:numCache>
            </c:numRef>
          </c:val>
          <c:extLst>
            <c:ext xmlns:c16="http://schemas.microsoft.com/office/drawing/2014/chart" uri="{C3380CC4-5D6E-409C-BE32-E72D297353CC}">
              <c16:uniqueId val="{00000000-E3EA-4B3A-B8CF-CE7FAE5469FB}"/>
            </c:ext>
          </c:extLst>
        </c:ser>
        <c:dLbls>
          <c:showLegendKey val="0"/>
          <c:showVal val="0"/>
          <c:showCatName val="0"/>
          <c:showSerName val="0"/>
          <c:showPercent val="0"/>
          <c:showBubbleSize val="0"/>
        </c:dLbls>
        <c:gapWidth val="20"/>
        <c:axId val="1956231072"/>
        <c:axId val="1956230112"/>
      </c:barChart>
      <c:catAx>
        <c:axId val="195623107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1956230112"/>
        <c:crosses val="autoZero"/>
        <c:auto val="1"/>
        <c:lblAlgn val="ctr"/>
        <c:lblOffset val="100"/>
        <c:noMultiLvlLbl val="0"/>
      </c:catAx>
      <c:valAx>
        <c:axId val="195623011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195623107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ja-JP" sz="1400" dirty="0"/>
              <a:t>在庫手持週</a:t>
            </a:r>
            <a:r>
              <a:rPr lang="en-US" sz="1400" dirty="0"/>
              <a:t>×</a:t>
            </a:r>
            <a:r>
              <a:rPr lang="ja-JP" sz="1400" dirty="0"/>
              <a:t>広告（平均）</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ja-JP"/>
        </a:p>
      </c:txPr>
    </c:title>
    <c:autoTitleDeleted val="0"/>
    <c:plotArea>
      <c:layout>
        <c:manualLayout>
          <c:layoutTarget val="inner"/>
          <c:xMode val="edge"/>
          <c:yMode val="edge"/>
          <c:x val="5.1607664146010201E-2"/>
          <c:y val="0.24748198239881361"/>
          <c:w val="0.90015167418232878"/>
          <c:h val="0.36312631969840281"/>
        </c:manualLayout>
      </c:layout>
      <c:barChart>
        <c:barDir val="bar"/>
        <c:grouping val="clustered"/>
        <c:varyColors val="0"/>
        <c:ser>
          <c:idx val="0"/>
          <c:order val="0"/>
          <c:tx>
            <c:strRef>
              <c:f>Sheet1!$C$1</c:f>
              <c:strCache>
                <c:ptCount val="1"/>
                <c:pt idx="0">
                  <c:v>Sleepers</c:v>
                </c:pt>
              </c:strCache>
            </c:strRef>
          </c:tx>
          <c:spPr>
            <a:solidFill>
              <a:srgbClr val="FF5050"/>
            </a:solidFill>
            <a:ln>
              <a:solidFill>
                <a:schemeClr val="accent5"/>
              </a:solid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在庫手持週×広告</c:v>
                </c:pt>
              </c:strCache>
            </c:strRef>
          </c:cat>
          <c:val>
            <c:numRef>
              <c:f>Sheet1!$B$2:$B$2</c:f>
              <c:numCache>
                <c:formatCode>General</c:formatCode>
                <c:ptCount val="1"/>
                <c:pt idx="0">
                  <c:v>2</c:v>
                </c:pt>
              </c:numCache>
            </c:numRef>
          </c:val>
          <c:extLst>
            <c:ext xmlns:c16="http://schemas.microsoft.com/office/drawing/2014/chart" uri="{C3380CC4-5D6E-409C-BE32-E72D297353CC}">
              <c16:uniqueId val="{00000000-59E7-4803-85B7-E4A4897AE328}"/>
            </c:ext>
          </c:extLst>
        </c:ser>
        <c:ser>
          <c:idx val="1"/>
          <c:order val="1"/>
          <c:tx>
            <c:strRef>
              <c:f>Sheet1!$B$1</c:f>
              <c:strCache>
                <c:ptCount val="1"/>
                <c:pt idx="0">
                  <c:v>Presuadables</c:v>
                </c:pt>
              </c:strCache>
            </c:strRef>
          </c:tx>
          <c:spPr>
            <a:solidFill>
              <a:schemeClr val="accent6">
                <a:lumMod val="60000"/>
                <a:lumOff val="40000"/>
              </a:schemeClr>
            </a:solidFill>
            <a:ln>
              <a:noFill/>
            </a:ln>
            <a:effectLst>
              <a:outerShdw blurRad="57150" dist="19050" dir="5400000" algn="ctr" rotWithShape="0">
                <a:srgbClr val="000000">
                  <a:alpha val="63000"/>
                </a:srgbClr>
              </a:outerShdw>
            </a:effectLst>
          </c:spPr>
          <c:invertIfNegative val="0"/>
          <c:dPt>
            <c:idx val="0"/>
            <c:invertIfNegative val="0"/>
            <c:bubble3D val="0"/>
            <c:spPr>
              <a:solidFill>
                <a:schemeClr val="accent6">
                  <a:lumMod val="60000"/>
                  <a:lumOff val="40000"/>
                </a:schemeClr>
              </a:solidFill>
              <a:ln>
                <a:solidFill>
                  <a:schemeClr val="accent6">
                    <a:lumMod val="60000"/>
                    <a:lumOff val="40000"/>
                  </a:schemeClr>
                </a:solid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4-59E7-4803-85B7-E4A4897AE328}"/>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c:f>
              <c:strCache>
                <c:ptCount val="1"/>
                <c:pt idx="0">
                  <c:v>在庫手持週×広告</c:v>
                </c:pt>
              </c:strCache>
            </c:strRef>
          </c:cat>
          <c:val>
            <c:numRef>
              <c:f>Sheet1!$C$2:$C$2</c:f>
              <c:numCache>
                <c:formatCode>General</c:formatCode>
                <c:ptCount val="1"/>
                <c:pt idx="0">
                  <c:v>5</c:v>
                </c:pt>
              </c:numCache>
            </c:numRef>
          </c:val>
          <c:extLst>
            <c:ext xmlns:c16="http://schemas.microsoft.com/office/drawing/2014/chart" uri="{C3380CC4-5D6E-409C-BE32-E72D297353CC}">
              <c16:uniqueId val="{00000001-59E7-4803-85B7-E4A4897AE328}"/>
            </c:ext>
          </c:extLst>
        </c:ser>
        <c:dLbls>
          <c:dLblPos val="outEnd"/>
          <c:showLegendKey val="0"/>
          <c:showVal val="1"/>
          <c:showCatName val="0"/>
          <c:showSerName val="0"/>
          <c:showPercent val="0"/>
          <c:showBubbleSize val="0"/>
        </c:dLbls>
        <c:gapWidth val="115"/>
        <c:overlap val="-20"/>
        <c:axId val="1584873647"/>
        <c:axId val="1673619215"/>
      </c:barChart>
      <c:catAx>
        <c:axId val="1584873647"/>
        <c:scaling>
          <c:orientation val="minMax"/>
        </c:scaling>
        <c:delete val="1"/>
        <c:axPos val="l"/>
        <c:numFmt formatCode="General" sourceLinked="1"/>
        <c:majorTickMark val="none"/>
        <c:minorTickMark val="none"/>
        <c:tickLblPos val="nextTo"/>
        <c:crossAx val="1673619215"/>
        <c:crosses val="autoZero"/>
        <c:auto val="1"/>
        <c:lblAlgn val="ctr"/>
        <c:lblOffset val="100"/>
        <c:noMultiLvlLbl val="0"/>
      </c:catAx>
      <c:valAx>
        <c:axId val="167361921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1584873647"/>
        <c:crosses val="autoZero"/>
        <c:crossBetween val="between"/>
        <c:majorUnit val="1"/>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ja-JP" sz="1400" dirty="0"/>
              <a:t>店頭在庫数</a:t>
            </a:r>
            <a:r>
              <a:rPr lang="en-US" sz="1400" dirty="0"/>
              <a:t>×</a:t>
            </a:r>
            <a:r>
              <a:rPr lang="ja-JP" sz="1400" dirty="0"/>
              <a:t>広告（平均）</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ja-JP"/>
        </a:p>
      </c:txPr>
    </c:title>
    <c:autoTitleDeleted val="0"/>
    <c:plotArea>
      <c:layout>
        <c:manualLayout>
          <c:layoutTarget val="inner"/>
          <c:xMode val="edge"/>
          <c:yMode val="edge"/>
          <c:x val="6.1060489689676208E-2"/>
          <c:y val="0.24606991010729978"/>
          <c:w val="0.86829127715243704"/>
          <c:h val="0.50501737416404524"/>
        </c:manualLayout>
      </c:layout>
      <c:barChart>
        <c:barDir val="bar"/>
        <c:grouping val="clustered"/>
        <c:varyColors val="0"/>
        <c:ser>
          <c:idx val="0"/>
          <c:order val="0"/>
          <c:tx>
            <c:strRef>
              <c:f>Sheet1!$B$1</c:f>
              <c:strCache>
                <c:ptCount val="1"/>
                <c:pt idx="0">
                  <c:v>列1</c:v>
                </c:pt>
              </c:strCache>
            </c:strRef>
          </c:tx>
          <c:spPr>
            <a:solidFill>
              <a:srgbClr val="FF5050"/>
            </a:solidFill>
            <a:ln>
              <a:solidFill>
                <a:schemeClr val="accent5"/>
              </a:solid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Sheet1!$B$2</c:f>
              <c:numCache>
                <c:formatCode>General</c:formatCode>
                <c:ptCount val="1"/>
                <c:pt idx="0">
                  <c:v>97</c:v>
                </c:pt>
              </c:numCache>
            </c:numRef>
          </c:val>
          <c:extLst>
            <c:ext xmlns:c16="http://schemas.microsoft.com/office/drawing/2014/chart" uri="{C3380CC4-5D6E-409C-BE32-E72D297353CC}">
              <c16:uniqueId val="{00000000-1F98-4AFB-98EC-01FA99D1C0A4}"/>
            </c:ext>
          </c:extLst>
        </c:ser>
        <c:ser>
          <c:idx val="1"/>
          <c:order val="1"/>
          <c:tx>
            <c:strRef>
              <c:f>Sheet1!$C$1</c:f>
              <c:strCache>
                <c:ptCount val="1"/>
                <c:pt idx="0">
                  <c:v>系列 2</c:v>
                </c:pt>
              </c:strCache>
            </c:strRef>
          </c:tx>
          <c:spPr>
            <a:solidFill>
              <a:schemeClr val="accent6">
                <a:lumMod val="60000"/>
                <a:lumOff val="40000"/>
              </a:schemeClr>
            </a:solidFill>
            <a:ln>
              <a:solidFill>
                <a:schemeClr val="accent6">
                  <a:lumMod val="60000"/>
                  <a:lumOff val="40000"/>
                </a:schemeClr>
              </a:solid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Sheet1!$C$2</c:f>
              <c:numCache>
                <c:formatCode>General</c:formatCode>
                <c:ptCount val="1"/>
                <c:pt idx="0">
                  <c:v>176</c:v>
                </c:pt>
              </c:numCache>
            </c:numRef>
          </c:val>
          <c:extLst>
            <c:ext xmlns:c16="http://schemas.microsoft.com/office/drawing/2014/chart" uri="{C3380CC4-5D6E-409C-BE32-E72D297353CC}">
              <c16:uniqueId val="{00000003-1F98-4AFB-98EC-01FA99D1C0A4}"/>
            </c:ext>
          </c:extLst>
        </c:ser>
        <c:dLbls>
          <c:dLblPos val="outEnd"/>
          <c:showLegendKey val="0"/>
          <c:showVal val="1"/>
          <c:showCatName val="0"/>
          <c:showSerName val="0"/>
          <c:showPercent val="0"/>
          <c:showBubbleSize val="0"/>
        </c:dLbls>
        <c:gapWidth val="115"/>
        <c:overlap val="-20"/>
        <c:axId val="1605349967"/>
        <c:axId val="1605357647"/>
      </c:barChart>
      <c:catAx>
        <c:axId val="1605349967"/>
        <c:scaling>
          <c:orientation val="minMax"/>
        </c:scaling>
        <c:delete val="0"/>
        <c:axPos val="l"/>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1605357647"/>
        <c:crosses val="autoZero"/>
        <c:auto val="1"/>
        <c:lblAlgn val="ctr"/>
        <c:lblOffset val="100"/>
        <c:noMultiLvlLbl val="0"/>
      </c:catAx>
      <c:valAx>
        <c:axId val="160535764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160534996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2012012012012012"/>
          <c:y val="0"/>
          <c:w val="0.87612612612612617"/>
          <c:h val="0.80964493385272562"/>
        </c:manualLayout>
      </c:layout>
      <c:barChart>
        <c:barDir val="col"/>
        <c:grouping val="clustered"/>
        <c:varyColors val="0"/>
        <c:ser>
          <c:idx val="0"/>
          <c:order val="0"/>
          <c:tx>
            <c:strRef>
              <c:f>Sheet1!$B$1</c:f>
              <c:strCache>
                <c:ptCount val="1"/>
                <c:pt idx="0">
                  <c:v>Persuadables</c:v>
                </c:pt>
              </c:strCache>
            </c:strRef>
          </c:tx>
          <c:spPr>
            <a:solidFill>
              <a:schemeClr val="accent6">
                <a:lumMod val="60000"/>
                <a:lumOff val="40000"/>
              </a:schemeClr>
            </a:solidFill>
            <a:ln>
              <a:solidFill>
                <a:schemeClr val="accent6">
                  <a:lumMod val="60000"/>
                  <a:lumOff val="40000"/>
                </a:schemeClr>
              </a:solidFill>
            </a:ln>
            <a:effectLst/>
          </c:spPr>
          <c:invertIfNegative val="0"/>
          <c:dLbls>
            <c:dLbl>
              <c:idx val="0"/>
              <c:tx>
                <c:rich>
                  <a:bodyPr/>
                  <a:lstStyle/>
                  <a:p>
                    <a:fld id="{8F0CE747-90E8-48D1-AC94-25F8028A9725}" type="VALUE">
                      <a:rPr lang="en-US" altLang="ja-JP" sz="1400" b="1">
                        <a:solidFill>
                          <a:schemeClr val="bg1"/>
                        </a:solidFill>
                      </a:rPr>
                      <a:pPr/>
                      <a:t>[値]</a:t>
                    </a:fld>
                    <a:endParaRPr lang="ja-JP" altLang="en-US"/>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9316-49A1-A838-41DA6743481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Sheet1!$B$2</c:f>
              <c:numCache>
                <c:formatCode>General</c:formatCode>
                <c:ptCount val="1"/>
                <c:pt idx="0">
                  <c:v>81</c:v>
                </c:pt>
              </c:numCache>
            </c:numRef>
          </c:val>
          <c:extLst>
            <c:ext xmlns:c16="http://schemas.microsoft.com/office/drawing/2014/chart" uri="{C3380CC4-5D6E-409C-BE32-E72D297353CC}">
              <c16:uniqueId val="{00000000-9316-49A1-A838-41DA6743481F}"/>
            </c:ext>
          </c:extLst>
        </c:ser>
        <c:ser>
          <c:idx val="1"/>
          <c:order val="1"/>
          <c:tx>
            <c:strRef>
              <c:f>Sheet1!$C$1</c:f>
              <c:strCache>
                <c:ptCount val="1"/>
                <c:pt idx="0">
                  <c:v>Sleepers</c:v>
                </c:pt>
              </c:strCache>
            </c:strRef>
          </c:tx>
          <c:spPr>
            <a:solidFill>
              <a:srgbClr val="FF5050"/>
            </a:solidFill>
            <a:ln>
              <a:solidFill>
                <a:srgbClr val="FF5050"/>
              </a:solidFill>
            </a:ln>
            <a:effectLst/>
          </c:spPr>
          <c:invertIfNegative val="0"/>
          <c:dLbls>
            <c:dLbl>
              <c:idx val="0"/>
              <c:tx>
                <c:rich>
                  <a:bodyPr/>
                  <a:lstStyle/>
                  <a:p>
                    <a:fld id="{C78C6D01-D5A6-4CA4-B7B1-0B0B6C8686D4}" type="VALUE">
                      <a:rPr lang="en-US" altLang="ja-JP" sz="1400" b="1">
                        <a:solidFill>
                          <a:schemeClr val="bg1"/>
                        </a:solidFill>
                      </a:rPr>
                      <a:pPr/>
                      <a:t>[値]</a:t>
                    </a:fld>
                    <a:endParaRPr lang="ja-JP" altLang="en-US"/>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9316-49A1-A838-41DA6743481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Sheet1!$C$2</c:f>
              <c:numCache>
                <c:formatCode>General</c:formatCode>
                <c:ptCount val="1"/>
                <c:pt idx="0">
                  <c:v>138</c:v>
                </c:pt>
              </c:numCache>
            </c:numRef>
          </c:val>
          <c:extLst>
            <c:ext xmlns:c16="http://schemas.microsoft.com/office/drawing/2014/chart" uri="{C3380CC4-5D6E-409C-BE32-E72D297353CC}">
              <c16:uniqueId val="{00000003-9316-49A1-A838-41DA6743481F}"/>
            </c:ext>
          </c:extLst>
        </c:ser>
        <c:dLbls>
          <c:dLblPos val="inEnd"/>
          <c:showLegendKey val="0"/>
          <c:showVal val="1"/>
          <c:showCatName val="0"/>
          <c:showSerName val="0"/>
          <c:showPercent val="0"/>
          <c:showBubbleSize val="0"/>
        </c:dLbls>
        <c:gapWidth val="219"/>
        <c:overlap val="-27"/>
        <c:axId val="1605354767"/>
        <c:axId val="1605347567"/>
      </c:barChart>
      <c:catAx>
        <c:axId val="16053547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1605347567"/>
        <c:crosses val="autoZero"/>
        <c:auto val="1"/>
        <c:lblAlgn val="ctr"/>
        <c:lblOffset val="100"/>
        <c:noMultiLvlLbl val="0"/>
      </c:catAx>
      <c:valAx>
        <c:axId val="1605347567"/>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605354767"/>
        <c:crosses val="autoZero"/>
        <c:crossBetween val="between"/>
      </c:valAx>
      <c:spPr>
        <a:noFill/>
        <a:ln>
          <a:noFill/>
        </a:ln>
        <a:effectLst/>
      </c:spPr>
    </c:plotArea>
    <c:legend>
      <c:legendPos val="b"/>
      <c:layout>
        <c:manualLayout>
          <c:xMode val="edge"/>
          <c:yMode val="edge"/>
          <c:x val="0.216321439549786"/>
          <c:y val="0.82786500794438234"/>
          <c:w val="0.67996943794187892"/>
          <c:h val="9.1152327796138716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41">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341">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image" Target="../media/image5.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image" Target="../media/image5.jpe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D2E409F-AEF0-4B2B-AA16-ABB43FFDCDAA}" type="doc">
      <dgm:prSet loTypeId="urn:microsoft.com/office/officeart/2005/8/layout/hList2" loCatId="picture" qsTypeId="urn:microsoft.com/office/officeart/2005/8/quickstyle/simple3" qsCatId="simple" csTypeId="urn:microsoft.com/office/officeart/2005/8/colors/colorful1" csCatId="colorful" phldr="1"/>
      <dgm:spPr/>
      <dgm:t>
        <a:bodyPr/>
        <a:lstStyle/>
        <a:p>
          <a:endParaRPr kumimoji="1" lang="ja-JP" altLang="en-US"/>
        </a:p>
      </dgm:t>
    </dgm:pt>
    <dgm:pt modelId="{DCB8639D-3CC7-469D-AE5C-7110B048641C}">
      <dgm:prSet phldrT="[テキスト]" phldr="0"/>
      <dgm:spPr/>
      <dgm:t>
        <a:bodyPr/>
        <a:lstStyle/>
        <a:p>
          <a:r>
            <a:rPr kumimoji="1" lang="en-US" altLang="ja-JP" b="1" dirty="0">
              <a:solidFill>
                <a:schemeClr val="bg1">
                  <a:lumMod val="65000"/>
                </a:schemeClr>
              </a:solidFill>
            </a:rPr>
            <a:t>01</a:t>
          </a:r>
          <a:endParaRPr kumimoji="1" lang="ja-JP" altLang="en-US" b="1" dirty="0">
            <a:solidFill>
              <a:schemeClr val="bg1">
                <a:lumMod val="65000"/>
              </a:schemeClr>
            </a:solidFill>
          </a:endParaRPr>
        </a:p>
      </dgm:t>
    </dgm:pt>
    <dgm:pt modelId="{09F42F2A-745C-4E00-A043-E6EFEDD8F2D0}" type="parTrans" cxnId="{59019FA3-B3E4-49C0-BB0B-66ED4A482C3C}">
      <dgm:prSet/>
      <dgm:spPr/>
      <dgm:t>
        <a:bodyPr/>
        <a:lstStyle/>
        <a:p>
          <a:endParaRPr kumimoji="1" lang="ja-JP" altLang="en-US"/>
        </a:p>
      </dgm:t>
    </dgm:pt>
    <dgm:pt modelId="{F2C05090-D3D6-4B10-BEC7-80EBD7A36A0D}" type="sibTrans" cxnId="{59019FA3-B3E4-49C0-BB0B-66ED4A482C3C}">
      <dgm:prSet/>
      <dgm:spPr/>
      <dgm:t>
        <a:bodyPr/>
        <a:lstStyle/>
        <a:p>
          <a:endParaRPr kumimoji="1" lang="ja-JP" altLang="en-US"/>
        </a:p>
      </dgm:t>
    </dgm:pt>
    <dgm:pt modelId="{E4C0B259-39D8-4279-AB74-561FF0E7E45B}">
      <dgm:prSet phldrT="[テキスト]" custT="1">
        <dgm:style>
          <a:lnRef idx="2">
            <a:schemeClr val="accent1"/>
          </a:lnRef>
          <a:fillRef idx="1">
            <a:schemeClr val="lt1"/>
          </a:fillRef>
          <a:effectRef idx="0">
            <a:schemeClr val="accent1"/>
          </a:effectRef>
          <a:fontRef idx="minor">
            <a:schemeClr val="dk1"/>
          </a:fontRef>
        </dgm:style>
      </dgm:prSet>
      <dgm:spPr>
        <a:ln w="57150"/>
      </dgm:spPr>
      <dgm:t>
        <a:bodyPr/>
        <a:lstStyle/>
        <a:p>
          <a:pPr>
            <a:buNone/>
          </a:pPr>
          <a:r>
            <a:rPr lang="ja-JP" altLang="en-US" sz="1600" b="1" i="0" dirty="0"/>
            <a:t>非構造化データの活用</a:t>
          </a:r>
          <a:endParaRPr kumimoji="1" lang="ja-JP" altLang="en-US" sz="1600" dirty="0"/>
        </a:p>
      </dgm:t>
    </dgm:pt>
    <dgm:pt modelId="{103BB8F9-FA92-4941-A855-F15237142FA6}" type="parTrans" cxnId="{48E4A7FF-5A07-43D7-A3A0-CF6409A742F8}">
      <dgm:prSet/>
      <dgm:spPr/>
      <dgm:t>
        <a:bodyPr/>
        <a:lstStyle/>
        <a:p>
          <a:endParaRPr kumimoji="1" lang="ja-JP" altLang="en-US"/>
        </a:p>
      </dgm:t>
    </dgm:pt>
    <dgm:pt modelId="{A079D3C9-4198-4E91-AEAC-135139415ED9}" type="sibTrans" cxnId="{48E4A7FF-5A07-43D7-A3A0-CF6409A742F8}">
      <dgm:prSet/>
      <dgm:spPr/>
      <dgm:t>
        <a:bodyPr/>
        <a:lstStyle/>
        <a:p>
          <a:endParaRPr kumimoji="1" lang="ja-JP" altLang="en-US"/>
        </a:p>
      </dgm:t>
    </dgm:pt>
    <dgm:pt modelId="{4B3D0D59-DF69-46C9-AD71-892A25F96DB1}">
      <dgm:prSet phldrT="[テキスト]" custT="1">
        <dgm:style>
          <a:lnRef idx="2">
            <a:schemeClr val="accent1"/>
          </a:lnRef>
          <a:fillRef idx="1">
            <a:schemeClr val="lt1"/>
          </a:fillRef>
          <a:effectRef idx="0">
            <a:schemeClr val="accent1"/>
          </a:effectRef>
          <a:fontRef idx="minor">
            <a:schemeClr val="dk1"/>
          </a:fontRef>
        </dgm:style>
      </dgm:prSet>
      <dgm:spPr>
        <a:ln w="57150"/>
      </dgm:spPr>
      <dgm:t>
        <a:bodyPr/>
        <a:lstStyle/>
        <a:p>
          <a:pPr>
            <a:buNone/>
          </a:pPr>
          <a:r>
            <a:rPr lang="ja-JP" altLang="en-US" sz="1400" b="0" i="0" dirty="0"/>
            <a:t>商品名というテキスト情報を</a:t>
          </a:r>
          <a:r>
            <a:rPr lang="en-US" altLang="ja-JP" sz="1400" b="0" i="0" dirty="0"/>
            <a:t>BERT</a:t>
          </a:r>
          <a:r>
            <a:rPr lang="ja-JP" altLang="en-US" sz="1400" b="0" i="0" dirty="0"/>
            <a:t>によって高次元ベクトル化し、カテゴリ分類だけでは捉えきれない商品の「意味的魅力」や「特徴」を精緻に反映した予測モデルを構築する。</a:t>
          </a:r>
          <a:endParaRPr kumimoji="1" lang="ja-JP" altLang="en-US" sz="1400" dirty="0"/>
        </a:p>
      </dgm:t>
    </dgm:pt>
    <dgm:pt modelId="{99254EF8-DB08-4498-B9BA-DB8204C012BA}" type="parTrans" cxnId="{30279739-76AC-4BFC-BB72-223ABDFA09E6}">
      <dgm:prSet/>
      <dgm:spPr/>
      <dgm:t>
        <a:bodyPr/>
        <a:lstStyle/>
        <a:p>
          <a:endParaRPr kumimoji="1" lang="ja-JP" altLang="en-US"/>
        </a:p>
      </dgm:t>
    </dgm:pt>
    <dgm:pt modelId="{B4E970AE-565B-4569-9419-24968460C1B5}" type="sibTrans" cxnId="{30279739-76AC-4BFC-BB72-223ABDFA09E6}">
      <dgm:prSet/>
      <dgm:spPr/>
      <dgm:t>
        <a:bodyPr/>
        <a:lstStyle/>
        <a:p>
          <a:endParaRPr kumimoji="1" lang="ja-JP" altLang="en-US"/>
        </a:p>
      </dgm:t>
    </dgm:pt>
    <dgm:pt modelId="{33C004C8-0929-45B2-B7AE-DC34A12A66F6}">
      <dgm:prSet phldrT="[テキスト]" phldr="0"/>
      <dgm:spPr/>
      <dgm:t>
        <a:bodyPr/>
        <a:lstStyle/>
        <a:p>
          <a:r>
            <a:rPr kumimoji="1" lang="en-US" altLang="ja-JP" b="1" dirty="0">
              <a:solidFill>
                <a:schemeClr val="bg1">
                  <a:lumMod val="65000"/>
                </a:schemeClr>
              </a:solidFill>
            </a:rPr>
            <a:t>02</a:t>
          </a:r>
          <a:endParaRPr kumimoji="1" lang="ja-JP" altLang="en-US" b="1" dirty="0">
            <a:solidFill>
              <a:schemeClr val="bg1">
                <a:lumMod val="65000"/>
              </a:schemeClr>
            </a:solidFill>
          </a:endParaRPr>
        </a:p>
      </dgm:t>
    </dgm:pt>
    <dgm:pt modelId="{E313C317-2CB5-4EE1-A59B-E52EC7B7E88C}" type="parTrans" cxnId="{1FE89D7C-F883-40DC-9BB9-E60477ACE0DB}">
      <dgm:prSet/>
      <dgm:spPr/>
      <dgm:t>
        <a:bodyPr/>
        <a:lstStyle/>
        <a:p>
          <a:endParaRPr kumimoji="1" lang="ja-JP" altLang="en-US"/>
        </a:p>
      </dgm:t>
    </dgm:pt>
    <dgm:pt modelId="{D3909235-F7A3-47A0-8241-8720C3146BD4}" type="sibTrans" cxnId="{1FE89D7C-F883-40DC-9BB9-E60477ACE0DB}">
      <dgm:prSet/>
      <dgm:spPr/>
      <dgm:t>
        <a:bodyPr/>
        <a:lstStyle/>
        <a:p>
          <a:endParaRPr kumimoji="1" lang="ja-JP" altLang="en-US"/>
        </a:p>
      </dgm:t>
    </dgm:pt>
    <dgm:pt modelId="{AF7C9BFE-F655-4273-844D-B34AAED58892}">
      <dgm:prSet phldrT="[テキスト]" custT="1">
        <dgm:style>
          <a:lnRef idx="2">
            <a:schemeClr val="accent2"/>
          </a:lnRef>
          <a:fillRef idx="1">
            <a:schemeClr val="lt1"/>
          </a:fillRef>
          <a:effectRef idx="0">
            <a:schemeClr val="accent2"/>
          </a:effectRef>
          <a:fontRef idx="minor">
            <a:schemeClr val="dk1"/>
          </a:fontRef>
        </dgm:style>
      </dgm:prSet>
      <dgm:spPr>
        <a:ln w="57150"/>
      </dgm:spPr>
      <dgm:t>
        <a:bodyPr/>
        <a:lstStyle/>
        <a:p>
          <a:pPr>
            <a:buNone/>
          </a:pPr>
          <a:r>
            <a:rPr lang="ja-JP" altLang="en-US" sz="1600" b="1" i="0" dirty="0"/>
            <a:t>広告のラグ効果の検証</a:t>
          </a:r>
          <a:br>
            <a:rPr lang="ja-JP" altLang="en-US" sz="1600" b="1" i="0" dirty="0"/>
          </a:br>
          <a:r>
            <a:rPr lang="ja-JP" altLang="en-US" sz="1600" b="0" i="0" dirty="0"/>
            <a:t>（遅延効果の特定）</a:t>
          </a:r>
          <a:endParaRPr kumimoji="1" lang="ja-JP" altLang="en-US" sz="1600" dirty="0"/>
        </a:p>
      </dgm:t>
    </dgm:pt>
    <dgm:pt modelId="{54CC57B8-7792-4515-B767-E93B5CA19FB2}" type="parTrans" cxnId="{60773BCA-7BC1-47AB-8731-868DF056AE40}">
      <dgm:prSet/>
      <dgm:spPr/>
      <dgm:t>
        <a:bodyPr/>
        <a:lstStyle/>
        <a:p>
          <a:endParaRPr kumimoji="1" lang="ja-JP" altLang="en-US"/>
        </a:p>
      </dgm:t>
    </dgm:pt>
    <dgm:pt modelId="{B6A53EEF-DEA4-4C6D-95DC-31FA97CD6798}" type="sibTrans" cxnId="{60773BCA-7BC1-47AB-8731-868DF056AE40}">
      <dgm:prSet/>
      <dgm:spPr/>
      <dgm:t>
        <a:bodyPr/>
        <a:lstStyle/>
        <a:p>
          <a:endParaRPr kumimoji="1" lang="ja-JP" altLang="en-US"/>
        </a:p>
      </dgm:t>
    </dgm:pt>
    <dgm:pt modelId="{D303A08D-1D44-4978-AE02-0F3B9AA6249D}">
      <dgm:prSet phldrT="[テキスト]" custT="1">
        <dgm:style>
          <a:lnRef idx="2">
            <a:schemeClr val="accent2"/>
          </a:lnRef>
          <a:fillRef idx="1">
            <a:schemeClr val="lt1"/>
          </a:fillRef>
          <a:effectRef idx="0">
            <a:schemeClr val="accent2"/>
          </a:effectRef>
          <a:fontRef idx="minor">
            <a:schemeClr val="dk1"/>
          </a:fontRef>
        </dgm:style>
      </dgm:prSet>
      <dgm:spPr>
        <a:ln w="57150"/>
      </dgm:spPr>
      <dgm:t>
        <a:bodyPr/>
        <a:lstStyle/>
        <a:p>
          <a:pPr>
            <a:buNone/>
          </a:pPr>
          <a:r>
            <a:rPr lang="ja-JP" altLang="en-US" sz="1400" b="0" i="0" dirty="0"/>
            <a:t>広告投下当日だけでなく、</a:t>
          </a:r>
          <a:r>
            <a:rPr lang="en-US" altLang="ja-JP" sz="1400" b="0" i="0" dirty="0"/>
            <a:t>SNS</a:t>
          </a:r>
          <a:r>
            <a:rPr lang="ja-JP" altLang="en-US" sz="1400" b="0" i="0" dirty="0"/>
            <a:t>や</a:t>
          </a:r>
          <a:r>
            <a:rPr lang="en-US" altLang="ja-JP" sz="1400" b="0" i="0" dirty="0"/>
            <a:t>TV</a:t>
          </a:r>
          <a:r>
            <a:rPr lang="ja-JP" altLang="en-US" sz="1400" b="0" i="0" dirty="0"/>
            <a:t>放映が数日</a:t>
          </a:r>
          <a:r>
            <a:rPr lang="en-US" altLang="ja-JP" sz="1400" b="0" i="0" dirty="0"/>
            <a:t>〜</a:t>
          </a:r>
          <a:r>
            <a:rPr lang="ja-JP" altLang="en-US" sz="1400" b="0" i="0" dirty="0"/>
            <a:t>数週間にわたって需要を押し上げる「残効効果」をラグ変数として設計し、その影響度とタイムラグを定量的に分析する。</a:t>
          </a:r>
          <a:endParaRPr kumimoji="1" lang="ja-JP" altLang="en-US" sz="1400" dirty="0"/>
        </a:p>
      </dgm:t>
    </dgm:pt>
    <dgm:pt modelId="{42F5AD0A-1CD8-4DD4-9FE0-907CD6A68E71}" type="parTrans" cxnId="{3254D4B4-40D2-40E5-82C9-2A62BECEA704}">
      <dgm:prSet/>
      <dgm:spPr/>
      <dgm:t>
        <a:bodyPr/>
        <a:lstStyle/>
        <a:p>
          <a:endParaRPr kumimoji="1" lang="ja-JP" altLang="en-US"/>
        </a:p>
      </dgm:t>
    </dgm:pt>
    <dgm:pt modelId="{C5A4D4E9-A235-4A57-A253-FF6C69B0CB79}" type="sibTrans" cxnId="{3254D4B4-40D2-40E5-82C9-2A62BECEA704}">
      <dgm:prSet/>
      <dgm:spPr/>
      <dgm:t>
        <a:bodyPr/>
        <a:lstStyle/>
        <a:p>
          <a:endParaRPr kumimoji="1" lang="ja-JP" altLang="en-US"/>
        </a:p>
      </dgm:t>
    </dgm:pt>
    <dgm:pt modelId="{791A6F58-5057-4D19-9FE2-78B558F94B00}">
      <dgm:prSet phldrT="[テキスト]" phldr="0"/>
      <dgm:spPr/>
      <dgm:t>
        <a:bodyPr/>
        <a:lstStyle/>
        <a:p>
          <a:r>
            <a:rPr kumimoji="1" lang="en-US" altLang="ja-JP" b="1" dirty="0">
              <a:solidFill>
                <a:schemeClr val="bg1">
                  <a:lumMod val="65000"/>
                </a:schemeClr>
              </a:solidFill>
            </a:rPr>
            <a:t>03</a:t>
          </a:r>
          <a:endParaRPr kumimoji="1" lang="ja-JP" altLang="en-US" b="1" dirty="0">
            <a:solidFill>
              <a:schemeClr val="bg1">
                <a:lumMod val="65000"/>
              </a:schemeClr>
            </a:solidFill>
          </a:endParaRPr>
        </a:p>
      </dgm:t>
    </dgm:pt>
    <dgm:pt modelId="{DF9612A6-983A-4F5D-A549-AA6AC83D68A3}" type="parTrans" cxnId="{6FDEA886-E5A3-4513-A156-C4D8797E90F5}">
      <dgm:prSet/>
      <dgm:spPr/>
      <dgm:t>
        <a:bodyPr/>
        <a:lstStyle/>
        <a:p>
          <a:endParaRPr kumimoji="1" lang="ja-JP" altLang="en-US"/>
        </a:p>
      </dgm:t>
    </dgm:pt>
    <dgm:pt modelId="{8B76A749-0B0D-4C80-8712-48E3B716B5C0}" type="sibTrans" cxnId="{6FDEA886-E5A3-4513-A156-C4D8797E90F5}">
      <dgm:prSet/>
      <dgm:spPr/>
      <dgm:t>
        <a:bodyPr/>
        <a:lstStyle/>
        <a:p>
          <a:endParaRPr kumimoji="1" lang="ja-JP" altLang="en-US"/>
        </a:p>
      </dgm:t>
    </dgm:pt>
    <dgm:pt modelId="{AB8B97E1-F3C9-4807-B83F-465946232FB3}">
      <dgm:prSet phldrT="[テキスト]" custT="1">
        <dgm:style>
          <a:lnRef idx="2">
            <a:schemeClr val="accent1"/>
          </a:lnRef>
          <a:fillRef idx="1">
            <a:schemeClr val="lt1"/>
          </a:fillRef>
          <a:effectRef idx="0">
            <a:schemeClr val="accent1"/>
          </a:effectRef>
          <a:fontRef idx="minor">
            <a:schemeClr val="dk1"/>
          </a:fontRef>
        </dgm:style>
      </dgm:prSet>
      <dgm:spPr>
        <a:ln w="57150"/>
      </dgm:spPr>
      <dgm:t>
        <a:bodyPr/>
        <a:lstStyle/>
        <a:p>
          <a:pPr>
            <a:buNone/>
          </a:pPr>
          <a:r>
            <a:rPr lang="ja-JP" altLang="en-US" sz="1600" b="1" i="0" dirty="0"/>
            <a:t>アップリフト分析による</a:t>
          </a:r>
          <a:br>
            <a:rPr lang="ja-JP" altLang="en-US" sz="1600" b="1" i="0" dirty="0"/>
          </a:br>
          <a:r>
            <a:rPr lang="ja-JP" altLang="en-US" sz="1600" b="1" i="0" dirty="0">
              <a:solidFill>
                <a:schemeClr val="accent1"/>
              </a:solidFill>
            </a:rPr>
            <a:t>施策の意思決定支援</a:t>
          </a:r>
          <a:endParaRPr kumimoji="1" lang="ja-JP" altLang="en-US" sz="1600" b="1" dirty="0">
            <a:solidFill>
              <a:schemeClr val="accent1"/>
            </a:solidFill>
          </a:endParaRPr>
        </a:p>
      </dgm:t>
    </dgm:pt>
    <dgm:pt modelId="{2E322783-2C3B-456A-8360-58B99D7DA3A7}" type="parTrans" cxnId="{2CC31884-B0ED-41F2-AEA8-CEC75152CF0B}">
      <dgm:prSet/>
      <dgm:spPr/>
      <dgm:t>
        <a:bodyPr/>
        <a:lstStyle/>
        <a:p>
          <a:endParaRPr kumimoji="1" lang="ja-JP" altLang="en-US"/>
        </a:p>
      </dgm:t>
    </dgm:pt>
    <dgm:pt modelId="{CDC5E366-0096-4EA6-90F0-36DA997194C0}" type="sibTrans" cxnId="{2CC31884-B0ED-41F2-AEA8-CEC75152CF0B}">
      <dgm:prSet/>
      <dgm:spPr/>
      <dgm:t>
        <a:bodyPr/>
        <a:lstStyle/>
        <a:p>
          <a:endParaRPr kumimoji="1" lang="ja-JP" altLang="en-US"/>
        </a:p>
      </dgm:t>
    </dgm:pt>
    <dgm:pt modelId="{65C97FEF-57DC-40B7-B368-733E69FC1E02}">
      <dgm:prSet phldrT="[テキスト]" custT="1">
        <dgm:style>
          <a:lnRef idx="2">
            <a:schemeClr val="accent1"/>
          </a:lnRef>
          <a:fillRef idx="1">
            <a:schemeClr val="lt1"/>
          </a:fillRef>
          <a:effectRef idx="0">
            <a:schemeClr val="accent1"/>
          </a:effectRef>
          <a:fontRef idx="minor">
            <a:schemeClr val="dk1"/>
          </a:fontRef>
        </dgm:style>
      </dgm:prSet>
      <dgm:spPr>
        <a:ln w="57150"/>
      </dgm:spPr>
      <dgm:t>
        <a:bodyPr/>
        <a:lstStyle/>
        <a:p>
          <a:pPr>
            <a:buNone/>
          </a:pPr>
          <a:r>
            <a:rPr lang="ja-JP" altLang="en-US" sz="1400" b="0" i="0" dirty="0"/>
            <a:t>構築したモデルを用い、広告を「実施した場合」と「しなかった場合」の反実仮想的な予測値を比較。どの商品群が高い反応（</a:t>
          </a:r>
          <a:r>
            <a:rPr lang="en-US" altLang="ja-JP" sz="1400" b="0" i="0" dirty="0"/>
            <a:t>Uplift</a:t>
          </a:r>
          <a:r>
            <a:rPr lang="ja-JP" altLang="en-US" sz="1400" b="0" i="0" dirty="0"/>
            <a:t>）を示すかを特定し、施策最適化に貢献する。</a:t>
          </a:r>
          <a:endParaRPr kumimoji="1" lang="ja-JP" altLang="en-US" sz="1400" dirty="0"/>
        </a:p>
      </dgm:t>
    </dgm:pt>
    <dgm:pt modelId="{98121707-40A0-421B-A050-1367F479EB04}" type="parTrans" cxnId="{922E38AA-EF5F-4FE5-81C9-88D86A77B6A3}">
      <dgm:prSet/>
      <dgm:spPr/>
      <dgm:t>
        <a:bodyPr/>
        <a:lstStyle/>
        <a:p>
          <a:endParaRPr kumimoji="1" lang="ja-JP" altLang="en-US"/>
        </a:p>
      </dgm:t>
    </dgm:pt>
    <dgm:pt modelId="{D09F8245-3F24-464C-BD37-46AEEFB13E06}" type="sibTrans" cxnId="{922E38AA-EF5F-4FE5-81C9-88D86A77B6A3}">
      <dgm:prSet/>
      <dgm:spPr/>
      <dgm:t>
        <a:bodyPr/>
        <a:lstStyle/>
        <a:p>
          <a:endParaRPr kumimoji="1" lang="ja-JP" altLang="en-US"/>
        </a:p>
      </dgm:t>
    </dgm:pt>
    <dgm:pt modelId="{33625113-0333-4A0D-AC63-692B7F243286}">
      <dgm:prSet phldrT="[テキスト]" custT="1">
        <dgm:style>
          <a:lnRef idx="2">
            <a:schemeClr val="accent1"/>
          </a:lnRef>
          <a:fillRef idx="1">
            <a:schemeClr val="lt1"/>
          </a:fillRef>
          <a:effectRef idx="0">
            <a:schemeClr val="accent1"/>
          </a:effectRef>
          <a:fontRef idx="minor">
            <a:schemeClr val="dk1"/>
          </a:fontRef>
        </dgm:style>
      </dgm:prSet>
      <dgm:spPr>
        <a:ln w="57150"/>
      </dgm:spPr>
      <dgm:t>
        <a:bodyPr/>
        <a:lstStyle/>
        <a:p>
          <a:pPr>
            <a:buNone/>
          </a:pPr>
          <a:r>
            <a:rPr lang="ja-JP" altLang="en-US" sz="1600" b="1" i="0" dirty="0">
              <a:solidFill>
                <a:schemeClr val="accent1"/>
              </a:solidFill>
            </a:rPr>
            <a:t>（</a:t>
          </a:r>
          <a:r>
            <a:rPr lang="en-US" altLang="ja-JP" sz="1600" b="1" i="0" dirty="0">
              <a:solidFill>
                <a:schemeClr val="accent1"/>
              </a:solidFill>
            </a:rPr>
            <a:t>BERT</a:t>
          </a:r>
          <a:r>
            <a:rPr lang="ja-JP" altLang="en-US" sz="1600" b="1" i="0" dirty="0">
              <a:solidFill>
                <a:schemeClr val="accent1"/>
              </a:solidFill>
            </a:rPr>
            <a:t>特徴量）</a:t>
          </a:r>
          <a:endParaRPr kumimoji="1" lang="ja-JP" altLang="en-US" sz="1600" b="1" dirty="0">
            <a:solidFill>
              <a:schemeClr val="accent1"/>
            </a:solidFill>
          </a:endParaRPr>
        </a:p>
      </dgm:t>
    </dgm:pt>
    <dgm:pt modelId="{C51C539F-F5FA-4913-85FB-3AE37E3F0E39}" type="parTrans" cxnId="{E9677162-79A9-4A7B-A9DE-F4CDB71D0AE1}">
      <dgm:prSet/>
      <dgm:spPr/>
      <dgm:t>
        <a:bodyPr/>
        <a:lstStyle/>
        <a:p>
          <a:endParaRPr kumimoji="1" lang="ja-JP" altLang="en-US"/>
        </a:p>
      </dgm:t>
    </dgm:pt>
    <dgm:pt modelId="{3BADBF76-91B9-4764-8547-40A428857DA2}" type="sibTrans" cxnId="{E9677162-79A9-4A7B-A9DE-F4CDB71D0AE1}">
      <dgm:prSet/>
      <dgm:spPr/>
      <dgm:t>
        <a:bodyPr/>
        <a:lstStyle/>
        <a:p>
          <a:endParaRPr kumimoji="1" lang="ja-JP" altLang="en-US"/>
        </a:p>
      </dgm:t>
    </dgm:pt>
    <dgm:pt modelId="{9CAE9AFD-402A-4E52-BF37-331869E1B875}" type="pres">
      <dgm:prSet presAssocID="{5D2E409F-AEF0-4B2B-AA16-ABB43FFDCDAA}" presName="linearFlow" presStyleCnt="0">
        <dgm:presLayoutVars>
          <dgm:dir/>
          <dgm:animLvl val="lvl"/>
          <dgm:resizeHandles/>
        </dgm:presLayoutVars>
      </dgm:prSet>
      <dgm:spPr/>
    </dgm:pt>
    <dgm:pt modelId="{97CEA977-DDCE-4453-9DCD-E03FF42BDB32}" type="pres">
      <dgm:prSet presAssocID="{DCB8639D-3CC7-469D-AE5C-7110B048641C}" presName="compositeNode" presStyleCnt="0">
        <dgm:presLayoutVars>
          <dgm:bulletEnabled val="1"/>
        </dgm:presLayoutVars>
      </dgm:prSet>
      <dgm:spPr/>
    </dgm:pt>
    <dgm:pt modelId="{A1B1C793-277F-40D0-9456-3B57C21D9564}" type="pres">
      <dgm:prSet presAssocID="{DCB8639D-3CC7-469D-AE5C-7110B048641C}" presName="image" presStyleLbl="fgImgPlace1" presStyleIdx="0" presStyleCnt="3" custScaleX="68228" custScaleY="71454"/>
      <dgm:spPr>
        <a:blipFill>
          <a:blip xmlns:r="http://schemas.openxmlformats.org/officeDocument/2006/relationships" r:embed="rId1"/>
          <a:srcRect/>
          <a:stretch>
            <a:fillRect/>
          </a:stretch>
        </a:blipFill>
      </dgm:spPr>
    </dgm:pt>
    <dgm:pt modelId="{5AE83417-5BE7-4B0B-A362-61A61A2AEBAC}" type="pres">
      <dgm:prSet presAssocID="{DCB8639D-3CC7-469D-AE5C-7110B048641C}" presName="childNode" presStyleLbl="node1" presStyleIdx="0" presStyleCnt="3">
        <dgm:presLayoutVars>
          <dgm:bulletEnabled val="1"/>
        </dgm:presLayoutVars>
      </dgm:prSet>
      <dgm:spPr/>
    </dgm:pt>
    <dgm:pt modelId="{08626279-4ABF-412C-8A3F-030492724B0A}" type="pres">
      <dgm:prSet presAssocID="{DCB8639D-3CC7-469D-AE5C-7110B048641C}" presName="parentNode" presStyleLbl="revTx" presStyleIdx="0" presStyleCnt="3">
        <dgm:presLayoutVars>
          <dgm:chMax val="0"/>
          <dgm:bulletEnabled val="1"/>
        </dgm:presLayoutVars>
      </dgm:prSet>
      <dgm:spPr/>
    </dgm:pt>
    <dgm:pt modelId="{E0BF5B35-FFE7-4B82-B130-30265D2AA7DF}" type="pres">
      <dgm:prSet presAssocID="{F2C05090-D3D6-4B10-BEC7-80EBD7A36A0D}" presName="sibTrans" presStyleCnt="0"/>
      <dgm:spPr/>
    </dgm:pt>
    <dgm:pt modelId="{05CE0553-D96E-47AE-B8D1-7DB6FCF4FC26}" type="pres">
      <dgm:prSet presAssocID="{33C004C8-0929-45B2-B7AE-DC34A12A66F6}" presName="compositeNode" presStyleCnt="0">
        <dgm:presLayoutVars>
          <dgm:bulletEnabled val="1"/>
        </dgm:presLayoutVars>
      </dgm:prSet>
      <dgm:spPr/>
    </dgm:pt>
    <dgm:pt modelId="{CF83586F-47A5-43AD-B725-61078AA27B7A}" type="pres">
      <dgm:prSet presAssocID="{33C004C8-0929-45B2-B7AE-DC34A12A66F6}" presName="image" presStyleLbl="fgImgPlace1" presStyleIdx="1" presStyleCnt="3" custScaleX="70816" custScaleY="70158"/>
      <dgm:spPr>
        <a:blipFill>
          <a:blip xmlns:r="http://schemas.openxmlformats.org/officeDocument/2006/relationships" r:embed="rId2"/>
          <a:srcRect/>
          <a:stretch>
            <a:fillRect/>
          </a:stretch>
        </a:blipFill>
      </dgm:spPr>
    </dgm:pt>
    <dgm:pt modelId="{E2596E71-86BB-48AA-8F50-D73329949267}" type="pres">
      <dgm:prSet presAssocID="{33C004C8-0929-45B2-B7AE-DC34A12A66F6}" presName="childNode" presStyleLbl="node1" presStyleIdx="1" presStyleCnt="3">
        <dgm:presLayoutVars>
          <dgm:bulletEnabled val="1"/>
        </dgm:presLayoutVars>
      </dgm:prSet>
      <dgm:spPr/>
    </dgm:pt>
    <dgm:pt modelId="{72DBC38C-DC72-4D4C-A3C6-D7E4248942D5}" type="pres">
      <dgm:prSet presAssocID="{33C004C8-0929-45B2-B7AE-DC34A12A66F6}" presName="parentNode" presStyleLbl="revTx" presStyleIdx="1" presStyleCnt="3">
        <dgm:presLayoutVars>
          <dgm:chMax val="0"/>
          <dgm:bulletEnabled val="1"/>
        </dgm:presLayoutVars>
      </dgm:prSet>
      <dgm:spPr/>
    </dgm:pt>
    <dgm:pt modelId="{A87A898E-BBB7-41EF-A838-594E15D41FFD}" type="pres">
      <dgm:prSet presAssocID="{D3909235-F7A3-47A0-8241-8720C3146BD4}" presName="sibTrans" presStyleCnt="0"/>
      <dgm:spPr/>
    </dgm:pt>
    <dgm:pt modelId="{D1A0DC15-230B-4B64-AE6E-F1309A6EA035}" type="pres">
      <dgm:prSet presAssocID="{791A6F58-5057-4D19-9FE2-78B558F94B00}" presName="compositeNode" presStyleCnt="0">
        <dgm:presLayoutVars>
          <dgm:bulletEnabled val="1"/>
        </dgm:presLayoutVars>
      </dgm:prSet>
      <dgm:spPr/>
    </dgm:pt>
    <dgm:pt modelId="{D8B7540E-80FB-4BAC-B76F-B70A4080AACD}" type="pres">
      <dgm:prSet presAssocID="{791A6F58-5057-4D19-9FE2-78B558F94B00}" presName="image" presStyleLbl="fgImgPlace1" presStyleIdx="2" presStyleCnt="3" custScaleX="69600" custScaleY="70336"/>
      <dgm:spPr>
        <a:blipFill>
          <a:blip xmlns:r="http://schemas.openxmlformats.org/officeDocument/2006/relationships" r:embed="rId3"/>
          <a:srcRect/>
          <a:stretch>
            <a:fillRect/>
          </a:stretch>
        </a:blipFill>
      </dgm:spPr>
    </dgm:pt>
    <dgm:pt modelId="{A99AF3EF-AE9E-4DFD-A80F-3C76FF9B949B}" type="pres">
      <dgm:prSet presAssocID="{791A6F58-5057-4D19-9FE2-78B558F94B00}" presName="childNode" presStyleLbl="node1" presStyleIdx="2" presStyleCnt="3">
        <dgm:presLayoutVars>
          <dgm:bulletEnabled val="1"/>
        </dgm:presLayoutVars>
      </dgm:prSet>
      <dgm:spPr/>
    </dgm:pt>
    <dgm:pt modelId="{B8B898AF-0F57-4C25-B30E-F3DA32CA7B16}" type="pres">
      <dgm:prSet presAssocID="{791A6F58-5057-4D19-9FE2-78B558F94B00}" presName="parentNode" presStyleLbl="revTx" presStyleIdx="2" presStyleCnt="3">
        <dgm:presLayoutVars>
          <dgm:chMax val="0"/>
          <dgm:bulletEnabled val="1"/>
        </dgm:presLayoutVars>
      </dgm:prSet>
      <dgm:spPr/>
    </dgm:pt>
  </dgm:ptLst>
  <dgm:cxnLst>
    <dgm:cxn modelId="{3C2A7007-F444-4D1F-8648-60B40073734A}" type="presOf" srcId="{4B3D0D59-DF69-46C9-AD71-892A25F96DB1}" destId="{5AE83417-5BE7-4B0B-A362-61A61A2AEBAC}" srcOrd="0" destOrd="2" presId="urn:microsoft.com/office/officeart/2005/8/layout/hList2"/>
    <dgm:cxn modelId="{AD7E990B-9293-4D2A-B935-DEF757B26932}" type="presOf" srcId="{E4C0B259-39D8-4279-AB74-561FF0E7E45B}" destId="{5AE83417-5BE7-4B0B-A362-61A61A2AEBAC}" srcOrd="0" destOrd="0" presId="urn:microsoft.com/office/officeart/2005/8/layout/hList2"/>
    <dgm:cxn modelId="{3B540F0C-E232-47E4-AF44-C43535A03F46}" type="presOf" srcId="{D303A08D-1D44-4978-AE02-0F3B9AA6249D}" destId="{E2596E71-86BB-48AA-8F50-D73329949267}" srcOrd="0" destOrd="1" presId="urn:microsoft.com/office/officeart/2005/8/layout/hList2"/>
    <dgm:cxn modelId="{2F54AF21-E55D-4C97-BCE8-F312BA7C7B35}" type="presOf" srcId="{DCB8639D-3CC7-469D-AE5C-7110B048641C}" destId="{08626279-4ABF-412C-8A3F-030492724B0A}" srcOrd="0" destOrd="0" presId="urn:microsoft.com/office/officeart/2005/8/layout/hList2"/>
    <dgm:cxn modelId="{BAA8C031-C107-424F-B6D7-3F8144F24CCD}" type="presOf" srcId="{791A6F58-5057-4D19-9FE2-78B558F94B00}" destId="{B8B898AF-0F57-4C25-B30E-F3DA32CA7B16}" srcOrd="0" destOrd="0" presId="urn:microsoft.com/office/officeart/2005/8/layout/hList2"/>
    <dgm:cxn modelId="{30279739-76AC-4BFC-BB72-223ABDFA09E6}" srcId="{DCB8639D-3CC7-469D-AE5C-7110B048641C}" destId="{4B3D0D59-DF69-46C9-AD71-892A25F96DB1}" srcOrd="2" destOrd="0" parTransId="{99254EF8-DB08-4498-B9BA-DB8204C012BA}" sibTransId="{B4E970AE-565B-4569-9419-24968460C1B5}"/>
    <dgm:cxn modelId="{E9677162-79A9-4A7B-A9DE-F4CDB71D0AE1}" srcId="{DCB8639D-3CC7-469D-AE5C-7110B048641C}" destId="{33625113-0333-4A0D-AC63-692B7F243286}" srcOrd="1" destOrd="0" parTransId="{C51C539F-F5FA-4913-85FB-3AE37E3F0E39}" sibTransId="{3BADBF76-91B9-4764-8547-40A428857DA2}"/>
    <dgm:cxn modelId="{AD80D26A-5B14-464D-BA91-232190D46066}" type="presOf" srcId="{5D2E409F-AEF0-4B2B-AA16-ABB43FFDCDAA}" destId="{9CAE9AFD-402A-4E52-BF37-331869E1B875}" srcOrd="0" destOrd="0" presId="urn:microsoft.com/office/officeart/2005/8/layout/hList2"/>
    <dgm:cxn modelId="{165FDB4E-0074-45C1-9FAE-7CA39A2F0DF6}" type="presOf" srcId="{33C004C8-0929-45B2-B7AE-DC34A12A66F6}" destId="{72DBC38C-DC72-4D4C-A3C6-D7E4248942D5}" srcOrd="0" destOrd="0" presId="urn:microsoft.com/office/officeart/2005/8/layout/hList2"/>
    <dgm:cxn modelId="{D7845C7C-F6D0-4C95-8EDC-81905E565192}" type="presOf" srcId="{65C97FEF-57DC-40B7-B368-733E69FC1E02}" destId="{A99AF3EF-AE9E-4DFD-A80F-3C76FF9B949B}" srcOrd="0" destOrd="1" presId="urn:microsoft.com/office/officeart/2005/8/layout/hList2"/>
    <dgm:cxn modelId="{1FE89D7C-F883-40DC-9BB9-E60477ACE0DB}" srcId="{5D2E409F-AEF0-4B2B-AA16-ABB43FFDCDAA}" destId="{33C004C8-0929-45B2-B7AE-DC34A12A66F6}" srcOrd="1" destOrd="0" parTransId="{E313C317-2CB5-4EE1-A59B-E52EC7B7E88C}" sibTransId="{D3909235-F7A3-47A0-8241-8720C3146BD4}"/>
    <dgm:cxn modelId="{2CC31884-B0ED-41F2-AEA8-CEC75152CF0B}" srcId="{791A6F58-5057-4D19-9FE2-78B558F94B00}" destId="{AB8B97E1-F3C9-4807-B83F-465946232FB3}" srcOrd="0" destOrd="0" parTransId="{2E322783-2C3B-456A-8360-58B99D7DA3A7}" sibTransId="{CDC5E366-0096-4EA6-90F0-36DA997194C0}"/>
    <dgm:cxn modelId="{6FDEA886-E5A3-4513-A156-C4D8797E90F5}" srcId="{5D2E409F-AEF0-4B2B-AA16-ABB43FFDCDAA}" destId="{791A6F58-5057-4D19-9FE2-78B558F94B00}" srcOrd="2" destOrd="0" parTransId="{DF9612A6-983A-4F5D-A549-AA6AC83D68A3}" sibTransId="{8B76A749-0B0D-4C80-8712-48E3B716B5C0}"/>
    <dgm:cxn modelId="{59019FA3-B3E4-49C0-BB0B-66ED4A482C3C}" srcId="{5D2E409F-AEF0-4B2B-AA16-ABB43FFDCDAA}" destId="{DCB8639D-3CC7-469D-AE5C-7110B048641C}" srcOrd="0" destOrd="0" parTransId="{09F42F2A-745C-4E00-A043-E6EFEDD8F2D0}" sibTransId="{F2C05090-D3D6-4B10-BEC7-80EBD7A36A0D}"/>
    <dgm:cxn modelId="{922E38AA-EF5F-4FE5-81C9-88D86A77B6A3}" srcId="{791A6F58-5057-4D19-9FE2-78B558F94B00}" destId="{65C97FEF-57DC-40B7-B368-733E69FC1E02}" srcOrd="1" destOrd="0" parTransId="{98121707-40A0-421B-A050-1367F479EB04}" sibTransId="{D09F8245-3F24-464C-BD37-46AEEFB13E06}"/>
    <dgm:cxn modelId="{27863DB4-7C8E-4695-869D-39DCB3CC14D7}" type="presOf" srcId="{AB8B97E1-F3C9-4807-B83F-465946232FB3}" destId="{A99AF3EF-AE9E-4DFD-A80F-3C76FF9B949B}" srcOrd="0" destOrd="0" presId="urn:microsoft.com/office/officeart/2005/8/layout/hList2"/>
    <dgm:cxn modelId="{3254D4B4-40D2-40E5-82C9-2A62BECEA704}" srcId="{33C004C8-0929-45B2-B7AE-DC34A12A66F6}" destId="{D303A08D-1D44-4978-AE02-0F3B9AA6249D}" srcOrd="1" destOrd="0" parTransId="{42F5AD0A-1CD8-4DD4-9FE0-907CD6A68E71}" sibTransId="{C5A4D4E9-A235-4A57-A253-FF6C69B0CB79}"/>
    <dgm:cxn modelId="{4B7667C9-91EF-43BC-9B5D-B1C5CC80A34D}" type="presOf" srcId="{33625113-0333-4A0D-AC63-692B7F243286}" destId="{5AE83417-5BE7-4B0B-A362-61A61A2AEBAC}" srcOrd="0" destOrd="1" presId="urn:microsoft.com/office/officeart/2005/8/layout/hList2"/>
    <dgm:cxn modelId="{60773BCA-7BC1-47AB-8731-868DF056AE40}" srcId="{33C004C8-0929-45B2-B7AE-DC34A12A66F6}" destId="{AF7C9BFE-F655-4273-844D-B34AAED58892}" srcOrd="0" destOrd="0" parTransId="{54CC57B8-7792-4515-B767-E93B5CA19FB2}" sibTransId="{B6A53EEF-DEA4-4C6D-95DC-31FA97CD6798}"/>
    <dgm:cxn modelId="{D870E4F2-1674-4716-AC77-C9CD54687FB7}" type="presOf" srcId="{AF7C9BFE-F655-4273-844D-B34AAED58892}" destId="{E2596E71-86BB-48AA-8F50-D73329949267}" srcOrd="0" destOrd="0" presId="urn:microsoft.com/office/officeart/2005/8/layout/hList2"/>
    <dgm:cxn modelId="{48E4A7FF-5A07-43D7-A3A0-CF6409A742F8}" srcId="{DCB8639D-3CC7-469D-AE5C-7110B048641C}" destId="{E4C0B259-39D8-4279-AB74-561FF0E7E45B}" srcOrd="0" destOrd="0" parTransId="{103BB8F9-FA92-4941-A855-F15237142FA6}" sibTransId="{A079D3C9-4198-4E91-AEAC-135139415ED9}"/>
    <dgm:cxn modelId="{F3E192F8-BF92-46B8-AD99-73CC64CFE84A}" type="presParOf" srcId="{9CAE9AFD-402A-4E52-BF37-331869E1B875}" destId="{97CEA977-DDCE-4453-9DCD-E03FF42BDB32}" srcOrd="0" destOrd="0" presId="urn:microsoft.com/office/officeart/2005/8/layout/hList2"/>
    <dgm:cxn modelId="{717F0CE3-BC88-48E6-893A-9F2A21F4B3A5}" type="presParOf" srcId="{97CEA977-DDCE-4453-9DCD-E03FF42BDB32}" destId="{A1B1C793-277F-40D0-9456-3B57C21D9564}" srcOrd="0" destOrd="0" presId="urn:microsoft.com/office/officeart/2005/8/layout/hList2"/>
    <dgm:cxn modelId="{5D422039-57A1-4952-AB13-85FF73DB6926}" type="presParOf" srcId="{97CEA977-DDCE-4453-9DCD-E03FF42BDB32}" destId="{5AE83417-5BE7-4B0B-A362-61A61A2AEBAC}" srcOrd="1" destOrd="0" presId="urn:microsoft.com/office/officeart/2005/8/layout/hList2"/>
    <dgm:cxn modelId="{CA9CA6B5-DA0B-40FF-A2C0-03AC1C428696}" type="presParOf" srcId="{97CEA977-DDCE-4453-9DCD-E03FF42BDB32}" destId="{08626279-4ABF-412C-8A3F-030492724B0A}" srcOrd="2" destOrd="0" presId="urn:microsoft.com/office/officeart/2005/8/layout/hList2"/>
    <dgm:cxn modelId="{878AB742-86B8-41B3-8668-CEA4C5DB119A}" type="presParOf" srcId="{9CAE9AFD-402A-4E52-BF37-331869E1B875}" destId="{E0BF5B35-FFE7-4B82-B130-30265D2AA7DF}" srcOrd="1" destOrd="0" presId="urn:microsoft.com/office/officeart/2005/8/layout/hList2"/>
    <dgm:cxn modelId="{DBD5F364-0B0C-48E2-B307-BEB734E18A2E}" type="presParOf" srcId="{9CAE9AFD-402A-4E52-BF37-331869E1B875}" destId="{05CE0553-D96E-47AE-B8D1-7DB6FCF4FC26}" srcOrd="2" destOrd="0" presId="urn:microsoft.com/office/officeart/2005/8/layout/hList2"/>
    <dgm:cxn modelId="{D0FF628C-CD01-496A-A2C5-7E24661F4E4D}" type="presParOf" srcId="{05CE0553-D96E-47AE-B8D1-7DB6FCF4FC26}" destId="{CF83586F-47A5-43AD-B725-61078AA27B7A}" srcOrd="0" destOrd="0" presId="urn:microsoft.com/office/officeart/2005/8/layout/hList2"/>
    <dgm:cxn modelId="{3DD6FEFB-1607-4D8E-9142-46A2C65E5993}" type="presParOf" srcId="{05CE0553-D96E-47AE-B8D1-7DB6FCF4FC26}" destId="{E2596E71-86BB-48AA-8F50-D73329949267}" srcOrd="1" destOrd="0" presId="urn:microsoft.com/office/officeart/2005/8/layout/hList2"/>
    <dgm:cxn modelId="{A244A5C3-84A3-41C0-9DC2-31A7BDD2DB42}" type="presParOf" srcId="{05CE0553-D96E-47AE-B8D1-7DB6FCF4FC26}" destId="{72DBC38C-DC72-4D4C-A3C6-D7E4248942D5}" srcOrd="2" destOrd="0" presId="urn:microsoft.com/office/officeart/2005/8/layout/hList2"/>
    <dgm:cxn modelId="{CB92599E-3FC8-4AAC-8668-0E2AE09FDA51}" type="presParOf" srcId="{9CAE9AFD-402A-4E52-BF37-331869E1B875}" destId="{A87A898E-BBB7-41EF-A838-594E15D41FFD}" srcOrd="3" destOrd="0" presId="urn:microsoft.com/office/officeart/2005/8/layout/hList2"/>
    <dgm:cxn modelId="{E1F59CF2-DC1D-412E-AA2B-BCE27CA31908}" type="presParOf" srcId="{9CAE9AFD-402A-4E52-BF37-331869E1B875}" destId="{D1A0DC15-230B-4B64-AE6E-F1309A6EA035}" srcOrd="4" destOrd="0" presId="urn:microsoft.com/office/officeart/2005/8/layout/hList2"/>
    <dgm:cxn modelId="{C7190254-F459-4B55-A213-A95B3BB3EA10}" type="presParOf" srcId="{D1A0DC15-230B-4B64-AE6E-F1309A6EA035}" destId="{D8B7540E-80FB-4BAC-B76F-B70A4080AACD}" srcOrd="0" destOrd="0" presId="urn:microsoft.com/office/officeart/2005/8/layout/hList2"/>
    <dgm:cxn modelId="{C443F7BD-BA20-450D-B05F-7B7BFC9F323F}" type="presParOf" srcId="{D1A0DC15-230B-4B64-AE6E-F1309A6EA035}" destId="{A99AF3EF-AE9E-4DFD-A80F-3C76FF9B949B}" srcOrd="1" destOrd="0" presId="urn:microsoft.com/office/officeart/2005/8/layout/hList2"/>
    <dgm:cxn modelId="{625C57A5-2B77-466E-A332-0DF096EE8B01}" type="presParOf" srcId="{D1A0DC15-230B-4B64-AE6E-F1309A6EA035}" destId="{B8B898AF-0F57-4C25-B30E-F3DA32CA7B16}" srcOrd="2" destOrd="0" presId="urn:microsoft.com/office/officeart/2005/8/layout/h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C19FF79-AD6E-4330-A59E-D60847F289CD}" type="doc">
      <dgm:prSet loTypeId="urn:microsoft.com/office/officeart/2005/8/layout/hProcess7" loCatId="process" qsTypeId="urn:microsoft.com/office/officeart/2005/8/quickstyle/simple3" qsCatId="simple" csTypeId="urn:microsoft.com/office/officeart/2005/8/colors/accent1_2" csCatId="accent1" phldr="1"/>
      <dgm:spPr/>
      <dgm:t>
        <a:bodyPr/>
        <a:lstStyle/>
        <a:p>
          <a:endParaRPr kumimoji="1" lang="ja-JP" altLang="en-US"/>
        </a:p>
      </dgm:t>
    </dgm:pt>
    <dgm:pt modelId="{126DD051-56D0-40E0-8067-C7F1344899CE}">
      <dgm:prSet phldrT="[テキスト]">
        <dgm:style>
          <a:lnRef idx="2">
            <a:schemeClr val="accent1"/>
          </a:lnRef>
          <a:fillRef idx="1">
            <a:schemeClr val="lt1"/>
          </a:fillRef>
          <a:effectRef idx="0">
            <a:schemeClr val="accent1"/>
          </a:effectRef>
          <a:fontRef idx="minor">
            <a:schemeClr val="dk1"/>
          </a:fontRef>
        </dgm:style>
      </dgm:prSet>
      <dgm:spPr/>
      <dgm:t>
        <a:bodyPr/>
        <a:lstStyle/>
        <a:p>
          <a:r>
            <a:rPr kumimoji="1" lang="ja-JP" altLang="en-US" dirty="0"/>
            <a:t>　　　</a:t>
          </a:r>
          <a:endParaRPr kumimoji="1" lang="en-US" altLang="ja-JP" dirty="0"/>
        </a:p>
        <a:p>
          <a:endParaRPr kumimoji="1" lang="ja-JP" altLang="en-US" dirty="0"/>
        </a:p>
      </dgm:t>
    </dgm:pt>
    <dgm:pt modelId="{E7C3B27D-BEF9-48CF-BF9C-DFB8A6D5DFDD}" type="parTrans" cxnId="{4F87A3E8-A03E-488A-9A50-708FE1C9134D}">
      <dgm:prSet/>
      <dgm:spPr/>
      <dgm:t>
        <a:bodyPr/>
        <a:lstStyle/>
        <a:p>
          <a:endParaRPr kumimoji="1" lang="ja-JP" altLang="en-US"/>
        </a:p>
      </dgm:t>
    </dgm:pt>
    <dgm:pt modelId="{69913E08-01CD-48E1-82CF-61FBD8F896F8}" type="sibTrans" cxnId="{4F87A3E8-A03E-488A-9A50-708FE1C9134D}">
      <dgm:prSet/>
      <dgm:spPr/>
      <dgm:t>
        <a:bodyPr/>
        <a:lstStyle/>
        <a:p>
          <a:endParaRPr kumimoji="1" lang="ja-JP" altLang="en-US"/>
        </a:p>
      </dgm:t>
    </dgm:pt>
    <dgm:pt modelId="{5AD9A79E-EC8B-4B40-9FB6-5364346B1ECA}">
      <dgm:prSet phldrT="[テキスト]" custT="1"/>
      <dgm:spPr/>
      <dgm:t>
        <a:bodyPr/>
        <a:lstStyle/>
        <a:p>
          <a:pPr>
            <a:buNone/>
          </a:pPr>
          <a:endParaRPr kumimoji="1" lang="ja-JP" altLang="en-US" sz="1700" dirty="0"/>
        </a:p>
      </dgm:t>
    </dgm:pt>
    <dgm:pt modelId="{A4A33EA3-6DBD-48B4-BB94-04CFEFB7F90D}" type="parTrans" cxnId="{4756BA2B-C68D-42C8-B967-380568CEC0AF}">
      <dgm:prSet/>
      <dgm:spPr/>
      <dgm:t>
        <a:bodyPr/>
        <a:lstStyle/>
        <a:p>
          <a:endParaRPr kumimoji="1" lang="ja-JP" altLang="en-US"/>
        </a:p>
      </dgm:t>
    </dgm:pt>
    <dgm:pt modelId="{6371BEA0-D012-43B0-8F0C-76E01F2A6369}" type="sibTrans" cxnId="{4756BA2B-C68D-42C8-B967-380568CEC0AF}">
      <dgm:prSet/>
      <dgm:spPr/>
      <dgm:t>
        <a:bodyPr/>
        <a:lstStyle/>
        <a:p>
          <a:endParaRPr kumimoji="1" lang="ja-JP" altLang="en-US"/>
        </a:p>
      </dgm:t>
    </dgm:pt>
    <dgm:pt modelId="{A96857A7-2668-4EBC-B3C3-04F39CE15911}">
      <dgm:prSet phldrT="[テキスト]" phldr="0">
        <dgm:style>
          <a:lnRef idx="1">
            <a:schemeClr val="accent2"/>
          </a:lnRef>
          <a:fillRef idx="2">
            <a:schemeClr val="accent2"/>
          </a:fillRef>
          <a:effectRef idx="1">
            <a:schemeClr val="accent2"/>
          </a:effectRef>
          <a:fontRef idx="minor">
            <a:schemeClr val="dk1"/>
          </a:fontRef>
        </dgm:style>
      </dgm:prSet>
      <dgm:spPr>
        <a:solidFill>
          <a:srgbClr val="FFF3EB"/>
        </a:solidFill>
        <a:ln w="38100">
          <a:solidFill>
            <a:schemeClr val="accent2"/>
          </a:solidFill>
        </a:ln>
      </dgm:spPr>
      <dgm:t>
        <a:bodyPr/>
        <a:lstStyle/>
        <a:p>
          <a:r>
            <a:rPr kumimoji="1" lang="en-US" altLang="ja-JP" dirty="0"/>
            <a:t>  </a:t>
          </a:r>
          <a:endParaRPr kumimoji="1" lang="ja-JP" altLang="en-US" dirty="0"/>
        </a:p>
      </dgm:t>
    </dgm:pt>
    <dgm:pt modelId="{40781C10-05E1-41EA-A5E3-5EEA7A01D401}" type="parTrans" cxnId="{054C6EA3-BA8D-4521-88E7-463F31B34A1C}">
      <dgm:prSet/>
      <dgm:spPr/>
      <dgm:t>
        <a:bodyPr/>
        <a:lstStyle/>
        <a:p>
          <a:endParaRPr kumimoji="1" lang="ja-JP" altLang="en-US"/>
        </a:p>
      </dgm:t>
    </dgm:pt>
    <dgm:pt modelId="{474060AA-A88D-45B6-95C4-AA90774BB7D9}" type="sibTrans" cxnId="{054C6EA3-BA8D-4521-88E7-463F31B34A1C}">
      <dgm:prSet/>
      <dgm:spPr/>
      <dgm:t>
        <a:bodyPr/>
        <a:lstStyle/>
        <a:p>
          <a:endParaRPr kumimoji="1" lang="ja-JP" altLang="en-US"/>
        </a:p>
      </dgm:t>
    </dgm:pt>
    <dgm:pt modelId="{4231E12E-0276-419E-A9C8-E9A40670A822}">
      <dgm:prSet phldrT="[テキスト]" custT="1"/>
      <dgm:spPr/>
      <dgm:t>
        <a:bodyPr/>
        <a:lstStyle/>
        <a:p>
          <a:pPr>
            <a:buNone/>
          </a:pPr>
          <a:r>
            <a:rPr lang="en-US" sz="2700" b="1" i="0" dirty="0">
              <a:solidFill>
                <a:schemeClr val="accent1"/>
              </a:solidFill>
            </a:rPr>
            <a:t>Autoencoder</a:t>
          </a:r>
        </a:p>
        <a:p>
          <a:pPr>
            <a:buNone/>
          </a:pPr>
          <a:r>
            <a:rPr lang="en-US" altLang="ja-JP" sz="1600" b="0" i="0" dirty="0"/>
            <a:t>BERT</a:t>
          </a:r>
          <a:r>
            <a:rPr lang="ja-JP" altLang="en-US" sz="1600" b="0" i="0" dirty="0"/>
            <a:t>ベクトル圧縮</a:t>
          </a:r>
          <a:endParaRPr kumimoji="1" lang="ja-JP" altLang="en-US" sz="1000" dirty="0">
            <a:solidFill>
              <a:schemeClr val="accent1"/>
            </a:solidFill>
          </a:endParaRPr>
        </a:p>
      </dgm:t>
    </dgm:pt>
    <dgm:pt modelId="{2326D8E3-1A25-46B7-B199-742480A00E33}" type="parTrans" cxnId="{A691DB77-7E83-4530-BB09-B02C24EB1BAE}">
      <dgm:prSet/>
      <dgm:spPr/>
      <dgm:t>
        <a:bodyPr/>
        <a:lstStyle/>
        <a:p>
          <a:endParaRPr kumimoji="1" lang="ja-JP" altLang="en-US"/>
        </a:p>
      </dgm:t>
    </dgm:pt>
    <dgm:pt modelId="{7D61A5EC-1779-4795-BDAE-9DABC6C8E78B}" type="sibTrans" cxnId="{A691DB77-7E83-4530-BB09-B02C24EB1BAE}">
      <dgm:prSet/>
      <dgm:spPr/>
      <dgm:t>
        <a:bodyPr/>
        <a:lstStyle/>
        <a:p>
          <a:endParaRPr kumimoji="1" lang="ja-JP" altLang="en-US"/>
        </a:p>
      </dgm:t>
    </dgm:pt>
    <dgm:pt modelId="{DDE0C1DF-06AF-49E9-B95E-FE91228F9CAD}">
      <dgm:prSet phldrT="[テキスト]" phldr="0">
        <dgm:style>
          <a:lnRef idx="2">
            <a:schemeClr val="accent1"/>
          </a:lnRef>
          <a:fillRef idx="1">
            <a:schemeClr val="lt1"/>
          </a:fillRef>
          <a:effectRef idx="0">
            <a:schemeClr val="accent1"/>
          </a:effectRef>
          <a:fontRef idx="minor">
            <a:schemeClr val="dk1"/>
          </a:fontRef>
        </dgm:style>
      </dgm:prSet>
      <dgm:spPr>
        <a:ln w="38100"/>
      </dgm:spPr>
      <dgm:t>
        <a:bodyPr/>
        <a:lstStyle/>
        <a:p>
          <a:r>
            <a:rPr kumimoji="1" lang="en-US" altLang="ja-JP" dirty="0"/>
            <a:t>  </a:t>
          </a:r>
          <a:endParaRPr kumimoji="1" lang="ja-JP" altLang="en-US" dirty="0"/>
        </a:p>
      </dgm:t>
    </dgm:pt>
    <dgm:pt modelId="{9C1D8A56-FDD0-4136-B03B-51A088ED82A1}" type="parTrans" cxnId="{8710E1E3-2FA3-409E-8C85-931C47BAFAA8}">
      <dgm:prSet/>
      <dgm:spPr/>
      <dgm:t>
        <a:bodyPr/>
        <a:lstStyle/>
        <a:p>
          <a:endParaRPr kumimoji="1" lang="ja-JP" altLang="en-US"/>
        </a:p>
      </dgm:t>
    </dgm:pt>
    <dgm:pt modelId="{CF23F0A0-4A48-4131-9685-513CE84DACC5}" type="sibTrans" cxnId="{8710E1E3-2FA3-409E-8C85-931C47BAFAA8}">
      <dgm:prSet/>
      <dgm:spPr/>
      <dgm:t>
        <a:bodyPr/>
        <a:lstStyle/>
        <a:p>
          <a:endParaRPr kumimoji="1" lang="ja-JP" altLang="en-US"/>
        </a:p>
      </dgm:t>
    </dgm:pt>
    <dgm:pt modelId="{21B3AA84-4969-4E0F-A80E-98B28BD3951B}">
      <dgm:prSet phldrT="[テキスト]" custT="1"/>
      <dgm:spPr/>
      <dgm:t>
        <a:bodyPr/>
        <a:lstStyle/>
        <a:p>
          <a:pPr>
            <a:buNone/>
          </a:pPr>
          <a:r>
            <a:rPr lang="en-US" sz="2400" b="1" i="0" dirty="0"/>
            <a:t>ANN </a:t>
          </a:r>
        </a:p>
        <a:p>
          <a:pPr>
            <a:buNone/>
          </a:pPr>
          <a:endParaRPr kumimoji="1" lang="ja-JP" altLang="en-US" sz="1600" dirty="0"/>
        </a:p>
      </dgm:t>
    </dgm:pt>
    <dgm:pt modelId="{AB147C94-8B8D-449A-BE0D-62F42C015AE2}" type="parTrans" cxnId="{AB86C0B3-E7EC-4164-BB39-B675E541D6A2}">
      <dgm:prSet/>
      <dgm:spPr/>
      <dgm:t>
        <a:bodyPr/>
        <a:lstStyle/>
        <a:p>
          <a:endParaRPr kumimoji="1" lang="ja-JP" altLang="en-US"/>
        </a:p>
      </dgm:t>
    </dgm:pt>
    <dgm:pt modelId="{50FD9E59-3D88-4BD8-A53C-A67805F7B761}" type="sibTrans" cxnId="{AB86C0B3-E7EC-4164-BB39-B675E541D6A2}">
      <dgm:prSet/>
      <dgm:spPr/>
      <dgm:t>
        <a:bodyPr/>
        <a:lstStyle/>
        <a:p>
          <a:endParaRPr kumimoji="1" lang="ja-JP" altLang="en-US"/>
        </a:p>
      </dgm:t>
    </dgm:pt>
    <dgm:pt modelId="{C9A47579-0CD3-4A71-8DD1-35B1760DB113}">
      <dgm:prSet>
        <dgm:style>
          <a:lnRef idx="1">
            <a:schemeClr val="accent6"/>
          </a:lnRef>
          <a:fillRef idx="2">
            <a:schemeClr val="accent6"/>
          </a:fillRef>
          <a:effectRef idx="1">
            <a:schemeClr val="accent6"/>
          </a:effectRef>
          <a:fontRef idx="minor">
            <a:schemeClr val="dk1"/>
          </a:fontRef>
        </dgm:style>
      </dgm:prSet>
      <dgm:spPr>
        <a:solidFill>
          <a:srgbClr val="CCFFCC"/>
        </a:solidFill>
        <a:ln w="38100">
          <a:solidFill>
            <a:schemeClr val="accent3"/>
          </a:solidFill>
        </a:ln>
      </dgm:spPr>
      <dgm:t>
        <a:bodyPr/>
        <a:lstStyle/>
        <a:p>
          <a:endParaRPr kumimoji="1" lang="ja-JP" altLang="en-US"/>
        </a:p>
      </dgm:t>
    </dgm:pt>
    <dgm:pt modelId="{C846477D-12ED-4C28-8EF3-C563AE990B7F}" type="parTrans" cxnId="{817B012D-D4D7-4BD4-B53C-685143D35BB0}">
      <dgm:prSet/>
      <dgm:spPr/>
      <dgm:t>
        <a:bodyPr/>
        <a:lstStyle/>
        <a:p>
          <a:endParaRPr kumimoji="1" lang="ja-JP" altLang="en-US"/>
        </a:p>
      </dgm:t>
    </dgm:pt>
    <dgm:pt modelId="{9C2C54DE-55F8-4A7E-845F-3FE8865786FE}" type="sibTrans" cxnId="{817B012D-D4D7-4BD4-B53C-685143D35BB0}">
      <dgm:prSet/>
      <dgm:spPr/>
      <dgm:t>
        <a:bodyPr/>
        <a:lstStyle/>
        <a:p>
          <a:endParaRPr kumimoji="1" lang="ja-JP" altLang="en-US"/>
        </a:p>
      </dgm:t>
    </dgm:pt>
    <dgm:pt modelId="{C21778A6-0AE4-4A40-911B-9B04FEA7162D}">
      <dgm:prSet custT="1"/>
      <dgm:spPr/>
      <dgm:t>
        <a:bodyPr/>
        <a:lstStyle/>
        <a:p>
          <a:pPr>
            <a:buNone/>
          </a:pPr>
          <a:endParaRPr lang="en-US" altLang="ja-JP" sz="2000" b="0" i="0" dirty="0"/>
        </a:p>
        <a:p>
          <a:pPr>
            <a:buNone/>
          </a:pPr>
          <a:endParaRPr lang="en-US" altLang="ja-JP" sz="2000" b="0" i="0" dirty="0"/>
        </a:p>
        <a:p>
          <a:pPr>
            <a:buNone/>
          </a:pPr>
          <a:r>
            <a:rPr lang="ja-JP" altLang="en-US" sz="2000" b="0" i="0" dirty="0"/>
            <a:t>過学習防止と</a:t>
          </a:r>
          <a:br>
            <a:rPr lang="ja-JP" altLang="en-US" sz="2000" b="0" i="0" dirty="0"/>
          </a:br>
          <a:r>
            <a:rPr lang="ja-JP" altLang="en-US" sz="2000" b="0" i="0" dirty="0"/>
            <a:t>計算効率化</a:t>
          </a:r>
        </a:p>
      </dgm:t>
    </dgm:pt>
    <dgm:pt modelId="{1410984B-9E40-432C-A907-AE536A21F233}" type="parTrans" cxnId="{C2C4197E-FEB1-4A9D-887E-B62EEE1A2D53}">
      <dgm:prSet/>
      <dgm:spPr/>
      <dgm:t>
        <a:bodyPr/>
        <a:lstStyle/>
        <a:p>
          <a:endParaRPr kumimoji="1" lang="ja-JP" altLang="en-US"/>
        </a:p>
      </dgm:t>
    </dgm:pt>
    <dgm:pt modelId="{5E274D59-3F2D-41E5-B37C-41B8C365C88E}" type="sibTrans" cxnId="{C2C4197E-FEB1-4A9D-887E-B62EEE1A2D53}">
      <dgm:prSet/>
      <dgm:spPr/>
      <dgm:t>
        <a:bodyPr/>
        <a:lstStyle/>
        <a:p>
          <a:endParaRPr kumimoji="1" lang="ja-JP" altLang="en-US"/>
        </a:p>
      </dgm:t>
    </dgm:pt>
    <dgm:pt modelId="{446A6062-0B40-4706-B9AF-6B220319D57D}">
      <dgm:prSet custT="1"/>
      <dgm:spPr/>
      <dgm:t>
        <a:bodyPr/>
        <a:lstStyle/>
        <a:p>
          <a:pPr>
            <a:buNone/>
          </a:pPr>
          <a:endParaRPr lang="en-US" altLang="ja-JP" sz="1700" b="1" i="0" dirty="0"/>
        </a:p>
        <a:p>
          <a:pPr>
            <a:buNone/>
          </a:pPr>
          <a:endParaRPr lang="en-US" altLang="ja-JP" sz="1700" b="1" i="0" dirty="0"/>
        </a:p>
        <a:p>
          <a:pPr>
            <a:buNone/>
          </a:pPr>
          <a:endParaRPr lang="en-US" altLang="ja-JP" sz="1700" b="1" i="0" dirty="0"/>
        </a:p>
      </dgm:t>
    </dgm:pt>
    <dgm:pt modelId="{DE07220C-DB10-4553-B3A8-CDF9ACCD1D6A}" type="parTrans" cxnId="{66481DC5-709A-47EA-9CFB-40BE3E3716B0}">
      <dgm:prSet/>
      <dgm:spPr/>
      <dgm:t>
        <a:bodyPr/>
        <a:lstStyle/>
        <a:p>
          <a:endParaRPr kumimoji="1" lang="ja-JP" altLang="en-US"/>
        </a:p>
      </dgm:t>
    </dgm:pt>
    <dgm:pt modelId="{B636CEA6-8C9A-4434-8FEA-865A45C6A030}" type="sibTrans" cxnId="{66481DC5-709A-47EA-9CFB-40BE3E3716B0}">
      <dgm:prSet/>
      <dgm:spPr/>
      <dgm:t>
        <a:bodyPr/>
        <a:lstStyle/>
        <a:p>
          <a:endParaRPr kumimoji="1" lang="ja-JP" altLang="en-US"/>
        </a:p>
      </dgm:t>
    </dgm:pt>
    <dgm:pt modelId="{F2506803-CD78-461E-A4D7-56520454E0C5}">
      <dgm:prSet/>
      <dgm:spPr/>
      <dgm:t>
        <a:bodyPr/>
        <a:lstStyle/>
        <a:p>
          <a:pPr>
            <a:buNone/>
          </a:pPr>
          <a:r>
            <a:rPr lang="ja-JP" altLang="en-US" sz="1600" b="0" i="0" dirty="0"/>
            <a:t>非線形相互作用の学習</a:t>
          </a:r>
        </a:p>
      </dgm:t>
    </dgm:pt>
    <dgm:pt modelId="{F89E19F2-208F-41EE-B32D-7EAA9DD6B1B8}" type="parTrans" cxnId="{90761E3F-BF4F-43E8-8BAB-E55BEC2B2103}">
      <dgm:prSet/>
      <dgm:spPr/>
      <dgm:t>
        <a:bodyPr/>
        <a:lstStyle/>
        <a:p>
          <a:endParaRPr kumimoji="1" lang="ja-JP" altLang="en-US"/>
        </a:p>
      </dgm:t>
    </dgm:pt>
    <dgm:pt modelId="{6BCA35CC-A9BB-43D7-929B-789197BBEBE1}" type="sibTrans" cxnId="{90761E3F-BF4F-43E8-8BAB-E55BEC2B2103}">
      <dgm:prSet/>
      <dgm:spPr/>
      <dgm:t>
        <a:bodyPr/>
        <a:lstStyle/>
        <a:p>
          <a:endParaRPr kumimoji="1" lang="ja-JP" altLang="en-US"/>
        </a:p>
      </dgm:t>
    </dgm:pt>
    <dgm:pt modelId="{87C8E734-D095-42E7-9691-C27FBD491C44}">
      <dgm:prSet/>
      <dgm:spPr/>
      <dgm:t>
        <a:bodyPr/>
        <a:lstStyle/>
        <a:p>
          <a:pPr>
            <a:buNone/>
          </a:pPr>
          <a:r>
            <a:rPr lang="en-US" sz="1600" b="0" i="0" dirty="0" err="1"/>
            <a:t>BatchNorm</a:t>
          </a:r>
          <a:r>
            <a:rPr lang="en-US" sz="1600" b="0" i="0" dirty="0"/>
            <a:t> / Dropout</a:t>
          </a:r>
        </a:p>
      </dgm:t>
    </dgm:pt>
    <dgm:pt modelId="{51A65D3F-412A-40FE-A4F8-72E1C90DFB66}" type="parTrans" cxnId="{9B34094B-7396-4CCF-802C-F7A03E896763}">
      <dgm:prSet/>
      <dgm:spPr/>
      <dgm:t>
        <a:bodyPr/>
        <a:lstStyle/>
        <a:p>
          <a:endParaRPr kumimoji="1" lang="ja-JP" altLang="en-US"/>
        </a:p>
      </dgm:t>
    </dgm:pt>
    <dgm:pt modelId="{1E781018-08F2-4680-AB86-A8C691FCCDE2}" type="sibTrans" cxnId="{9B34094B-7396-4CCF-802C-F7A03E896763}">
      <dgm:prSet/>
      <dgm:spPr/>
      <dgm:t>
        <a:bodyPr/>
        <a:lstStyle/>
        <a:p>
          <a:endParaRPr kumimoji="1" lang="ja-JP" altLang="en-US"/>
        </a:p>
      </dgm:t>
    </dgm:pt>
    <dgm:pt modelId="{743C4DEA-B0A0-4B85-8F30-883A2113D8D2}">
      <dgm:prSet/>
      <dgm:spPr/>
      <dgm:t>
        <a:bodyPr/>
        <a:lstStyle/>
        <a:p>
          <a:pPr>
            <a:buNone/>
          </a:pPr>
          <a:r>
            <a:rPr lang="ja-JP" altLang="en-US" sz="1600" b="1" i="0" dirty="0"/>
            <a:t>探索パラメータ</a:t>
          </a:r>
          <a:r>
            <a:rPr lang="en-US" altLang="ja-JP" sz="1600" b="1" i="0" dirty="0"/>
            <a:t>:</a:t>
          </a:r>
        </a:p>
      </dgm:t>
    </dgm:pt>
    <dgm:pt modelId="{D5D6758F-31AB-4F7C-A0CA-FF22B7F04738}" type="parTrans" cxnId="{26984DE8-499F-4CBB-956E-553A694193F9}">
      <dgm:prSet/>
      <dgm:spPr/>
      <dgm:t>
        <a:bodyPr/>
        <a:lstStyle/>
        <a:p>
          <a:endParaRPr kumimoji="1" lang="ja-JP" altLang="en-US"/>
        </a:p>
      </dgm:t>
    </dgm:pt>
    <dgm:pt modelId="{9D10E2AB-1273-4F96-87C0-49481E68D0C5}" type="sibTrans" cxnId="{26984DE8-499F-4CBB-956E-553A694193F9}">
      <dgm:prSet/>
      <dgm:spPr/>
      <dgm:t>
        <a:bodyPr/>
        <a:lstStyle/>
        <a:p>
          <a:endParaRPr kumimoji="1" lang="ja-JP" altLang="en-US"/>
        </a:p>
      </dgm:t>
    </dgm:pt>
    <dgm:pt modelId="{29366418-2B27-4FA3-A8C2-529FE489B0D1}">
      <dgm:prSet custT="1"/>
      <dgm:spPr/>
      <dgm:t>
        <a:bodyPr/>
        <a:lstStyle/>
        <a:p>
          <a:pPr>
            <a:buFont typeface="Arial" panose="020B0604020202020204" pitchFamily="34" charset="0"/>
            <a:buChar char="•"/>
          </a:pPr>
          <a:r>
            <a:rPr lang="ja-JP" altLang="en-US" sz="1400" b="0" i="0" dirty="0"/>
            <a:t>学習率</a:t>
          </a:r>
        </a:p>
      </dgm:t>
    </dgm:pt>
    <dgm:pt modelId="{C5475BF4-58B4-4B8C-B8A2-86CA463BE759}" type="parTrans" cxnId="{EA3F7FEC-02EE-4D9A-BFD5-6CFB6BD67369}">
      <dgm:prSet/>
      <dgm:spPr/>
      <dgm:t>
        <a:bodyPr/>
        <a:lstStyle/>
        <a:p>
          <a:endParaRPr kumimoji="1" lang="ja-JP" altLang="en-US"/>
        </a:p>
      </dgm:t>
    </dgm:pt>
    <dgm:pt modelId="{AFC00F74-9E6A-4D4C-8B4D-48AA1D46363D}" type="sibTrans" cxnId="{EA3F7FEC-02EE-4D9A-BFD5-6CFB6BD67369}">
      <dgm:prSet/>
      <dgm:spPr/>
      <dgm:t>
        <a:bodyPr/>
        <a:lstStyle/>
        <a:p>
          <a:endParaRPr kumimoji="1" lang="ja-JP" altLang="en-US"/>
        </a:p>
      </dgm:t>
    </dgm:pt>
    <dgm:pt modelId="{E48AB7BA-4000-4C6B-A647-D74FAC820F43}">
      <dgm:prSet custT="1"/>
      <dgm:spPr/>
      <dgm:t>
        <a:bodyPr/>
        <a:lstStyle/>
        <a:p>
          <a:pPr>
            <a:buFont typeface="Arial" panose="020B0604020202020204" pitchFamily="34" charset="0"/>
            <a:buChar char="•"/>
          </a:pPr>
          <a:r>
            <a:rPr lang="ja-JP" altLang="en-US" sz="1400" b="0" i="0" dirty="0"/>
            <a:t>層数・ユニット数</a:t>
          </a:r>
        </a:p>
      </dgm:t>
    </dgm:pt>
    <dgm:pt modelId="{B011E359-1F28-41C6-ADD6-963BFC916517}" type="parTrans" cxnId="{29D1A03F-8F9B-4359-BC76-491BDA98A959}">
      <dgm:prSet/>
      <dgm:spPr/>
      <dgm:t>
        <a:bodyPr/>
        <a:lstStyle/>
        <a:p>
          <a:endParaRPr kumimoji="1" lang="ja-JP" altLang="en-US"/>
        </a:p>
      </dgm:t>
    </dgm:pt>
    <dgm:pt modelId="{9FF53460-136D-4AFB-8DCF-7EEEE749004C}" type="sibTrans" cxnId="{29D1A03F-8F9B-4359-BC76-491BDA98A959}">
      <dgm:prSet/>
      <dgm:spPr/>
      <dgm:t>
        <a:bodyPr/>
        <a:lstStyle/>
        <a:p>
          <a:endParaRPr kumimoji="1" lang="ja-JP" altLang="en-US"/>
        </a:p>
      </dgm:t>
    </dgm:pt>
    <dgm:pt modelId="{075716F3-3D55-466D-A570-D19B39B502F0}">
      <dgm:prSet custT="1"/>
      <dgm:spPr/>
      <dgm:t>
        <a:bodyPr/>
        <a:lstStyle/>
        <a:p>
          <a:pPr>
            <a:buFont typeface="Arial" panose="020B0604020202020204" pitchFamily="34" charset="0"/>
            <a:buChar char="•"/>
          </a:pPr>
          <a:r>
            <a:rPr lang="en-US" sz="1400" b="0" i="0" dirty="0"/>
            <a:t>Dropout</a:t>
          </a:r>
          <a:r>
            <a:rPr lang="ja-JP" altLang="en-US" sz="1400" b="0" i="0" dirty="0"/>
            <a:t>率</a:t>
          </a:r>
        </a:p>
      </dgm:t>
    </dgm:pt>
    <dgm:pt modelId="{7312C17E-D65D-4C01-ACD0-E7F0359A72A0}" type="parTrans" cxnId="{43F02BC3-E4DC-43A2-88D6-C4B66C4B0F22}">
      <dgm:prSet/>
      <dgm:spPr/>
      <dgm:t>
        <a:bodyPr/>
        <a:lstStyle/>
        <a:p>
          <a:endParaRPr kumimoji="1" lang="ja-JP" altLang="en-US"/>
        </a:p>
      </dgm:t>
    </dgm:pt>
    <dgm:pt modelId="{65D1FDDA-7F2C-447A-8101-2F365570E7D4}" type="sibTrans" cxnId="{43F02BC3-E4DC-43A2-88D6-C4B66C4B0F22}">
      <dgm:prSet/>
      <dgm:spPr/>
      <dgm:t>
        <a:bodyPr/>
        <a:lstStyle/>
        <a:p>
          <a:endParaRPr kumimoji="1" lang="ja-JP" altLang="en-US"/>
        </a:p>
      </dgm:t>
    </dgm:pt>
    <dgm:pt modelId="{C9C69E5C-311A-420D-B3DA-AC4D924414B8}" type="pres">
      <dgm:prSet presAssocID="{DC19FF79-AD6E-4330-A59E-D60847F289CD}" presName="Name0" presStyleCnt="0">
        <dgm:presLayoutVars>
          <dgm:dir/>
          <dgm:animLvl val="lvl"/>
          <dgm:resizeHandles val="exact"/>
        </dgm:presLayoutVars>
      </dgm:prSet>
      <dgm:spPr/>
    </dgm:pt>
    <dgm:pt modelId="{5FC4D0EB-963F-48AE-BF74-B0D59BF4DDDB}" type="pres">
      <dgm:prSet presAssocID="{126DD051-56D0-40E0-8067-C7F1344899CE}" presName="compositeNode" presStyleCnt="0">
        <dgm:presLayoutVars>
          <dgm:bulletEnabled val="1"/>
        </dgm:presLayoutVars>
      </dgm:prSet>
      <dgm:spPr/>
    </dgm:pt>
    <dgm:pt modelId="{2439972B-D7C1-4CEA-8DD9-8BB8BD187C2A}" type="pres">
      <dgm:prSet presAssocID="{126DD051-56D0-40E0-8067-C7F1344899CE}" presName="bgRect" presStyleLbl="node1" presStyleIdx="0" presStyleCnt="4" custLinFactNeighborX="-166" custLinFactNeighborY="206"/>
      <dgm:spPr/>
    </dgm:pt>
    <dgm:pt modelId="{A16FC29C-6F5A-4BAA-8B6A-8F5EE4B894D3}" type="pres">
      <dgm:prSet presAssocID="{126DD051-56D0-40E0-8067-C7F1344899CE}" presName="parentNode" presStyleLbl="node1" presStyleIdx="0" presStyleCnt="4">
        <dgm:presLayoutVars>
          <dgm:chMax val="0"/>
          <dgm:bulletEnabled val="1"/>
        </dgm:presLayoutVars>
      </dgm:prSet>
      <dgm:spPr/>
    </dgm:pt>
    <dgm:pt modelId="{A57FE531-C9FA-43ED-A8A5-BF48EC0B9A4F}" type="pres">
      <dgm:prSet presAssocID="{126DD051-56D0-40E0-8067-C7F1344899CE}" presName="childNode" presStyleLbl="node1" presStyleIdx="0" presStyleCnt="4">
        <dgm:presLayoutVars>
          <dgm:bulletEnabled val="1"/>
        </dgm:presLayoutVars>
      </dgm:prSet>
      <dgm:spPr/>
    </dgm:pt>
    <dgm:pt modelId="{BCA3AB46-79ED-42F6-855D-7D9983939E36}" type="pres">
      <dgm:prSet presAssocID="{69913E08-01CD-48E1-82CF-61FBD8F896F8}" presName="hSp" presStyleCnt="0"/>
      <dgm:spPr/>
    </dgm:pt>
    <dgm:pt modelId="{9EF44584-B647-4D5E-AAF4-6131E9CC1908}" type="pres">
      <dgm:prSet presAssocID="{69913E08-01CD-48E1-82CF-61FBD8F896F8}" presName="vProcSp" presStyleCnt="0"/>
      <dgm:spPr/>
    </dgm:pt>
    <dgm:pt modelId="{00029069-4EF9-4B02-9AE9-A3FCD577BC50}" type="pres">
      <dgm:prSet presAssocID="{69913E08-01CD-48E1-82CF-61FBD8F896F8}" presName="vSp1" presStyleCnt="0"/>
      <dgm:spPr/>
    </dgm:pt>
    <dgm:pt modelId="{FF279A00-F451-493B-9D4A-9985AB9E9717}" type="pres">
      <dgm:prSet presAssocID="{69913E08-01CD-48E1-82CF-61FBD8F896F8}" presName="simulatedConn" presStyleLbl="solidFgAcc1" presStyleIdx="0" presStyleCnt="3" custScaleY="123610"/>
      <dgm:spPr/>
    </dgm:pt>
    <dgm:pt modelId="{84EFC087-7820-4AEA-A413-45DD049BAC65}" type="pres">
      <dgm:prSet presAssocID="{69913E08-01CD-48E1-82CF-61FBD8F896F8}" presName="vSp2" presStyleCnt="0"/>
      <dgm:spPr/>
    </dgm:pt>
    <dgm:pt modelId="{FA660733-4EE2-4706-869F-402C1C6ACC5A}" type="pres">
      <dgm:prSet presAssocID="{69913E08-01CD-48E1-82CF-61FBD8F896F8}" presName="sibTrans" presStyleCnt="0"/>
      <dgm:spPr/>
    </dgm:pt>
    <dgm:pt modelId="{6CBBA334-83A6-4278-A2C0-14B9B144462B}" type="pres">
      <dgm:prSet presAssocID="{A96857A7-2668-4EBC-B3C3-04F39CE15911}" presName="compositeNode" presStyleCnt="0">
        <dgm:presLayoutVars>
          <dgm:bulletEnabled val="1"/>
        </dgm:presLayoutVars>
      </dgm:prSet>
      <dgm:spPr/>
    </dgm:pt>
    <dgm:pt modelId="{531634B0-6003-4C47-851F-8AAD0E5BD91E}" type="pres">
      <dgm:prSet presAssocID="{A96857A7-2668-4EBC-B3C3-04F39CE15911}" presName="bgRect" presStyleLbl="node1" presStyleIdx="1" presStyleCnt="4"/>
      <dgm:spPr/>
    </dgm:pt>
    <dgm:pt modelId="{C6CEC306-202B-4DA7-B388-5BD2FB372E51}" type="pres">
      <dgm:prSet presAssocID="{A96857A7-2668-4EBC-B3C3-04F39CE15911}" presName="parentNode" presStyleLbl="node1" presStyleIdx="1" presStyleCnt="4">
        <dgm:presLayoutVars>
          <dgm:chMax val="0"/>
          <dgm:bulletEnabled val="1"/>
        </dgm:presLayoutVars>
      </dgm:prSet>
      <dgm:spPr/>
    </dgm:pt>
    <dgm:pt modelId="{8802E771-1E85-4161-BA2D-F636707BDCAC}" type="pres">
      <dgm:prSet presAssocID="{A96857A7-2668-4EBC-B3C3-04F39CE15911}" presName="childNode" presStyleLbl="node1" presStyleIdx="1" presStyleCnt="4">
        <dgm:presLayoutVars>
          <dgm:bulletEnabled val="1"/>
        </dgm:presLayoutVars>
      </dgm:prSet>
      <dgm:spPr/>
    </dgm:pt>
    <dgm:pt modelId="{C6E4A64D-A1B3-4021-96C8-30E946F8A03D}" type="pres">
      <dgm:prSet presAssocID="{474060AA-A88D-45B6-95C4-AA90774BB7D9}" presName="hSp" presStyleCnt="0"/>
      <dgm:spPr/>
    </dgm:pt>
    <dgm:pt modelId="{49209A1E-7E22-49BD-B2AC-2366BBDB96FD}" type="pres">
      <dgm:prSet presAssocID="{474060AA-A88D-45B6-95C4-AA90774BB7D9}" presName="vProcSp" presStyleCnt="0"/>
      <dgm:spPr/>
    </dgm:pt>
    <dgm:pt modelId="{BB6007FA-948B-4B59-80DA-AAD131604C97}" type="pres">
      <dgm:prSet presAssocID="{474060AA-A88D-45B6-95C4-AA90774BB7D9}" presName="vSp1" presStyleCnt="0"/>
      <dgm:spPr/>
    </dgm:pt>
    <dgm:pt modelId="{8E42C326-8621-4FB4-B5C3-EB9BCC686598}" type="pres">
      <dgm:prSet presAssocID="{474060AA-A88D-45B6-95C4-AA90774BB7D9}" presName="simulatedConn" presStyleLbl="solidFgAcc1" presStyleIdx="1" presStyleCnt="3"/>
      <dgm:spPr/>
    </dgm:pt>
    <dgm:pt modelId="{5D80D967-C6C3-4B47-9C8C-01670945FAE9}" type="pres">
      <dgm:prSet presAssocID="{474060AA-A88D-45B6-95C4-AA90774BB7D9}" presName="vSp2" presStyleCnt="0"/>
      <dgm:spPr/>
    </dgm:pt>
    <dgm:pt modelId="{0F5FF2A1-910B-4088-B364-313C0C225E0F}" type="pres">
      <dgm:prSet presAssocID="{474060AA-A88D-45B6-95C4-AA90774BB7D9}" presName="sibTrans" presStyleCnt="0"/>
      <dgm:spPr/>
    </dgm:pt>
    <dgm:pt modelId="{471BE7C4-C4AA-4B06-AF07-5571863F602D}" type="pres">
      <dgm:prSet presAssocID="{DDE0C1DF-06AF-49E9-B95E-FE91228F9CAD}" presName="compositeNode" presStyleCnt="0">
        <dgm:presLayoutVars>
          <dgm:bulletEnabled val="1"/>
        </dgm:presLayoutVars>
      </dgm:prSet>
      <dgm:spPr/>
    </dgm:pt>
    <dgm:pt modelId="{37BE6D09-2CFB-4991-B9FC-70451BB187C1}" type="pres">
      <dgm:prSet presAssocID="{DDE0C1DF-06AF-49E9-B95E-FE91228F9CAD}" presName="bgRect" presStyleLbl="node1" presStyleIdx="2" presStyleCnt="4"/>
      <dgm:spPr/>
    </dgm:pt>
    <dgm:pt modelId="{BF01C425-89FE-4C48-97D1-18CF3C36574E}" type="pres">
      <dgm:prSet presAssocID="{DDE0C1DF-06AF-49E9-B95E-FE91228F9CAD}" presName="parentNode" presStyleLbl="node1" presStyleIdx="2" presStyleCnt="4">
        <dgm:presLayoutVars>
          <dgm:chMax val="0"/>
          <dgm:bulletEnabled val="1"/>
        </dgm:presLayoutVars>
      </dgm:prSet>
      <dgm:spPr/>
    </dgm:pt>
    <dgm:pt modelId="{345FAB93-EEF5-4773-BAD2-F4BC481A35B4}" type="pres">
      <dgm:prSet presAssocID="{DDE0C1DF-06AF-49E9-B95E-FE91228F9CAD}" presName="childNode" presStyleLbl="node1" presStyleIdx="2" presStyleCnt="4">
        <dgm:presLayoutVars>
          <dgm:bulletEnabled val="1"/>
        </dgm:presLayoutVars>
      </dgm:prSet>
      <dgm:spPr/>
    </dgm:pt>
    <dgm:pt modelId="{DAF51EAB-D3D1-45BC-98CE-5CACAC247633}" type="pres">
      <dgm:prSet presAssocID="{CF23F0A0-4A48-4131-9685-513CE84DACC5}" presName="hSp" presStyleCnt="0"/>
      <dgm:spPr/>
    </dgm:pt>
    <dgm:pt modelId="{41C0177A-57D2-4F24-8F31-77E52AF4BE09}" type="pres">
      <dgm:prSet presAssocID="{CF23F0A0-4A48-4131-9685-513CE84DACC5}" presName="vProcSp" presStyleCnt="0"/>
      <dgm:spPr/>
    </dgm:pt>
    <dgm:pt modelId="{2CB8D19C-68BB-42CB-AF51-95C39E412FF1}" type="pres">
      <dgm:prSet presAssocID="{CF23F0A0-4A48-4131-9685-513CE84DACC5}" presName="vSp1" presStyleCnt="0"/>
      <dgm:spPr/>
    </dgm:pt>
    <dgm:pt modelId="{4E5D8655-D8A6-46B4-ACBB-E5930DCC79B4}" type="pres">
      <dgm:prSet presAssocID="{CF23F0A0-4A48-4131-9685-513CE84DACC5}" presName="simulatedConn" presStyleLbl="solidFgAcc1" presStyleIdx="2" presStyleCnt="3"/>
      <dgm:spPr/>
    </dgm:pt>
    <dgm:pt modelId="{4DB6B493-3570-4D47-9019-C6E5502895AB}" type="pres">
      <dgm:prSet presAssocID="{CF23F0A0-4A48-4131-9685-513CE84DACC5}" presName="vSp2" presStyleCnt="0"/>
      <dgm:spPr/>
    </dgm:pt>
    <dgm:pt modelId="{6328586B-92F7-4E3B-B0E0-2C9A12C7F4A0}" type="pres">
      <dgm:prSet presAssocID="{CF23F0A0-4A48-4131-9685-513CE84DACC5}" presName="sibTrans" presStyleCnt="0"/>
      <dgm:spPr/>
    </dgm:pt>
    <dgm:pt modelId="{8A923ED0-D31B-4199-A0D3-6FCC02D5B802}" type="pres">
      <dgm:prSet presAssocID="{C9A47579-0CD3-4A71-8DD1-35B1760DB113}" presName="compositeNode" presStyleCnt="0">
        <dgm:presLayoutVars>
          <dgm:bulletEnabled val="1"/>
        </dgm:presLayoutVars>
      </dgm:prSet>
      <dgm:spPr/>
    </dgm:pt>
    <dgm:pt modelId="{4F69D514-3822-4404-BC66-47F4BF718869}" type="pres">
      <dgm:prSet presAssocID="{C9A47579-0CD3-4A71-8DD1-35B1760DB113}" presName="bgRect" presStyleLbl="node1" presStyleIdx="3" presStyleCnt="4"/>
      <dgm:spPr/>
    </dgm:pt>
    <dgm:pt modelId="{64000828-E8A8-46A7-AB51-84259CAC7446}" type="pres">
      <dgm:prSet presAssocID="{C9A47579-0CD3-4A71-8DD1-35B1760DB113}" presName="parentNode" presStyleLbl="node1" presStyleIdx="3" presStyleCnt="4">
        <dgm:presLayoutVars>
          <dgm:chMax val="0"/>
          <dgm:bulletEnabled val="1"/>
        </dgm:presLayoutVars>
      </dgm:prSet>
      <dgm:spPr/>
    </dgm:pt>
  </dgm:ptLst>
  <dgm:cxnLst>
    <dgm:cxn modelId="{5B47F010-728F-45E9-AE9D-13405E6B99C3}" type="presOf" srcId="{29366418-2B27-4FA3-A8C2-529FE489B0D1}" destId="{345FAB93-EEF5-4773-BAD2-F4BC481A35B4}" srcOrd="0" destOrd="4" presId="urn:microsoft.com/office/officeart/2005/8/layout/hProcess7"/>
    <dgm:cxn modelId="{B7FC6216-D527-46B0-A973-625402468AC4}" type="presOf" srcId="{A96857A7-2668-4EBC-B3C3-04F39CE15911}" destId="{531634B0-6003-4C47-851F-8AAD0E5BD91E}" srcOrd="0" destOrd="0" presId="urn:microsoft.com/office/officeart/2005/8/layout/hProcess7"/>
    <dgm:cxn modelId="{79CA041A-DC69-424A-BEA0-279B86D66CAF}" type="presOf" srcId="{87C8E734-D095-42E7-9691-C27FBD491C44}" destId="{345FAB93-EEF5-4773-BAD2-F4BC481A35B4}" srcOrd="0" destOrd="2" presId="urn:microsoft.com/office/officeart/2005/8/layout/hProcess7"/>
    <dgm:cxn modelId="{EF14291A-A44E-4E84-A46F-0D4FAE560E0F}" type="presOf" srcId="{E48AB7BA-4000-4C6B-A647-D74FAC820F43}" destId="{345FAB93-EEF5-4773-BAD2-F4BC481A35B4}" srcOrd="0" destOrd="5" presId="urn:microsoft.com/office/officeart/2005/8/layout/hProcess7"/>
    <dgm:cxn modelId="{3528ED21-7ECB-4FC0-B028-68BBB0177343}" type="presOf" srcId="{075716F3-3D55-466D-A570-D19B39B502F0}" destId="{345FAB93-EEF5-4773-BAD2-F4BC481A35B4}" srcOrd="0" destOrd="6" presId="urn:microsoft.com/office/officeart/2005/8/layout/hProcess7"/>
    <dgm:cxn modelId="{9C820529-4FA9-425D-85D9-A5D511A5536F}" type="presOf" srcId="{4231E12E-0276-419E-A9C8-E9A40670A822}" destId="{8802E771-1E85-4161-BA2D-F636707BDCAC}" srcOrd="0" destOrd="0" presId="urn:microsoft.com/office/officeart/2005/8/layout/hProcess7"/>
    <dgm:cxn modelId="{4756BA2B-C68D-42C8-B967-380568CEC0AF}" srcId="{126DD051-56D0-40E0-8067-C7F1344899CE}" destId="{5AD9A79E-EC8B-4B40-9FB6-5364346B1ECA}" srcOrd="0" destOrd="0" parTransId="{A4A33EA3-6DBD-48B4-BB94-04CFEFB7F90D}" sibTransId="{6371BEA0-D012-43B0-8F0C-76E01F2A6369}"/>
    <dgm:cxn modelId="{817B012D-D4D7-4BD4-B53C-685143D35BB0}" srcId="{DC19FF79-AD6E-4330-A59E-D60847F289CD}" destId="{C9A47579-0CD3-4A71-8DD1-35B1760DB113}" srcOrd="3" destOrd="0" parTransId="{C846477D-12ED-4C28-8EF3-C563AE990B7F}" sibTransId="{9C2C54DE-55F8-4A7E-845F-3FE8865786FE}"/>
    <dgm:cxn modelId="{90F9CC2E-DA30-4CB3-B8ED-702DF2494BDE}" type="presOf" srcId="{DC19FF79-AD6E-4330-A59E-D60847F289CD}" destId="{C9C69E5C-311A-420D-B3DA-AC4D924414B8}" srcOrd="0" destOrd="0" presId="urn:microsoft.com/office/officeart/2005/8/layout/hProcess7"/>
    <dgm:cxn modelId="{7757D63B-27A9-4447-921C-D489868CD7EA}" type="presOf" srcId="{743C4DEA-B0A0-4B85-8F30-883A2113D8D2}" destId="{345FAB93-EEF5-4773-BAD2-F4BC481A35B4}" srcOrd="0" destOrd="3" presId="urn:microsoft.com/office/officeart/2005/8/layout/hProcess7"/>
    <dgm:cxn modelId="{90761E3F-BF4F-43E8-8BAB-E55BEC2B2103}" srcId="{DDE0C1DF-06AF-49E9-B95E-FE91228F9CAD}" destId="{F2506803-CD78-461E-A4D7-56520454E0C5}" srcOrd="1" destOrd="0" parTransId="{F89E19F2-208F-41EE-B32D-7EAA9DD6B1B8}" sibTransId="{6BCA35CC-A9BB-43D7-929B-789197BBEBE1}"/>
    <dgm:cxn modelId="{29D1A03F-8F9B-4359-BC76-491BDA98A959}" srcId="{DDE0C1DF-06AF-49E9-B95E-FE91228F9CAD}" destId="{E48AB7BA-4000-4C6B-A647-D74FAC820F43}" srcOrd="5" destOrd="0" parTransId="{B011E359-1F28-41C6-ADD6-963BFC916517}" sibTransId="{9FF53460-136D-4AFB-8DCF-7EEEE749004C}"/>
    <dgm:cxn modelId="{D1295163-A61A-469A-BEAC-79E8400093BA}" type="presOf" srcId="{DDE0C1DF-06AF-49E9-B95E-FE91228F9CAD}" destId="{BF01C425-89FE-4C48-97D1-18CF3C36574E}" srcOrd="1" destOrd="0" presId="urn:microsoft.com/office/officeart/2005/8/layout/hProcess7"/>
    <dgm:cxn modelId="{9B34094B-7396-4CCF-802C-F7A03E896763}" srcId="{DDE0C1DF-06AF-49E9-B95E-FE91228F9CAD}" destId="{87C8E734-D095-42E7-9691-C27FBD491C44}" srcOrd="2" destOrd="0" parTransId="{51A65D3F-412A-40FE-A4F8-72E1C90DFB66}" sibTransId="{1E781018-08F2-4680-AB86-A8C691FCCDE2}"/>
    <dgm:cxn modelId="{779B2D4D-C59E-4D7C-9E54-131FAA8AA8A8}" type="presOf" srcId="{5AD9A79E-EC8B-4B40-9FB6-5364346B1ECA}" destId="{A57FE531-C9FA-43ED-A8A5-BF48EC0B9A4F}" srcOrd="0" destOrd="0" presId="urn:microsoft.com/office/officeart/2005/8/layout/hProcess7"/>
    <dgm:cxn modelId="{F618814F-F951-4CB7-8A28-AAE54C6E2B9D}" type="presOf" srcId="{446A6062-0B40-4706-B9AF-6B220319D57D}" destId="{A57FE531-C9FA-43ED-A8A5-BF48EC0B9A4F}" srcOrd="0" destOrd="1" presId="urn:microsoft.com/office/officeart/2005/8/layout/hProcess7"/>
    <dgm:cxn modelId="{768E3377-2C59-4EFE-AE6A-2F421E49C746}" type="presOf" srcId="{A96857A7-2668-4EBC-B3C3-04F39CE15911}" destId="{C6CEC306-202B-4DA7-B388-5BD2FB372E51}" srcOrd="1" destOrd="0" presId="urn:microsoft.com/office/officeart/2005/8/layout/hProcess7"/>
    <dgm:cxn modelId="{A691DB77-7E83-4530-BB09-B02C24EB1BAE}" srcId="{A96857A7-2668-4EBC-B3C3-04F39CE15911}" destId="{4231E12E-0276-419E-A9C8-E9A40670A822}" srcOrd="0" destOrd="0" parTransId="{2326D8E3-1A25-46B7-B199-742480A00E33}" sibTransId="{7D61A5EC-1779-4795-BDAE-9DABC6C8E78B}"/>
    <dgm:cxn modelId="{C2C4197E-FEB1-4A9D-887E-B62EEE1A2D53}" srcId="{A96857A7-2668-4EBC-B3C3-04F39CE15911}" destId="{C21778A6-0AE4-4A40-911B-9B04FEA7162D}" srcOrd="1" destOrd="0" parTransId="{1410984B-9E40-432C-A907-AE536A21F233}" sibTransId="{5E274D59-3F2D-41E5-B37C-41B8C365C88E}"/>
    <dgm:cxn modelId="{C7340A94-52C4-4010-9C50-8780EDB4B258}" type="presOf" srcId="{126DD051-56D0-40E0-8067-C7F1344899CE}" destId="{2439972B-D7C1-4CEA-8DD9-8BB8BD187C2A}" srcOrd="0" destOrd="0" presId="urn:microsoft.com/office/officeart/2005/8/layout/hProcess7"/>
    <dgm:cxn modelId="{5B73319C-602D-4F21-A143-CA21128018E1}" type="presOf" srcId="{C9A47579-0CD3-4A71-8DD1-35B1760DB113}" destId="{64000828-E8A8-46A7-AB51-84259CAC7446}" srcOrd="1" destOrd="0" presId="urn:microsoft.com/office/officeart/2005/8/layout/hProcess7"/>
    <dgm:cxn modelId="{054C6EA3-BA8D-4521-88E7-463F31B34A1C}" srcId="{DC19FF79-AD6E-4330-A59E-D60847F289CD}" destId="{A96857A7-2668-4EBC-B3C3-04F39CE15911}" srcOrd="1" destOrd="0" parTransId="{40781C10-05E1-41EA-A5E3-5EEA7A01D401}" sibTransId="{474060AA-A88D-45B6-95C4-AA90774BB7D9}"/>
    <dgm:cxn modelId="{AB86C0B3-E7EC-4164-BB39-B675E541D6A2}" srcId="{DDE0C1DF-06AF-49E9-B95E-FE91228F9CAD}" destId="{21B3AA84-4969-4E0F-A80E-98B28BD3951B}" srcOrd="0" destOrd="0" parTransId="{AB147C94-8B8D-449A-BE0D-62F42C015AE2}" sibTransId="{50FD9E59-3D88-4BD8-A53C-A67805F7B761}"/>
    <dgm:cxn modelId="{54D9CAB3-7F08-4BD9-A610-1FE5D6604230}" type="presOf" srcId="{21B3AA84-4969-4E0F-A80E-98B28BD3951B}" destId="{345FAB93-EEF5-4773-BAD2-F4BC481A35B4}" srcOrd="0" destOrd="0" presId="urn:microsoft.com/office/officeart/2005/8/layout/hProcess7"/>
    <dgm:cxn modelId="{E33C31BE-509F-407C-96C7-1628A8AAE0B5}" type="presOf" srcId="{C9A47579-0CD3-4A71-8DD1-35B1760DB113}" destId="{4F69D514-3822-4404-BC66-47F4BF718869}" srcOrd="0" destOrd="0" presId="urn:microsoft.com/office/officeart/2005/8/layout/hProcess7"/>
    <dgm:cxn modelId="{04D423C2-34E9-4258-92FC-23C241E818A7}" type="presOf" srcId="{F2506803-CD78-461E-A4D7-56520454E0C5}" destId="{345FAB93-EEF5-4773-BAD2-F4BC481A35B4}" srcOrd="0" destOrd="1" presId="urn:microsoft.com/office/officeart/2005/8/layout/hProcess7"/>
    <dgm:cxn modelId="{43F02BC3-E4DC-43A2-88D6-C4B66C4B0F22}" srcId="{DDE0C1DF-06AF-49E9-B95E-FE91228F9CAD}" destId="{075716F3-3D55-466D-A570-D19B39B502F0}" srcOrd="6" destOrd="0" parTransId="{7312C17E-D65D-4C01-ACD0-E7F0359A72A0}" sibTransId="{65D1FDDA-7F2C-447A-8101-2F365570E7D4}"/>
    <dgm:cxn modelId="{66481DC5-709A-47EA-9CFB-40BE3E3716B0}" srcId="{126DD051-56D0-40E0-8067-C7F1344899CE}" destId="{446A6062-0B40-4706-B9AF-6B220319D57D}" srcOrd="1" destOrd="0" parTransId="{DE07220C-DB10-4553-B3A8-CDF9ACCD1D6A}" sibTransId="{B636CEA6-8C9A-4434-8FEA-865A45C6A030}"/>
    <dgm:cxn modelId="{8710E1E3-2FA3-409E-8C85-931C47BAFAA8}" srcId="{DC19FF79-AD6E-4330-A59E-D60847F289CD}" destId="{DDE0C1DF-06AF-49E9-B95E-FE91228F9CAD}" srcOrd="2" destOrd="0" parTransId="{9C1D8A56-FDD0-4136-B03B-51A088ED82A1}" sibTransId="{CF23F0A0-4A48-4131-9685-513CE84DACC5}"/>
    <dgm:cxn modelId="{26984DE8-499F-4CBB-956E-553A694193F9}" srcId="{DDE0C1DF-06AF-49E9-B95E-FE91228F9CAD}" destId="{743C4DEA-B0A0-4B85-8F30-883A2113D8D2}" srcOrd="3" destOrd="0" parTransId="{D5D6758F-31AB-4F7C-A0CA-FF22B7F04738}" sibTransId="{9D10E2AB-1273-4F96-87C0-49481E68D0C5}"/>
    <dgm:cxn modelId="{4F87A3E8-A03E-488A-9A50-708FE1C9134D}" srcId="{DC19FF79-AD6E-4330-A59E-D60847F289CD}" destId="{126DD051-56D0-40E0-8067-C7F1344899CE}" srcOrd="0" destOrd="0" parTransId="{E7C3B27D-BEF9-48CF-BF9C-DFB8A6D5DFDD}" sibTransId="{69913E08-01CD-48E1-82CF-61FBD8F896F8}"/>
    <dgm:cxn modelId="{EA3F7FEC-02EE-4D9A-BFD5-6CFB6BD67369}" srcId="{DDE0C1DF-06AF-49E9-B95E-FE91228F9CAD}" destId="{29366418-2B27-4FA3-A8C2-529FE489B0D1}" srcOrd="4" destOrd="0" parTransId="{C5475BF4-58B4-4B8C-B8A2-86CA463BE759}" sibTransId="{AFC00F74-9E6A-4D4C-8B4D-48AA1D46363D}"/>
    <dgm:cxn modelId="{C19A23EE-D4E2-41E5-815E-41ADC0872401}" type="presOf" srcId="{DDE0C1DF-06AF-49E9-B95E-FE91228F9CAD}" destId="{37BE6D09-2CFB-4991-B9FC-70451BB187C1}" srcOrd="0" destOrd="0" presId="urn:microsoft.com/office/officeart/2005/8/layout/hProcess7"/>
    <dgm:cxn modelId="{DD54EBEF-5BF6-4C52-B88F-155F05C608D5}" type="presOf" srcId="{126DD051-56D0-40E0-8067-C7F1344899CE}" destId="{A16FC29C-6F5A-4BAA-8B6A-8F5EE4B894D3}" srcOrd="1" destOrd="0" presId="urn:microsoft.com/office/officeart/2005/8/layout/hProcess7"/>
    <dgm:cxn modelId="{48100CF7-23FF-4BC7-BC04-89E1C9F83225}" type="presOf" srcId="{C21778A6-0AE4-4A40-911B-9B04FEA7162D}" destId="{8802E771-1E85-4161-BA2D-F636707BDCAC}" srcOrd="0" destOrd="1" presId="urn:microsoft.com/office/officeart/2005/8/layout/hProcess7"/>
    <dgm:cxn modelId="{A035C4F1-3F79-4E5D-8575-1E18314E5268}" type="presParOf" srcId="{C9C69E5C-311A-420D-B3DA-AC4D924414B8}" destId="{5FC4D0EB-963F-48AE-BF74-B0D59BF4DDDB}" srcOrd="0" destOrd="0" presId="urn:microsoft.com/office/officeart/2005/8/layout/hProcess7"/>
    <dgm:cxn modelId="{DA1B07DF-4BEB-4F30-A3FD-47149A7B30B7}" type="presParOf" srcId="{5FC4D0EB-963F-48AE-BF74-B0D59BF4DDDB}" destId="{2439972B-D7C1-4CEA-8DD9-8BB8BD187C2A}" srcOrd="0" destOrd="0" presId="urn:microsoft.com/office/officeart/2005/8/layout/hProcess7"/>
    <dgm:cxn modelId="{7FEE1C77-70E0-4771-B023-C8A9A032AD47}" type="presParOf" srcId="{5FC4D0EB-963F-48AE-BF74-B0D59BF4DDDB}" destId="{A16FC29C-6F5A-4BAA-8B6A-8F5EE4B894D3}" srcOrd="1" destOrd="0" presId="urn:microsoft.com/office/officeart/2005/8/layout/hProcess7"/>
    <dgm:cxn modelId="{B4FBA2CC-CAD4-42E8-9BA0-6D74380467F4}" type="presParOf" srcId="{5FC4D0EB-963F-48AE-BF74-B0D59BF4DDDB}" destId="{A57FE531-C9FA-43ED-A8A5-BF48EC0B9A4F}" srcOrd="2" destOrd="0" presId="urn:microsoft.com/office/officeart/2005/8/layout/hProcess7"/>
    <dgm:cxn modelId="{585C60E8-AB35-453F-B99E-A75B71165C2D}" type="presParOf" srcId="{C9C69E5C-311A-420D-B3DA-AC4D924414B8}" destId="{BCA3AB46-79ED-42F6-855D-7D9983939E36}" srcOrd="1" destOrd="0" presId="urn:microsoft.com/office/officeart/2005/8/layout/hProcess7"/>
    <dgm:cxn modelId="{53123D0E-1489-4430-BD04-8721737072C6}" type="presParOf" srcId="{C9C69E5C-311A-420D-B3DA-AC4D924414B8}" destId="{9EF44584-B647-4D5E-AAF4-6131E9CC1908}" srcOrd="2" destOrd="0" presId="urn:microsoft.com/office/officeart/2005/8/layout/hProcess7"/>
    <dgm:cxn modelId="{18FED1D8-2385-4A8C-A703-A2C6F8487610}" type="presParOf" srcId="{9EF44584-B647-4D5E-AAF4-6131E9CC1908}" destId="{00029069-4EF9-4B02-9AE9-A3FCD577BC50}" srcOrd="0" destOrd="0" presId="urn:microsoft.com/office/officeart/2005/8/layout/hProcess7"/>
    <dgm:cxn modelId="{3B2EC0BF-CE78-4D44-80AE-B248157D192C}" type="presParOf" srcId="{9EF44584-B647-4D5E-AAF4-6131E9CC1908}" destId="{FF279A00-F451-493B-9D4A-9985AB9E9717}" srcOrd="1" destOrd="0" presId="urn:microsoft.com/office/officeart/2005/8/layout/hProcess7"/>
    <dgm:cxn modelId="{73A35774-2DDD-4670-BD11-FB907764D6E8}" type="presParOf" srcId="{9EF44584-B647-4D5E-AAF4-6131E9CC1908}" destId="{84EFC087-7820-4AEA-A413-45DD049BAC65}" srcOrd="2" destOrd="0" presId="urn:microsoft.com/office/officeart/2005/8/layout/hProcess7"/>
    <dgm:cxn modelId="{F2479F50-619F-4045-824D-176226E30CAC}" type="presParOf" srcId="{C9C69E5C-311A-420D-B3DA-AC4D924414B8}" destId="{FA660733-4EE2-4706-869F-402C1C6ACC5A}" srcOrd="3" destOrd="0" presId="urn:microsoft.com/office/officeart/2005/8/layout/hProcess7"/>
    <dgm:cxn modelId="{2765A6B2-79B8-43B8-98F1-CF914C0DEE52}" type="presParOf" srcId="{C9C69E5C-311A-420D-B3DA-AC4D924414B8}" destId="{6CBBA334-83A6-4278-A2C0-14B9B144462B}" srcOrd="4" destOrd="0" presId="urn:microsoft.com/office/officeart/2005/8/layout/hProcess7"/>
    <dgm:cxn modelId="{48FA9F2E-8951-4F2C-A8AE-D636DF98308C}" type="presParOf" srcId="{6CBBA334-83A6-4278-A2C0-14B9B144462B}" destId="{531634B0-6003-4C47-851F-8AAD0E5BD91E}" srcOrd="0" destOrd="0" presId="urn:microsoft.com/office/officeart/2005/8/layout/hProcess7"/>
    <dgm:cxn modelId="{35260D94-0971-4786-BC28-5D36F06C3E22}" type="presParOf" srcId="{6CBBA334-83A6-4278-A2C0-14B9B144462B}" destId="{C6CEC306-202B-4DA7-B388-5BD2FB372E51}" srcOrd="1" destOrd="0" presId="urn:microsoft.com/office/officeart/2005/8/layout/hProcess7"/>
    <dgm:cxn modelId="{E5052018-2E1F-4C79-8F9F-FF40047D85CB}" type="presParOf" srcId="{6CBBA334-83A6-4278-A2C0-14B9B144462B}" destId="{8802E771-1E85-4161-BA2D-F636707BDCAC}" srcOrd="2" destOrd="0" presId="urn:microsoft.com/office/officeart/2005/8/layout/hProcess7"/>
    <dgm:cxn modelId="{D07D94D0-32A3-44A0-B80C-BC99A611F570}" type="presParOf" srcId="{C9C69E5C-311A-420D-B3DA-AC4D924414B8}" destId="{C6E4A64D-A1B3-4021-96C8-30E946F8A03D}" srcOrd="5" destOrd="0" presId="urn:microsoft.com/office/officeart/2005/8/layout/hProcess7"/>
    <dgm:cxn modelId="{45FEE0F4-17D9-483D-B289-884CE66C54D1}" type="presParOf" srcId="{C9C69E5C-311A-420D-B3DA-AC4D924414B8}" destId="{49209A1E-7E22-49BD-B2AC-2366BBDB96FD}" srcOrd="6" destOrd="0" presId="urn:microsoft.com/office/officeart/2005/8/layout/hProcess7"/>
    <dgm:cxn modelId="{DB5A0F70-1440-43FA-93B6-6CD3E7F4FA51}" type="presParOf" srcId="{49209A1E-7E22-49BD-B2AC-2366BBDB96FD}" destId="{BB6007FA-948B-4B59-80DA-AAD131604C97}" srcOrd="0" destOrd="0" presId="urn:microsoft.com/office/officeart/2005/8/layout/hProcess7"/>
    <dgm:cxn modelId="{B0C84352-CC9A-4214-BEF8-3B53B9461060}" type="presParOf" srcId="{49209A1E-7E22-49BD-B2AC-2366BBDB96FD}" destId="{8E42C326-8621-4FB4-B5C3-EB9BCC686598}" srcOrd="1" destOrd="0" presId="urn:microsoft.com/office/officeart/2005/8/layout/hProcess7"/>
    <dgm:cxn modelId="{1D078E27-6EE0-4A91-87F3-2F6B3AD7A17E}" type="presParOf" srcId="{49209A1E-7E22-49BD-B2AC-2366BBDB96FD}" destId="{5D80D967-C6C3-4B47-9C8C-01670945FAE9}" srcOrd="2" destOrd="0" presId="urn:microsoft.com/office/officeart/2005/8/layout/hProcess7"/>
    <dgm:cxn modelId="{A986B858-7246-4943-A56F-4DE916E0AB1B}" type="presParOf" srcId="{C9C69E5C-311A-420D-B3DA-AC4D924414B8}" destId="{0F5FF2A1-910B-4088-B364-313C0C225E0F}" srcOrd="7" destOrd="0" presId="urn:microsoft.com/office/officeart/2005/8/layout/hProcess7"/>
    <dgm:cxn modelId="{C59992C8-0D2F-47F2-90C4-4956DA906DBE}" type="presParOf" srcId="{C9C69E5C-311A-420D-B3DA-AC4D924414B8}" destId="{471BE7C4-C4AA-4B06-AF07-5571863F602D}" srcOrd="8" destOrd="0" presId="urn:microsoft.com/office/officeart/2005/8/layout/hProcess7"/>
    <dgm:cxn modelId="{C405A5E7-9704-4A6D-B637-4E6D600A9132}" type="presParOf" srcId="{471BE7C4-C4AA-4B06-AF07-5571863F602D}" destId="{37BE6D09-2CFB-4991-B9FC-70451BB187C1}" srcOrd="0" destOrd="0" presId="urn:microsoft.com/office/officeart/2005/8/layout/hProcess7"/>
    <dgm:cxn modelId="{B4DA8289-6DFA-4BCA-9D7F-CE8DBE29BF88}" type="presParOf" srcId="{471BE7C4-C4AA-4B06-AF07-5571863F602D}" destId="{BF01C425-89FE-4C48-97D1-18CF3C36574E}" srcOrd="1" destOrd="0" presId="urn:microsoft.com/office/officeart/2005/8/layout/hProcess7"/>
    <dgm:cxn modelId="{4201F0F5-1722-469F-B8ED-D51676A62082}" type="presParOf" srcId="{471BE7C4-C4AA-4B06-AF07-5571863F602D}" destId="{345FAB93-EEF5-4773-BAD2-F4BC481A35B4}" srcOrd="2" destOrd="0" presId="urn:microsoft.com/office/officeart/2005/8/layout/hProcess7"/>
    <dgm:cxn modelId="{4BAF5CEE-2291-464F-8058-A81A6FF94674}" type="presParOf" srcId="{C9C69E5C-311A-420D-B3DA-AC4D924414B8}" destId="{DAF51EAB-D3D1-45BC-98CE-5CACAC247633}" srcOrd="9" destOrd="0" presId="urn:microsoft.com/office/officeart/2005/8/layout/hProcess7"/>
    <dgm:cxn modelId="{F319B766-D2A3-49E3-8CE6-D0FBDEDF6BE3}" type="presParOf" srcId="{C9C69E5C-311A-420D-B3DA-AC4D924414B8}" destId="{41C0177A-57D2-4F24-8F31-77E52AF4BE09}" srcOrd="10" destOrd="0" presId="urn:microsoft.com/office/officeart/2005/8/layout/hProcess7"/>
    <dgm:cxn modelId="{5BB59C23-34DF-452D-87B8-C84DCC5DC8AF}" type="presParOf" srcId="{41C0177A-57D2-4F24-8F31-77E52AF4BE09}" destId="{2CB8D19C-68BB-42CB-AF51-95C39E412FF1}" srcOrd="0" destOrd="0" presId="urn:microsoft.com/office/officeart/2005/8/layout/hProcess7"/>
    <dgm:cxn modelId="{2CD126F5-81F4-4CCB-AEB9-8631647261FC}" type="presParOf" srcId="{41C0177A-57D2-4F24-8F31-77E52AF4BE09}" destId="{4E5D8655-D8A6-46B4-ACBB-E5930DCC79B4}" srcOrd="1" destOrd="0" presId="urn:microsoft.com/office/officeart/2005/8/layout/hProcess7"/>
    <dgm:cxn modelId="{85266156-55D7-48B8-BB1A-61377C91F6DE}" type="presParOf" srcId="{41C0177A-57D2-4F24-8F31-77E52AF4BE09}" destId="{4DB6B493-3570-4D47-9019-C6E5502895AB}" srcOrd="2" destOrd="0" presId="urn:microsoft.com/office/officeart/2005/8/layout/hProcess7"/>
    <dgm:cxn modelId="{2389653F-9EDA-44A2-9F1D-2BF8FF199339}" type="presParOf" srcId="{C9C69E5C-311A-420D-B3DA-AC4D924414B8}" destId="{6328586B-92F7-4E3B-B0E0-2C9A12C7F4A0}" srcOrd="11" destOrd="0" presId="urn:microsoft.com/office/officeart/2005/8/layout/hProcess7"/>
    <dgm:cxn modelId="{55E3D1C1-D8FE-496A-A92D-4515235FBAD4}" type="presParOf" srcId="{C9C69E5C-311A-420D-B3DA-AC4D924414B8}" destId="{8A923ED0-D31B-4199-A0D3-6FCC02D5B802}" srcOrd="12" destOrd="0" presId="urn:microsoft.com/office/officeart/2005/8/layout/hProcess7"/>
    <dgm:cxn modelId="{2A372C9F-5A77-48CA-8F1E-25A5F30D50EE}" type="presParOf" srcId="{8A923ED0-D31B-4199-A0D3-6FCC02D5B802}" destId="{4F69D514-3822-4404-BC66-47F4BF718869}" srcOrd="0" destOrd="0" presId="urn:microsoft.com/office/officeart/2005/8/layout/hProcess7"/>
    <dgm:cxn modelId="{A02B72B8-C3E9-4985-AF91-42505CB00E49}" type="presParOf" srcId="{8A923ED0-D31B-4199-A0D3-6FCC02D5B802}" destId="{64000828-E8A8-46A7-AB51-84259CAC7446}" srcOrd="1" destOrd="0" presId="urn:microsoft.com/office/officeart/2005/8/layout/hProcess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809A13A-1D3B-4E7F-80A3-AE9CFC845238}" type="doc">
      <dgm:prSet loTypeId="urn:microsoft.com/office/officeart/2005/8/layout/hProcess11" loCatId="process" qsTypeId="urn:microsoft.com/office/officeart/2005/8/quickstyle/simple3" qsCatId="simple" csTypeId="urn:microsoft.com/office/officeart/2005/8/colors/accent1_2" csCatId="accent1" phldr="1"/>
      <dgm:spPr/>
    </dgm:pt>
    <dgm:pt modelId="{A59AB9A6-AEE6-4610-AB66-E4B3C8FB1869}">
      <dgm:prSet phldrT="[テキスト]"/>
      <dgm:spPr/>
      <dgm:t>
        <a:bodyPr/>
        <a:lstStyle/>
        <a:p>
          <a:pPr>
            <a:buNone/>
          </a:pPr>
          <a:r>
            <a:rPr lang="ja-JP" altLang="en-US" b="1" i="0" dirty="0"/>
            <a:t>広告投下</a:t>
          </a:r>
          <a:br>
            <a:rPr lang="ja-JP" altLang="en-US" dirty="0"/>
          </a:br>
          <a:r>
            <a:rPr lang="en-US" altLang="ja-JP" b="1" i="0" dirty="0"/>
            <a:t>(</a:t>
          </a:r>
          <a:r>
            <a:rPr lang="en-US" b="1" i="0" dirty="0"/>
            <a:t>lag0)</a:t>
          </a:r>
          <a:endParaRPr kumimoji="1" lang="ja-JP" altLang="en-US" dirty="0"/>
        </a:p>
      </dgm:t>
    </dgm:pt>
    <dgm:pt modelId="{6EE1ED7D-7D4C-47B6-8BE7-CAC61F76426C}" type="parTrans" cxnId="{9E8066B1-CE72-471F-B67E-7E7B10422A52}">
      <dgm:prSet/>
      <dgm:spPr/>
      <dgm:t>
        <a:bodyPr/>
        <a:lstStyle/>
        <a:p>
          <a:endParaRPr kumimoji="1" lang="ja-JP" altLang="en-US"/>
        </a:p>
      </dgm:t>
    </dgm:pt>
    <dgm:pt modelId="{9B3D1727-FA57-41C2-9EBD-FA9F67B518A6}" type="sibTrans" cxnId="{9E8066B1-CE72-471F-B67E-7E7B10422A52}">
      <dgm:prSet/>
      <dgm:spPr/>
      <dgm:t>
        <a:bodyPr/>
        <a:lstStyle/>
        <a:p>
          <a:endParaRPr kumimoji="1" lang="ja-JP" altLang="en-US"/>
        </a:p>
      </dgm:t>
    </dgm:pt>
    <dgm:pt modelId="{DF01946E-3D65-48BC-8C5E-9BAA9D691DF9}">
      <dgm:prSet phldrT="[テキスト]"/>
      <dgm:spPr/>
      <dgm:t>
        <a:bodyPr/>
        <a:lstStyle/>
        <a:p>
          <a:pPr>
            <a:buNone/>
          </a:pPr>
          <a:r>
            <a:rPr lang="en-US" altLang="ja-JP" b="0" i="0" dirty="0"/>
            <a:t>2</a:t>
          </a:r>
          <a:r>
            <a:rPr lang="ja-JP" altLang="en-US" b="0" i="0" dirty="0"/>
            <a:t>週間後</a:t>
          </a:r>
          <a:br>
            <a:rPr lang="ja-JP" altLang="en-US" dirty="0"/>
          </a:br>
          <a:r>
            <a:rPr lang="en-US" altLang="ja-JP" b="0" i="0" dirty="0"/>
            <a:t>(</a:t>
          </a:r>
          <a:r>
            <a:rPr lang="en-US" b="0" i="0" dirty="0"/>
            <a:t>lag2)</a:t>
          </a:r>
          <a:endParaRPr kumimoji="1" lang="ja-JP" altLang="en-US" dirty="0"/>
        </a:p>
      </dgm:t>
    </dgm:pt>
    <dgm:pt modelId="{16DC769F-890E-4D19-83BF-EB12BB511002}" type="parTrans" cxnId="{ED93CE58-D38D-4710-8406-99E62C3B46A0}">
      <dgm:prSet/>
      <dgm:spPr/>
      <dgm:t>
        <a:bodyPr/>
        <a:lstStyle/>
        <a:p>
          <a:endParaRPr kumimoji="1" lang="ja-JP" altLang="en-US"/>
        </a:p>
      </dgm:t>
    </dgm:pt>
    <dgm:pt modelId="{209E9CFB-E5A4-4100-AF96-AF62D487A16F}" type="sibTrans" cxnId="{ED93CE58-D38D-4710-8406-99E62C3B46A0}">
      <dgm:prSet/>
      <dgm:spPr/>
      <dgm:t>
        <a:bodyPr/>
        <a:lstStyle/>
        <a:p>
          <a:endParaRPr kumimoji="1" lang="ja-JP" altLang="en-US"/>
        </a:p>
      </dgm:t>
    </dgm:pt>
    <dgm:pt modelId="{BF33C9C2-B35C-444C-9ED8-A15D3236AA3D}">
      <dgm:prSet phldrT="[テキスト]"/>
      <dgm:spPr/>
      <dgm:t>
        <a:bodyPr/>
        <a:lstStyle/>
        <a:p>
          <a:pPr>
            <a:buNone/>
          </a:pPr>
          <a:r>
            <a:rPr lang="en-US" altLang="ja-JP" b="1" i="0" dirty="0">
              <a:solidFill>
                <a:schemeClr val="accent1"/>
              </a:solidFill>
            </a:rPr>
            <a:t>3</a:t>
          </a:r>
          <a:r>
            <a:rPr lang="ja-JP" altLang="en-US" b="1" i="0" dirty="0">
              <a:solidFill>
                <a:schemeClr val="accent1"/>
              </a:solidFill>
            </a:rPr>
            <a:t>週間後</a:t>
          </a:r>
          <a:br>
            <a:rPr lang="ja-JP" altLang="en-US" dirty="0">
              <a:solidFill>
                <a:schemeClr val="accent1"/>
              </a:solidFill>
            </a:rPr>
          </a:br>
          <a:r>
            <a:rPr lang="ja-JP" altLang="en-US" b="1" i="0" dirty="0">
              <a:solidFill>
                <a:schemeClr val="accent1"/>
              </a:solidFill>
            </a:rPr>
            <a:t>購買ピーク</a:t>
          </a:r>
          <a:r>
            <a:rPr lang="en-US" altLang="ja-JP" b="1" i="0" dirty="0">
              <a:solidFill>
                <a:schemeClr val="accent1"/>
              </a:solidFill>
            </a:rPr>
            <a:t>(</a:t>
          </a:r>
          <a:r>
            <a:rPr lang="en-US" b="1" i="0" dirty="0">
              <a:solidFill>
                <a:schemeClr val="accent1"/>
              </a:solidFill>
            </a:rPr>
            <a:t>lag3)</a:t>
          </a:r>
          <a:endParaRPr kumimoji="1" lang="ja-JP" altLang="en-US" dirty="0">
            <a:solidFill>
              <a:schemeClr val="accent1"/>
            </a:solidFill>
          </a:endParaRPr>
        </a:p>
      </dgm:t>
    </dgm:pt>
    <dgm:pt modelId="{79AD83D9-355B-4C96-A0D9-B237EA0F4CC8}" type="parTrans" cxnId="{5C9D4584-9B2A-40D2-8C82-631885FFF37C}">
      <dgm:prSet/>
      <dgm:spPr/>
      <dgm:t>
        <a:bodyPr/>
        <a:lstStyle/>
        <a:p>
          <a:endParaRPr kumimoji="1" lang="ja-JP" altLang="en-US"/>
        </a:p>
      </dgm:t>
    </dgm:pt>
    <dgm:pt modelId="{3C90C433-5F72-4938-B09A-56E48F7D9253}" type="sibTrans" cxnId="{5C9D4584-9B2A-40D2-8C82-631885FFF37C}">
      <dgm:prSet/>
      <dgm:spPr/>
      <dgm:t>
        <a:bodyPr/>
        <a:lstStyle/>
        <a:p>
          <a:endParaRPr kumimoji="1" lang="ja-JP" altLang="en-US"/>
        </a:p>
      </dgm:t>
    </dgm:pt>
    <dgm:pt modelId="{EAF156BD-BA41-44A1-BC7F-B9A8C1841A21}">
      <dgm:prSet/>
      <dgm:spPr/>
      <dgm:t>
        <a:bodyPr/>
        <a:lstStyle/>
        <a:p>
          <a:endParaRPr kumimoji="1" lang="ja-JP" altLang="en-US"/>
        </a:p>
      </dgm:t>
    </dgm:pt>
    <dgm:pt modelId="{43C9CEE4-C9D7-45C6-8788-A11594080E87}" type="parTrans" cxnId="{7D25C389-8664-4D50-BA5D-05094999B4B4}">
      <dgm:prSet/>
      <dgm:spPr/>
      <dgm:t>
        <a:bodyPr/>
        <a:lstStyle/>
        <a:p>
          <a:endParaRPr kumimoji="1" lang="ja-JP" altLang="en-US"/>
        </a:p>
      </dgm:t>
    </dgm:pt>
    <dgm:pt modelId="{7C35A297-4A01-4D43-A0A5-49789173DAF9}" type="sibTrans" cxnId="{7D25C389-8664-4D50-BA5D-05094999B4B4}">
      <dgm:prSet/>
      <dgm:spPr/>
      <dgm:t>
        <a:bodyPr/>
        <a:lstStyle/>
        <a:p>
          <a:endParaRPr kumimoji="1" lang="ja-JP" altLang="en-US"/>
        </a:p>
      </dgm:t>
    </dgm:pt>
    <dgm:pt modelId="{E2C48AAC-B254-4C0C-81FE-28177517564D}" type="pres">
      <dgm:prSet presAssocID="{C809A13A-1D3B-4E7F-80A3-AE9CFC845238}" presName="Name0" presStyleCnt="0">
        <dgm:presLayoutVars>
          <dgm:dir/>
          <dgm:resizeHandles val="exact"/>
        </dgm:presLayoutVars>
      </dgm:prSet>
      <dgm:spPr/>
    </dgm:pt>
    <dgm:pt modelId="{7A97BDDE-2D02-470A-8CDE-483F64DF0EE1}" type="pres">
      <dgm:prSet presAssocID="{C809A13A-1D3B-4E7F-80A3-AE9CFC845238}" presName="arrow" presStyleLbl="bgShp" presStyleIdx="0" presStyleCnt="1"/>
      <dgm:spPr/>
    </dgm:pt>
    <dgm:pt modelId="{A7517BF8-069E-4F5C-B06E-42DF15B7567E}" type="pres">
      <dgm:prSet presAssocID="{C809A13A-1D3B-4E7F-80A3-AE9CFC845238}" presName="points" presStyleCnt="0"/>
      <dgm:spPr/>
    </dgm:pt>
    <dgm:pt modelId="{FEAE3B45-DD90-4CF7-BF34-EB6EEB2179F2}" type="pres">
      <dgm:prSet presAssocID="{A59AB9A6-AEE6-4610-AB66-E4B3C8FB1869}" presName="compositeA" presStyleCnt="0"/>
      <dgm:spPr/>
    </dgm:pt>
    <dgm:pt modelId="{FD2E5E32-9F46-4560-86BD-F4D01C0508D9}" type="pres">
      <dgm:prSet presAssocID="{A59AB9A6-AEE6-4610-AB66-E4B3C8FB1869}" presName="textA" presStyleLbl="revTx" presStyleIdx="0" presStyleCnt="4">
        <dgm:presLayoutVars>
          <dgm:bulletEnabled val="1"/>
        </dgm:presLayoutVars>
      </dgm:prSet>
      <dgm:spPr/>
    </dgm:pt>
    <dgm:pt modelId="{875DB8F8-A405-4710-AA25-F35B4BD07399}" type="pres">
      <dgm:prSet presAssocID="{A59AB9A6-AEE6-4610-AB66-E4B3C8FB1869}" presName="circleA" presStyleLbl="node1" presStyleIdx="0" presStyleCnt="4"/>
      <dgm:spPr/>
    </dgm:pt>
    <dgm:pt modelId="{0DF6C564-04D7-4ADA-8601-002C3400CA9E}" type="pres">
      <dgm:prSet presAssocID="{A59AB9A6-AEE6-4610-AB66-E4B3C8FB1869}" presName="spaceA" presStyleCnt="0"/>
      <dgm:spPr/>
    </dgm:pt>
    <dgm:pt modelId="{9E383F94-7A72-4AC9-BA3C-239DDA566EDD}" type="pres">
      <dgm:prSet presAssocID="{9B3D1727-FA57-41C2-9EBD-FA9F67B518A6}" presName="space" presStyleCnt="0"/>
      <dgm:spPr/>
    </dgm:pt>
    <dgm:pt modelId="{45FE9CFB-F480-46B9-9924-D4AA12CC87AA}" type="pres">
      <dgm:prSet presAssocID="{EAF156BD-BA41-44A1-BC7F-B9A8C1841A21}" presName="compositeB" presStyleCnt="0"/>
      <dgm:spPr/>
    </dgm:pt>
    <dgm:pt modelId="{E39C01C4-D7AE-42CE-A9DC-07CCA79B110C}" type="pres">
      <dgm:prSet presAssocID="{EAF156BD-BA41-44A1-BC7F-B9A8C1841A21}" presName="textB" presStyleLbl="revTx" presStyleIdx="1" presStyleCnt="4">
        <dgm:presLayoutVars>
          <dgm:bulletEnabled val="1"/>
        </dgm:presLayoutVars>
      </dgm:prSet>
      <dgm:spPr/>
    </dgm:pt>
    <dgm:pt modelId="{BD76AD41-E89B-4FF3-9EF3-41382512EC33}" type="pres">
      <dgm:prSet presAssocID="{EAF156BD-BA41-44A1-BC7F-B9A8C1841A21}" presName="circleB" presStyleLbl="node1" presStyleIdx="1" presStyleCnt="4"/>
      <dgm:spPr/>
    </dgm:pt>
    <dgm:pt modelId="{78AF51BF-82B2-4FA0-98AD-05E6A9AF4EC4}" type="pres">
      <dgm:prSet presAssocID="{EAF156BD-BA41-44A1-BC7F-B9A8C1841A21}" presName="spaceB" presStyleCnt="0"/>
      <dgm:spPr/>
    </dgm:pt>
    <dgm:pt modelId="{5C91DD70-187B-4812-A311-92A8C71C2A57}" type="pres">
      <dgm:prSet presAssocID="{7C35A297-4A01-4D43-A0A5-49789173DAF9}" presName="space" presStyleCnt="0"/>
      <dgm:spPr/>
    </dgm:pt>
    <dgm:pt modelId="{792F8EDD-50EF-4A17-8CE8-1742939E5358}" type="pres">
      <dgm:prSet presAssocID="{DF01946E-3D65-48BC-8C5E-9BAA9D691DF9}" presName="compositeA" presStyleCnt="0"/>
      <dgm:spPr/>
    </dgm:pt>
    <dgm:pt modelId="{ED828EE1-56F4-438C-B15B-F5ABB375B05C}" type="pres">
      <dgm:prSet presAssocID="{DF01946E-3D65-48BC-8C5E-9BAA9D691DF9}" presName="textA" presStyleLbl="revTx" presStyleIdx="2" presStyleCnt="4">
        <dgm:presLayoutVars>
          <dgm:bulletEnabled val="1"/>
        </dgm:presLayoutVars>
      </dgm:prSet>
      <dgm:spPr/>
    </dgm:pt>
    <dgm:pt modelId="{38B7B061-1DF8-4F10-A98D-2EE7F40F3E3D}" type="pres">
      <dgm:prSet presAssocID="{DF01946E-3D65-48BC-8C5E-9BAA9D691DF9}" presName="circleA" presStyleLbl="node1" presStyleIdx="2" presStyleCnt="4"/>
      <dgm:spPr/>
    </dgm:pt>
    <dgm:pt modelId="{5386C8F3-EFDC-4FA0-B6C3-058C64452495}" type="pres">
      <dgm:prSet presAssocID="{DF01946E-3D65-48BC-8C5E-9BAA9D691DF9}" presName="spaceA" presStyleCnt="0"/>
      <dgm:spPr/>
    </dgm:pt>
    <dgm:pt modelId="{64E6E99B-6A11-4DAB-94E5-9B3FFFABB3D7}" type="pres">
      <dgm:prSet presAssocID="{209E9CFB-E5A4-4100-AF96-AF62D487A16F}" presName="space" presStyleCnt="0"/>
      <dgm:spPr/>
    </dgm:pt>
    <dgm:pt modelId="{1553CEF3-DFB1-4182-8A49-F1D5371F499D}" type="pres">
      <dgm:prSet presAssocID="{BF33C9C2-B35C-444C-9ED8-A15D3236AA3D}" presName="compositeB" presStyleCnt="0"/>
      <dgm:spPr/>
    </dgm:pt>
    <dgm:pt modelId="{90764467-635F-4005-8F67-812AE9CB41A1}" type="pres">
      <dgm:prSet presAssocID="{BF33C9C2-B35C-444C-9ED8-A15D3236AA3D}" presName="textB" presStyleLbl="revTx" presStyleIdx="3" presStyleCnt="4" custLinFactY="-48503" custLinFactNeighborX="50" custLinFactNeighborY="-100000">
        <dgm:presLayoutVars>
          <dgm:bulletEnabled val="1"/>
        </dgm:presLayoutVars>
      </dgm:prSet>
      <dgm:spPr/>
    </dgm:pt>
    <dgm:pt modelId="{04D43E61-8729-4BFD-8E58-0D6E903582E5}" type="pres">
      <dgm:prSet presAssocID="{BF33C9C2-B35C-444C-9ED8-A15D3236AA3D}" presName="circleB" presStyleLbl="node1" presStyleIdx="3" presStyleCnt="4"/>
      <dgm:spPr/>
    </dgm:pt>
    <dgm:pt modelId="{35DC165D-DA91-403D-925A-EB6EBE361DAA}" type="pres">
      <dgm:prSet presAssocID="{BF33C9C2-B35C-444C-9ED8-A15D3236AA3D}" presName="spaceB" presStyleCnt="0"/>
      <dgm:spPr/>
    </dgm:pt>
  </dgm:ptLst>
  <dgm:cxnLst>
    <dgm:cxn modelId="{E28FD812-878F-4034-93FF-647C47B3C9D6}" type="presOf" srcId="{C809A13A-1D3B-4E7F-80A3-AE9CFC845238}" destId="{E2C48AAC-B254-4C0C-81FE-28177517564D}" srcOrd="0" destOrd="0" presId="urn:microsoft.com/office/officeart/2005/8/layout/hProcess11"/>
    <dgm:cxn modelId="{10F93E14-03B4-4204-8A5A-2C694D007564}" type="presOf" srcId="{DF01946E-3D65-48BC-8C5E-9BAA9D691DF9}" destId="{ED828EE1-56F4-438C-B15B-F5ABB375B05C}" srcOrd="0" destOrd="0" presId="urn:microsoft.com/office/officeart/2005/8/layout/hProcess11"/>
    <dgm:cxn modelId="{ED93CE58-D38D-4710-8406-99E62C3B46A0}" srcId="{C809A13A-1D3B-4E7F-80A3-AE9CFC845238}" destId="{DF01946E-3D65-48BC-8C5E-9BAA9D691DF9}" srcOrd="2" destOrd="0" parTransId="{16DC769F-890E-4D19-83BF-EB12BB511002}" sibTransId="{209E9CFB-E5A4-4100-AF96-AF62D487A16F}"/>
    <dgm:cxn modelId="{5C9D4584-9B2A-40D2-8C82-631885FFF37C}" srcId="{C809A13A-1D3B-4E7F-80A3-AE9CFC845238}" destId="{BF33C9C2-B35C-444C-9ED8-A15D3236AA3D}" srcOrd="3" destOrd="0" parTransId="{79AD83D9-355B-4C96-A0D9-B237EA0F4CC8}" sibTransId="{3C90C433-5F72-4938-B09A-56E48F7D9253}"/>
    <dgm:cxn modelId="{7D25C389-8664-4D50-BA5D-05094999B4B4}" srcId="{C809A13A-1D3B-4E7F-80A3-AE9CFC845238}" destId="{EAF156BD-BA41-44A1-BC7F-B9A8C1841A21}" srcOrd="1" destOrd="0" parTransId="{43C9CEE4-C9D7-45C6-8788-A11594080E87}" sibTransId="{7C35A297-4A01-4D43-A0A5-49789173DAF9}"/>
    <dgm:cxn modelId="{70BD6F9C-5C1F-4275-984F-C0323804AC3A}" type="presOf" srcId="{A59AB9A6-AEE6-4610-AB66-E4B3C8FB1869}" destId="{FD2E5E32-9F46-4560-86BD-F4D01C0508D9}" srcOrd="0" destOrd="0" presId="urn:microsoft.com/office/officeart/2005/8/layout/hProcess11"/>
    <dgm:cxn modelId="{C4AD12A4-642F-4385-91F8-2690F9E9DA71}" type="presOf" srcId="{EAF156BD-BA41-44A1-BC7F-B9A8C1841A21}" destId="{E39C01C4-D7AE-42CE-A9DC-07CCA79B110C}" srcOrd="0" destOrd="0" presId="urn:microsoft.com/office/officeart/2005/8/layout/hProcess11"/>
    <dgm:cxn modelId="{9E8066B1-CE72-471F-B67E-7E7B10422A52}" srcId="{C809A13A-1D3B-4E7F-80A3-AE9CFC845238}" destId="{A59AB9A6-AEE6-4610-AB66-E4B3C8FB1869}" srcOrd="0" destOrd="0" parTransId="{6EE1ED7D-7D4C-47B6-8BE7-CAC61F76426C}" sibTransId="{9B3D1727-FA57-41C2-9EBD-FA9F67B518A6}"/>
    <dgm:cxn modelId="{AF5FEBF3-1DBD-47BD-898D-E9D6697BD39F}" type="presOf" srcId="{BF33C9C2-B35C-444C-9ED8-A15D3236AA3D}" destId="{90764467-635F-4005-8F67-812AE9CB41A1}" srcOrd="0" destOrd="0" presId="urn:microsoft.com/office/officeart/2005/8/layout/hProcess11"/>
    <dgm:cxn modelId="{EC361C21-2A5D-4DCA-AB48-560C95667B68}" type="presParOf" srcId="{E2C48AAC-B254-4C0C-81FE-28177517564D}" destId="{7A97BDDE-2D02-470A-8CDE-483F64DF0EE1}" srcOrd="0" destOrd="0" presId="urn:microsoft.com/office/officeart/2005/8/layout/hProcess11"/>
    <dgm:cxn modelId="{D17FACD5-E524-4262-AE9B-9E196F9F1B30}" type="presParOf" srcId="{E2C48AAC-B254-4C0C-81FE-28177517564D}" destId="{A7517BF8-069E-4F5C-B06E-42DF15B7567E}" srcOrd="1" destOrd="0" presId="urn:microsoft.com/office/officeart/2005/8/layout/hProcess11"/>
    <dgm:cxn modelId="{D4D68053-BB9E-413D-9C1C-BD4A11BEAE34}" type="presParOf" srcId="{A7517BF8-069E-4F5C-B06E-42DF15B7567E}" destId="{FEAE3B45-DD90-4CF7-BF34-EB6EEB2179F2}" srcOrd="0" destOrd="0" presId="urn:microsoft.com/office/officeart/2005/8/layout/hProcess11"/>
    <dgm:cxn modelId="{8A38A17A-1951-4776-B89F-169E630B14DE}" type="presParOf" srcId="{FEAE3B45-DD90-4CF7-BF34-EB6EEB2179F2}" destId="{FD2E5E32-9F46-4560-86BD-F4D01C0508D9}" srcOrd="0" destOrd="0" presId="urn:microsoft.com/office/officeart/2005/8/layout/hProcess11"/>
    <dgm:cxn modelId="{0EC8AFDA-CEE2-484F-8613-26EF35864258}" type="presParOf" srcId="{FEAE3B45-DD90-4CF7-BF34-EB6EEB2179F2}" destId="{875DB8F8-A405-4710-AA25-F35B4BD07399}" srcOrd="1" destOrd="0" presId="urn:microsoft.com/office/officeart/2005/8/layout/hProcess11"/>
    <dgm:cxn modelId="{812FD57C-A6F3-4861-9D0B-C7E089219183}" type="presParOf" srcId="{FEAE3B45-DD90-4CF7-BF34-EB6EEB2179F2}" destId="{0DF6C564-04D7-4ADA-8601-002C3400CA9E}" srcOrd="2" destOrd="0" presId="urn:microsoft.com/office/officeart/2005/8/layout/hProcess11"/>
    <dgm:cxn modelId="{F543DC37-0B54-44AB-B8EA-705C469B2A9A}" type="presParOf" srcId="{A7517BF8-069E-4F5C-B06E-42DF15B7567E}" destId="{9E383F94-7A72-4AC9-BA3C-239DDA566EDD}" srcOrd="1" destOrd="0" presId="urn:microsoft.com/office/officeart/2005/8/layout/hProcess11"/>
    <dgm:cxn modelId="{9C610660-9EAF-4A30-A458-A1EFB5329091}" type="presParOf" srcId="{A7517BF8-069E-4F5C-B06E-42DF15B7567E}" destId="{45FE9CFB-F480-46B9-9924-D4AA12CC87AA}" srcOrd="2" destOrd="0" presId="urn:microsoft.com/office/officeart/2005/8/layout/hProcess11"/>
    <dgm:cxn modelId="{7FC250E6-8484-4086-8638-01781B226B61}" type="presParOf" srcId="{45FE9CFB-F480-46B9-9924-D4AA12CC87AA}" destId="{E39C01C4-D7AE-42CE-A9DC-07CCA79B110C}" srcOrd="0" destOrd="0" presId="urn:microsoft.com/office/officeart/2005/8/layout/hProcess11"/>
    <dgm:cxn modelId="{2129197D-9642-4D2A-9BA6-512D77E52DCD}" type="presParOf" srcId="{45FE9CFB-F480-46B9-9924-D4AA12CC87AA}" destId="{BD76AD41-E89B-4FF3-9EF3-41382512EC33}" srcOrd="1" destOrd="0" presId="urn:microsoft.com/office/officeart/2005/8/layout/hProcess11"/>
    <dgm:cxn modelId="{BDB9ACEA-E2BB-45ED-BB58-B73DDD7F08E2}" type="presParOf" srcId="{45FE9CFB-F480-46B9-9924-D4AA12CC87AA}" destId="{78AF51BF-82B2-4FA0-98AD-05E6A9AF4EC4}" srcOrd="2" destOrd="0" presId="urn:microsoft.com/office/officeart/2005/8/layout/hProcess11"/>
    <dgm:cxn modelId="{CAF6C4B8-5304-4E18-A919-FF0412DC8BF6}" type="presParOf" srcId="{A7517BF8-069E-4F5C-B06E-42DF15B7567E}" destId="{5C91DD70-187B-4812-A311-92A8C71C2A57}" srcOrd="3" destOrd="0" presId="urn:microsoft.com/office/officeart/2005/8/layout/hProcess11"/>
    <dgm:cxn modelId="{9DA6210A-CDE2-4384-B577-5316DD4E8908}" type="presParOf" srcId="{A7517BF8-069E-4F5C-B06E-42DF15B7567E}" destId="{792F8EDD-50EF-4A17-8CE8-1742939E5358}" srcOrd="4" destOrd="0" presId="urn:microsoft.com/office/officeart/2005/8/layout/hProcess11"/>
    <dgm:cxn modelId="{B7CE56F2-6F0E-4867-8E51-1F703C09F794}" type="presParOf" srcId="{792F8EDD-50EF-4A17-8CE8-1742939E5358}" destId="{ED828EE1-56F4-438C-B15B-F5ABB375B05C}" srcOrd="0" destOrd="0" presId="urn:microsoft.com/office/officeart/2005/8/layout/hProcess11"/>
    <dgm:cxn modelId="{0E72B7E6-D674-4746-BBCA-0F3D3145B9E6}" type="presParOf" srcId="{792F8EDD-50EF-4A17-8CE8-1742939E5358}" destId="{38B7B061-1DF8-4F10-A98D-2EE7F40F3E3D}" srcOrd="1" destOrd="0" presId="urn:microsoft.com/office/officeart/2005/8/layout/hProcess11"/>
    <dgm:cxn modelId="{CF9862FF-5751-43CF-8C9F-2545C434C0E8}" type="presParOf" srcId="{792F8EDD-50EF-4A17-8CE8-1742939E5358}" destId="{5386C8F3-EFDC-4FA0-B6C3-058C64452495}" srcOrd="2" destOrd="0" presId="urn:microsoft.com/office/officeart/2005/8/layout/hProcess11"/>
    <dgm:cxn modelId="{9FDDCCC5-DC54-4BFE-B754-0293D28712B3}" type="presParOf" srcId="{A7517BF8-069E-4F5C-B06E-42DF15B7567E}" destId="{64E6E99B-6A11-4DAB-94E5-9B3FFFABB3D7}" srcOrd="5" destOrd="0" presId="urn:microsoft.com/office/officeart/2005/8/layout/hProcess11"/>
    <dgm:cxn modelId="{32335162-C0BD-4085-A590-BCC60CC00B8A}" type="presParOf" srcId="{A7517BF8-069E-4F5C-B06E-42DF15B7567E}" destId="{1553CEF3-DFB1-4182-8A49-F1D5371F499D}" srcOrd="6" destOrd="0" presId="urn:microsoft.com/office/officeart/2005/8/layout/hProcess11"/>
    <dgm:cxn modelId="{36C96FF0-5339-4EF6-926F-CC9312D1A7AD}" type="presParOf" srcId="{1553CEF3-DFB1-4182-8A49-F1D5371F499D}" destId="{90764467-635F-4005-8F67-812AE9CB41A1}" srcOrd="0" destOrd="0" presId="urn:microsoft.com/office/officeart/2005/8/layout/hProcess11"/>
    <dgm:cxn modelId="{8B36D247-BB2B-4555-A923-74EA42C197A7}" type="presParOf" srcId="{1553CEF3-DFB1-4182-8A49-F1D5371F499D}" destId="{04D43E61-8729-4BFD-8E58-0D6E903582E5}" srcOrd="1" destOrd="0" presId="urn:microsoft.com/office/officeart/2005/8/layout/hProcess11"/>
    <dgm:cxn modelId="{37606E08-01D9-4C9B-BE5B-688EA3B68450}" type="presParOf" srcId="{1553CEF3-DFB1-4182-8A49-F1D5371F499D}" destId="{35DC165D-DA91-403D-925A-EB6EBE361DAA}"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606E5EC-CC74-4F25-8D9E-00375E9B0802}" type="doc">
      <dgm:prSet loTypeId="urn:microsoft.com/office/officeart/2005/8/layout/cycle3" loCatId="cycle" qsTypeId="urn:microsoft.com/office/officeart/2005/8/quickstyle/simple3" qsCatId="simple" csTypeId="urn:microsoft.com/office/officeart/2005/8/colors/accent1_1" csCatId="accent1" phldr="1"/>
      <dgm:spPr/>
      <dgm:t>
        <a:bodyPr/>
        <a:lstStyle/>
        <a:p>
          <a:endParaRPr kumimoji="1" lang="ja-JP" altLang="en-US"/>
        </a:p>
      </dgm:t>
    </dgm:pt>
    <dgm:pt modelId="{4C9A2AFC-8719-4C96-B844-74A110B0F3DB}">
      <dgm:prSet phldrT="[テキスト]" custT="1">
        <dgm:style>
          <a:lnRef idx="2">
            <a:schemeClr val="accent1"/>
          </a:lnRef>
          <a:fillRef idx="1">
            <a:schemeClr val="lt1"/>
          </a:fillRef>
          <a:effectRef idx="0">
            <a:schemeClr val="accent1"/>
          </a:effectRef>
          <a:fontRef idx="minor">
            <a:schemeClr val="dk1"/>
          </a:fontRef>
        </dgm:style>
      </dgm:prSet>
      <dgm:spPr>
        <a:ln w="38100">
          <a:solidFill>
            <a:srgbClr val="0070C0"/>
          </a:solidFill>
        </a:ln>
      </dgm:spPr>
      <dgm:t>
        <a:bodyPr/>
        <a:lstStyle/>
        <a:p>
          <a:pPr algn="l">
            <a:buNone/>
          </a:pPr>
          <a:r>
            <a:rPr lang="en-US" sz="1600" b="1" i="0" dirty="0"/>
            <a:t>       1. PI</a:t>
          </a:r>
          <a:r>
            <a:rPr lang="ja-JP" altLang="en-US" sz="1600" b="1" i="0" dirty="0"/>
            <a:t>による評価</a:t>
          </a:r>
        </a:p>
        <a:p>
          <a:pPr algn="l">
            <a:buNone/>
          </a:pPr>
          <a:r>
            <a:rPr lang="en-US" sz="1200" b="1" i="0" dirty="0">
              <a:solidFill>
                <a:srgbClr val="0070C0"/>
              </a:solidFill>
            </a:rPr>
            <a:t>Permutation Importance</a:t>
          </a:r>
        </a:p>
        <a:p>
          <a:pPr algn="l">
            <a:buNone/>
          </a:pPr>
          <a:r>
            <a:rPr lang="ja-JP" altLang="en-US" sz="1200" b="0" i="0" dirty="0"/>
            <a:t>学習済みモデルに対し、各特徴量の予測精度への寄与度を計測。</a:t>
          </a:r>
          <a:endParaRPr kumimoji="1" lang="ja-JP" altLang="en-US" sz="1200" dirty="0"/>
        </a:p>
      </dgm:t>
    </dgm:pt>
    <dgm:pt modelId="{CD3EA87A-1C43-4C4F-AC91-E22493114973}" type="parTrans" cxnId="{0CFC087D-4A44-4D37-AF9D-5227C9062DC7}">
      <dgm:prSet/>
      <dgm:spPr/>
      <dgm:t>
        <a:bodyPr/>
        <a:lstStyle/>
        <a:p>
          <a:endParaRPr kumimoji="1" lang="ja-JP" altLang="en-US"/>
        </a:p>
      </dgm:t>
    </dgm:pt>
    <dgm:pt modelId="{878D9987-B9D2-41BB-B9A7-11D28F0163D1}" type="sibTrans" cxnId="{0CFC087D-4A44-4D37-AF9D-5227C9062DC7}">
      <dgm:prSet/>
      <dgm:spPr/>
      <dgm:t>
        <a:bodyPr/>
        <a:lstStyle/>
        <a:p>
          <a:endParaRPr kumimoji="1" lang="ja-JP" altLang="en-US"/>
        </a:p>
      </dgm:t>
    </dgm:pt>
    <dgm:pt modelId="{5D25F3A4-C851-46F4-BD09-B5F14CC2032D}">
      <dgm:prSet phldrT="[テキスト]" custT="1">
        <dgm:style>
          <a:lnRef idx="2">
            <a:schemeClr val="accent2"/>
          </a:lnRef>
          <a:fillRef idx="1">
            <a:schemeClr val="lt1"/>
          </a:fillRef>
          <a:effectRef idx="0">
            <a:schemeClr val="accent2"/>
          </a:effectRef>
          <a:fontRef idx="minor">
            <a:schemeClr val="dk1"/>
          </a:fontRef>
        </dgm:style>
      </dgm:prSet>
      <dgm:spPr>
        <a:ln w="38100"/>
      </dgm:spPr>
      <dgm:t>
        <a:bodyPr/>
        <a:lstStyle/>
        <a:p>
          <a:pPr algn="l">
            <a:buNone/>
          </a:pPr>
          <a:r>
            <a:rPr lang="en-US" altLang="ja-JP" sz="1600" b="1" i="0" dirty="0"/>
            <a:t>      2. </a:t>
          </a:r>
          <a:r>
            <a:rPr lang="ja-JP" altLang="en-US" sz="1600" b="1" i="0" dirty="0"/>
            <a:t>ノイズの排除</a:t>
          </a:r>
        </a:p>
        <a:p>
          <a:pPr algn="l">
            <a:buNone/>
          </a:pPr>
          <a:r>
            <a:rPr lang="en-US" sz="1200" b="1" i="0" dirty="0">
              <a:solidFill>
                <a:schemeClr val="accent2"/>
              </a:solidFill>
            </a:rPr>
            <a:t>Remove Negative PI</a:t>
          </a:r>
        </a:p>
        <a:p>
          <a:pPr algn="l">
            <a:buNone/>
          </a:pPr>
          <a:r>
            <a:rPr lang="en-US" altLang="ja-JP" sz="1200" b="0" i="0" dirty="0"/>
            <a:t>PI</a:t>
          </a:r>
          <a:r>
            <a:rPr lang="ja-JP" altLang="en-US" sz="1200" b="0" i="0" dirty="0"/>
            <a:t>値がマイナス（＝予測を阻害）となった特徴量を段階的に削除。</a:t>
          </a:r>
          <a:endParaRPr kumimoji="1" lang="ja-JP" altLang="en-US" sz="1200" dirty="0"/>
        </a:p>
      </dgm:t>
    </dgm:pt>
    <dgm:pt modelId="{AC2F2C2D-7922-48CE-BA7D-5C424636C4F9}" type="parTrans" cxnId="{A788CF9B-4E15-4115-B875-2CD4099CB8A0}">
      <dgm:prSet/>
      <dgm:spPr/>
      <dgm:t>
        <a:bodyPr/>
        <a:lstStyle/>
        <a:p>
          <a:endParaRPr kumimoji="1" lang="ja-JP" altLang="en-US"/>
        </a:p>
      </dgm:t>
    </dgm:pt>
    <dgm:pt modelId="{99D5A60A-8641-421A-9C36-90669E41054D}" type="sibTrans" cxnId="{A788CF9B-4E15-4115-B875-2CD4099CB8A0}">
      <dgm:prSet/>
      <dgm:spPr/>
      <dgm:t>
        <a:bodyPr/>
        <a:lstStyle/>
        <a:p>
          <a:endParaRPr kumimoji="1" lang="ja-JP" altLang="en-US"/>
        </a:p>
      </dgm:t>
    </dgm:pt>
    <dgm:pt modelId="{455F0334-8BAE-4C28-8B4C-AAD19447201E}">
      <dgm:prSet phldrT="[テキスト]" custT="1">
        <dgm:style>
          <a:lnRef idx="2">
            <a:schemeClr val="accent6"/>
          </a:lnRef>
          <a:fillRef idx="1">
            <a:schemeClr val="lt1"/>
          </a:fillRef>
          <a:effectRef idx="0">
            <a:schemeClr val="accent6"/>
          </a:effectRef>
          <a:fontRef idx="minor">
            <a:schemeClr val="dk1"/>
          </a:fontRef>
        </dgm:style>
      </dgm:prSet>
      <dgm:spPr>
        <a:ln w="38100"/>
      </dgm:spPr>
      <dgm:t>
        <a:bodyPr/>
        <a:lstStyle/>
        <a:p>
          <a:pPr algn="l">
            <a:buNone/>
          </a:pPr>
          <a:r>
            <a:rPr lang="en-US" sz="1600" b="1" i="0" dirty="0"/>
            <a:t>     3. </a:t>
          </a:r>
          <a:r>
            <a:rPr lang="en-US" sz="1600" b="1" i="0" dirty="0" err="1"/>
            <a:t>Optuna</a:t>
          </a:r>
          <a:r>
            <a:rPr lang="ja-JP" altLang="en-US" sz="1600" b="1" i="0" dirty="0"/>
            <a:t>再学習</a:t>
          </a:r>
        </a:p>
        <a:p>
          <a:pPr algn="l">
            <a:buNone/>
          </a:pPr>
          <a:r>
            <a:rPr lang="en-US" sz="1200" b="1" i="0" dirty="0">
              <a:solidFill>
                <a:schemeClr val="accent6"/>
              </a:solidFill>
            </a:rPr>
            <a:t>Re-Optimization</a:t>
          </a:r>
        </a:p>
        <a:p>
          <a:pPr algn="l">
            <a:buNone/>
          </a:pPr>
          <a:r>
            <a:rPr lang="ja-JP" altLang="en-US" sz="1200" b="0" i="0" dirty="0"/>
            <a:t>絞り込まれた変数セットで、ハイパーパラメータを再最適化。</a:t>
          </a:r>
          <a:endParaRPr kumimoji="1" lang="ja-JP" altLang="en-US" sz="1200" dirty="0"/>
        </a:p>
      </dgm:t>
    </dgm:pt>
    <dgm:pt modelId="{E43AC489-5164-4876-8298-60ACE47DCA64}" type="parTrans" cxnId="{C3F212D7-CB28-4776-A58C-4539A01D22A4}">
      <dgm:prSet/>
      <dgm:spPr/>
      <dgm:t>
        <a:bodyPr/>
        <a:lstStyle/>
        <a:p>
          <a:endParaRPr kumimoji="1" lang="ja-JP" altLang="en-US"/>
        </a:p>
      </dgm:t>
    </dgm:pt>
    <dgm:pt modelId="{2F5D10A1-015E-4C70-96B3-669E4CA27259}" type="sibTrans" cxnId="{C3F212D7-CB28-4776-A58C-4539A01D22A4}">
      <dgm:prSet/>
      <dgm:spPr/>
      <dgm:t>
        <a:bodyPr/>
        <a:lstStyle/>
        <a:p>
          <a:endParaRPr kumimoji="1" lang="ja-JP" altLang="en-US"/>
        </a:p>
      </dgm:t>
    </dgm:pt>
    <dgm:pt modelId="{F26DA2BC-7777-478C-BBBD-EBB74B391284}" type="pres">
      <dgm:prSet presAssocID="{5606E5EC-CC74-4F25-8D9E-00375E9B0802}" presName="Name0" presStyleCnt="0">
        <dgm:presLayoutVars>
          <dgm:dir/>
          <dgm:resizeHandles val="exact"/>
        </dgm:presLayoutVars>
      </dgm:prSet>
      <dgm:spPr/>
    </dgm:pt>
    <dgm:pt modelId="{6C8DF0DF-EA9E-4F97-BCB4-5CB56F4E3671}" type="pres">
      <dgm:prSet presAssocID="{5606E5EC-CC74-4F25-8D9E-00375E9B0802}" presName="cycle" presStyleCnt="0"/>
      <dgm:spPr/>
    </dgm:pt>
    <dgm:pt modelId="{97493868-8674-4853-88E4-1C225AFC2AF0}" type="pres">
      <dgm:prSet presAssocID="{4C9A2AFC-8719-4C96-B844-74A110B0F3DB}" presName="nodeFirstNode" presStyleLbl="node1" presStyleIdx="0" presStyleCnt="3">
        <dgm:presLayoutVars>
          <dgm:bulletEnabled val="1"/>
        </dgm:presLayoutVars>
      </dgm:prSet>
      <dgm:spPr/>
    </dgm:pt>
    <dgm:pt modelId="{A7188F7E-9E2C-494F-ACC5-77F519B08376}" type="pres">
      <dgm:prSet presAssocID="{878D9987-B9D2-41BB-B9A7-11D28F0163D1}" presName="sibTransFirstNode" presStyleLbl="bgShp" presStyleIdx="0" presStyleCnt="1"/>
      <dgm:spPr/>
    </dgm:pt>
    <dgm:pt modelId="{CB76CD82-58E4-4D1E-BD7B-7D5B041E94B4}" type="pres">
      <dgm:prSet presAssocID="{5D25F3A4-C851-46F4-BD09-B5F14CC2032D}" presName="nodeFollowingNodes" presStyleLbl="node1" presStyleIdx="1" presStyleCnt="3">
        <dgm:presLayoutVars>
          <dgm:bulletEnabled val="1"/>
        </dgm:presLayoutVars>
      </dgm:prSet>
      <dgm:spPr/>
    </dgm:pt>
    <dgm:pt modelId="{513B50F0-8F1B-4C83-98F2-EDC0C6326ABA}" type="pres">
      <dgm:prSet presAssocID="{455F0334-8BAE-4C28-8B4C-AAD19447201E}" presName="nodeFollowingNodes" presStyleLbl="node1" presStyleIdx="2" presStyleCnt="3">
        <dgm:presLayoutVars>
          <dgm:bulletEnabled val="1"/>
        </dgm:presLayoutVars>
      </dgm:prSet>
      <dgm:spPr/>
    </dgm:pt>
  </dgm:ptLst>
  <dgm:cxnLst>
    <dgm:cxn modelId="{9285AB27-E00A-4A59-81A5-1E3EF22FFCC0}" type="presOf" srcId="{878D9987-B9D2-41BB-B9A7-11D28F0163D1}" destId="{A7188F7E-9E2C-494F-ACC5-77F519B08376}" srcOrd="0" destOrd="0" presId="urn:microsoft.com/office/officeart/2005/8/layout/cycle3"/>
    <dgm:cxn modelId="{AD01BE3D-244B-4DB1-BAC9-958E7CB65616}" type="presOf" srcId="{5606E5EC-CC74-4F25-8D9E-00375E9B0802}" destId="{F26DA2BC-7777-478C-BBBD-EBB74B391284}" srcOrd="0" destOrd="0" presId="urn:microsoft.com/office/officeart/2005/8/layout/cycle3"/>
    <dgm:cxn modelId="{676BFA64-9BAE-4120-92F2-7A4868B06D75}" type="presOf" srcId="{5D25F3A4-C851-46F4-BD09-B5F14CC2032D}" destId="{CB76CD82-58E4-4D1E-BD7B-7D5B041E94B4}" srcOrd="0" destOrd="0" presId="urn:microsoft.com/office/officeart/2005/8/layout/cycle3"/>
    <dgm:cxn modelId="{DC2AD652-2A1C-43C5-A16C-8FC931FDD039}" type="presOf" srcId="{4C9A2AFC-8719-4C96-B844-74A110B0F3DB}" destId="{97493868-8674-4853-88E4-1C225AFC2AF0}" srcOrd="0" destOrd="0" presId="urn:microsoft.com/office/officeart/2005/8/layout/cycle3"/>
    <dgm:cxn modelId="{0CFC087D-4A44-4D37-AF9D-5227C9062DC7}" srcId="{5606E5EC-CC74-4F25-8D9E-00375E9B0802}" destId="{4C9A2AFC-8719-4C96-B844-74A110B0F3DB}" srcOrd="0" destOrd="0" parTransId="{CD3EA87A-1C43-4C4F-AC91-E22493114973}" sibTransId="{878D9987-B9D2-41BB-B9A7-11D28F0163D1}"/>
    <dgm:cxn modelId="{A788CF9B-4E15-4115-B875-2CD4099CB8A0}" srcId="{5606E5EC-CC74-4F25-8D9E-00375E9B0802}" destId="{5D25F3A4-C851-46F4-BD09-B5F14CC2032D}" srcOrd="1" destOrd="0" parTransId="{AC2F2C2D-7922-48CE-BA7D-5C424636C4F9}" sibTransId="{99D5A60A-8641-421A-9C36-90669E41054D}"/>
    <dgm:cxn modelId="{364908D6-9B45-4ABD-AB75-D8A45992B8D9}" type="presOf" srcId="{455F0334-8BAE-4C28-8B4C-AAD19447201E}" destId="{513B50F0-8F1B-4C83-98F2-EDC0C6326ABA}" srcOrd="0" destOrd="0" presId="urn:microsoft.com/office/officeart/2005/8/layout/cycle3"/>
    <dgm:cxn modelId="{C3F212D7-CB28-4776-A58C-4539A01D22A4}" srcId="{5606E5EC-CC74-4F25-8D9E-00375E9B0802}" destId="{455F0334-8BAE-4C28-8B4C-AAD19447201E}" srcOrd="2" destOrd="0" parTransId="{E43AC489-5164-4876-8298-60ACE47DCA64}" sibTransId="{2F5D10A1-015E-4C70-96B3-669E4CA27259}"/>
    <dgm:cxn modelId="{FF4B8104-A32A-43D7-82A8-8A616FBBFAC7}" type="presParOf" srcId="{F26DA2BC-7777-478C-BBBD-EBB74B391284}" destId="{6C8DF0DF-EA9E-4F97-BCB4-5CB56F4E3671}" srcOrd="0" destOrd="0" presId="urn:microsoft.com/office/officeart/2005/8/layout/cycle3"/>
    <dgm:cxn modelId="{3D0319F0-115A-4072-A9E0-9C47259C31A8}" type="presParOf" srcId="{6C8DF0DF-EA9E-4F97-BCB4-5CB56F4E3671}" destId="{97493868-8674-4853-88E4-1C225AFC2AF0}" srcOrd="0" destOrd="0" presId="urn:microsoft.com/office/officeart/2005/8/layout/cycle3"/>
    <dgm:cxn modelId="{ECC3F4A1-5948-4E90-BF2D-EFAE5171BC20}" type="presParOf" srcId="{6C8DF0DF-EA9E-4F97-BCB4-5CB56F4E3671}" destId="{A7188F7E-9E2C-494F-ACC5-77F519B08376}" srcOrd="1" destOrd="0" presId="urn:microsoft.com/office/officeart/2005/8/layout/cycle3"/>
    <dgm:cxn modelId="{82861934-1171-4289-AB07-D9D2F001F88A}" type="presParOf" srcId="{6C8DF0DF-EA9E-4F97-BCB4-5CB56F4E3671}" destId="{CB76CD82-58E4-4D1E-BD7B-7D5B041E94B4}" srcOrd="2" destOrd="0" presId="urn:microsoft.com/office/officeart/2005/8/layout/cycle3"/>
    <dgm:cxn modelId="{041F857E-3E57-47D2-9278-0B3A517EB3D1}" type="presParOf" srcId="{6C8DF0DF-EA9E-4F97-BCB4-5CB56F4E3671}" destId="{513B50F0-8F1B-4C83-98F2-EDC0C6326ABA}" srcOrd="3"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626279-4ABF-412C-8A3F-030492724B0A}">
      <dsp:nvSpPr>
        <dsp:cNvPr id="0" name=""/>
        <dsp:cNvSpPr/>
      </dsp:nvSpPr>
      <dsp:spPr>
        <a:xfrm rot="16200000">
          <a:off x="-1659672" y="2541300"/>
          <a:ext cx="3950809" cy="5055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445865" bIns="0" numCol="1" spcCol="1270" anchor="t" anchorCtr="0">
          <a:noAutofit/>
        </a:bodyPr>
        <a:lstStyle/>
        <a:p>
          <a:pPr marL="0" lvl="0" indent="0" algn="r" defTabSz="1111250">
            <a:lnSpc>
              <a:spcPct val="90000"/>
            </a:lnSpc>
            <a:spcBef>
              <a:spcPct val="0"/>
            </a:spcBef>
            <a:spcAft>
              <a:spcPct val="35000"/>
            </a:spcAft>
            <a:buNone/>
          </a:pPr>
          <a:r>
            <a:rPr kumimoji="1" lang="en-US" altLang="ja-JP" sz="2500" b="1" kern="1200" dirty="0">
              <a:solidFill>
                <a:schemeClr val="bg1">
                  <a:lumMod val="65000"/>
                </a:schemeClr>
              </a:solidFill>
            </a:rPr>
            <a:t>01</a:t>
          </a:r>
          <a:endParaRPr kumimoji="1" lang="ja-JP" altLang="en-US" sz="2500" b="1" kern="1200" dirty="0">
            <a:solidFill>
              <a:schemeClr val="bg1">
                <a:lumMod val="65000"/>
              </a:schemeClr>
            </a:solidFill>
          </a:endParaRPr>
        </a:p>
      </dsp:txBody>
      <dsp:txXfrm>
        <a:off x="-1659672" y="2541300"/>
        <a:ext cx="3950809" cy="505547"/>
      </dsp:txXfrm>
    </dsp:sp>
    <dsp:sp modelId="{5AE83417-5BE7-4B0B-A362-61A61A2AEBAC}">
      <dsp:nvSpPr>
        <dsp:cNvPr id="0" name=""/>
        <dsp:cNvSpPr/>
      </dsp:nvSpPr>
      <dsp:spPr>
        <a:xfrm>
          <a:off x="568505" y="818669"/>
          <a:ext cx="2518161" cy="3950809"/>
        </a:xfrm>
        <a:prstGeom prst="rect">
          <a:avLst/>
        </a:prstGeom>
        <a:solidFill>
          <a:schemeClr val="lt1"/>
        </a:solidFill>
        <a:ln w="57150" cap="flat" cmpd="sng" algn="ctr">
          <a:solidFill>
            <a:schemeClr val="accent1"/>
          </a:solidFill>
          <a:prstDash val="solid"/>
          <a:miter lim="800000"/>
        </a:ln>
        <a:effectLst/>
        <a:scene3d>
          <a:camera prst="orthographicFront"/>
          <a:lightRig rig="flat" dir="t"/>
        </a:scene3d>
        <a:sp3d/>
      </dsp:spPr>
      <dsp:style>
        <a:lnRef idx="2">
          <a:schemeClr val="accent1"/>
        </a:lnRef>
        <a:fillRef idx="1">
          <a:schemeClr val="lt1"/>
        </a:fillRef>
        <a:effectRef idx="0">
          <a:schemeClr val="accent1"/>
        </a:effectRef>
        <a:fontRef idx="minor">
          <a:schemeClr val="dk1"/>
        </a:fontRef>
      </dsp:style>
      <dsp:txBody>
        <a:bodyPr spcFirstLastPara="0" vert="horz" wrap="square" lIns="113792" tIns="445865" rIns="113792" bIns="113792" numCol="1" spcCol="1270" anchor="t" anchorCtr="0">
          <a:noAutofit/>
        </a:bodyPr>
        <a:lstStyle/>
        <a:p>
          <a:pPr marL="171450" lvl="1" indent="-171450" algn="l" defTabSz="711200">
            <a:lnSpc>
              <a:spcPct val="90000"/>
            </a:lnSpc>
            <a:spcBef>
              <a:spcPct val="0"/>
            </a:spcBef>
            <a:spcAft>
              <a:spcPct val="15000"/>
            </a:spcAft>
            <a:buNone/>
          </a:pPr>
          <a:r>
            <a:rPr lang="ja-JP" altLang="en-US" sz="1600" b="1" i="0" kern="1200" dirty="0"/>
            <a:t>非構造化データの活用</a:t>
          </a:r>
          <a:endParaRPr kumimoji="1" lang="ja-JP" altLang="en-US" sz="1600" kern="1200" dirty="0"/>
        </a:p>
        <a:p>
          <a:pPr marL="171450" lvl="1" indent="-171450" algn="l" defTabSz="711200">
            <a:lnSpc>
              <a:spcPct val="90000"/>
            </a:lnSpc>
            <a:spcBef>
              <a:spcPct val="0"/>
            </a:spcBef>
            <a:spcAft>
              <a:spcPct val="15000"/>
            </a:spcAft>
            <a:buNone/>
          </a:pPr>
          <a:r>
            <a:rPr lang="ja-JP" altLang="en-US" sz="1600" b="1" i="0" kern="1200" dirty="0">
              <a:solidFill>
                <a:schemeClr val="accent1"/>
              </a:solidFill>
            </a:rPr>
            <a:t>（</a:t>
          </a:r>
          <a:r>
            <a:rPr lang="en-US" altLang="ja-JP" sz="1600" b="1" i="0" kern="1200" dirty="0">
              <a:solidFill>
                <a:schemeClr val="accent1"/>
              </a:solidFill>
            </a:rPr>
            <a:t>BERT</a:t>
          </a:r>
          <a:r>
            <a:rPr lang="ja-JP" altLang="en-US" sz="1600" b="1" i="0" kern="1200" dirty="0">
              <a:solidFill>
                <a:schemeClr val="accent1"/>
              </a:solidFill>
            </a:rPr>
            <a:t>特徴量）</a:t>
          </a:r>
          <a:endParaRPr kumimoji="1" lang="ja-JP" altLang="en-US" sz="1600" b="1" kern="1200" dirty="0">
            <a:solidFill>
              <a:schemeClr val="accent1"/>
            </a:solidFill>
          </a:endParaRPr>
        </a:p>
        <a:p>
          <a:pPr marL="114300" lvl="1" indent="-114300" algn="l" defTabSz="622300">
            <a:lnSpc>
              <a:spcPct val="90000"/>
            </a:lnSpc>
            <a:spcBef>
              <a:spcPct val="0"/>
            </a:spcBef>
            <a:spcAft>
              <a:spcPct val="15000"/>
            </a:spcAft>
            <a:buNone/>
          </a:pPr>
          <a:r>
            <a:rPr lang="ja-JP" altLang="en-US" sz="1400" b="0" i="0" kern="1200" dirty="0"/>
            <a:t>商品名というテキスト情報を</a:t>
          </a:r>
          <a:r>
            <a:rPr lang="en-US" altLang="ja-JP" sz="1400" b="0" i="0" kern="1200" dirty="0"/>
            <a:t>BERT</a:t>
          </a:r>
          <a:r>
            <a:rPr lang="ja-JP" altLang="en-US" sz="1400" b="0" i="0" kern="1200" dirty="0"/>
            <a:t>によって高次元ベクトル化し、カテゴリ分類だけでは捉えきれない商品の「意味的魅力」や「特徴」を精緻に反映した予測モデルを構築する。</a:t>
          </a:r>
          <a:endParaRPr kumimoji="1" lang="ja-JP" altLang="en-US" sz="1400" kern="1200" dirty="0"/>
        </a:p>
      </dsp:txBody>
      <dsp:txXfrm>
        <a:off x="568505" y="818669"/>
        <a:ext cx="2518161" cy="3950809"/>
      </dsp:txXfrm>
    </dsp:sp>
    <dsp:sp modelId="{A1B1C793-277F-40D0-9456-3B57C21D9564}">
      <dsp:nvSpPr>
        <dsp:cNvPr id="0" name=""/>
        <dsp:cNvSpPr/>
      </dsp:nvSpPr>
      <dsp:spPr>
        <a:xfrm>
          <a:off x="223580" y="295660"/>
          <a:ext cx="689849" cy="722467"/>
        </a:xfrm>
        <a:prstGeom prst="rect">
          <a:avLst/>
        </a:prstGeom>
        <a:blipFill>
          <a:blip xmlns:r="http://schemas.openxmlformats.org/officeDocument/2006/relationships" r:embed="rId1"/>
          <a:srcRect/>
          <a:stretch>
            <a:fillRect/>
          </a:stretch>
        </a:blipFill>
        <a:ln w="1270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72DBC38C-DC72-4D4C-A3C6-D7E4248942D5}">
      <dsp:nvSpPr>
        <dsp:cNvPr id="0" name=""/>
        <dsp:cNvSpPr/>
      </dsp:nvSpPr>
      <dsp:spPr>
        <a:xfrm rot="16200000">
          <a:off x="2023314" y="2534748"/>
          <a:ext cx="3950809" cy="5055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445865" bIns="0" numCol="1" spcCol="1270" anchor="t" anchorCtr="0">
          <a:noAutofit/>
        </a:bodyPr>
        <a:lstStyle/>
        <a:p>
          <a:pPr marL="0" lvl="0" indent="0" algn="r" defTabSz="1111250">
            <a:lnSpc>
              <a:spcPct val="90000"/>
            </a:lnSpc>
            <a:spcBef>
              <a:spcPct val="0"/>
            </a:spcBef>
            <a:spcAft>
              <a:spcPct val="35000"/>
            </a:spcAft>
            <a:buNone/>
          </a:pPr>
          <a:r>
            <a:rPr kumimoji="1" lang="en-US" altLang="ja-JP" sz="2500" b="1" kern="1200" dirty="0">
              <a:solidFill>
                <a:schemeClr val="bg1">
                  <a:lumMod val="65000"/>
                </a:schemeClr>
              </a:solidFill>
            </a:rPr>
            <a:t>02</a:t>
          </a:r>
          <a:endParaRPr kumimoji="1" lang="ja-JP" altLang="en-US" sz="2500" b="1" kern="1200" dirty="0">
            <a:solidFill>
              <a:schemeClr val="bg1">
                <a:lumMod val="65000"/>
              </a:schemeClr>
            </a:solidFill>
          </a:endParaRPr>
        </a:p>
      </dsp:txBody>
      <dsp:txXfrm>
        <a:off x="2023314" y="2534748"/>
        <a:ext cx="3950809" cy="505547"/>
      </dsp:txXfrm>
    </dsp:sp>
    <dsp:sp modelId="{E2596E71-86BB-48AA-8F50-D73329949267}">
      <dsp:nvSpPr>
        <dsp:cNvPr id="0" name=""/>
        <dsp:cNvSpPr/>
      </dsp:nvSpPr>
      <dsp:spPr>
        <a:xfrm>
          <a:off x="4251492" y="812117"/>
          <a:ext cx="2518161" cy="3950809"/>
        </a:xfrm>
        <a:prstGeom prst="rect">
          <a:avLst/>
        </a:prstGeom>
        <a:solidFill>
          <a:schemeClr val="lt1"/>
        </a:solidFill>
        <a:ln w="57150" cap="flat" cmpd="sng" algn="ctr">
          <a:solidFill>
            <a:schemeClr val="accent2"/>
          </a:solidFill>
          <a:prstDash val="solid"/>
          <a:miter lim="800000"/>
        </a:ln>
        <a:effectLst/>
        <a:scene3d>
          <a:camera prst="orthographicFront"/>
          <a:lightRig rig="flat" dir="t"/>
        </a:scene3d>
        <a:sp3d/>
      </dsp:spPr>
      <dsp:style>
        <a:lnRef idx="2">
          <a:schemeClr val="accent2"/>
        </a:lnRef>
        <a:fillRef idx="1">
          <a:schemeClr val="lt1"/>
        </a:fillRef>
        <a:effectRef idx="0">
          <a:schemeClr val="accent2"/>
        </a:effectRef>
        <a:fontRef idx="minor">
          <a:schemeClr val="dk1"/>
        </a:fontRef>
      </dsp:style>
      <dsp:txBody>
        <a:bodyPr spcFirstLastPara="0" vert="horz" wrap="square" lIns="113792" tIns="445865" rIns="113792" bIns="113792" numCol="1" spcCol="1270" anchor="t" anchorCtr="0">
          <a:noAutofit/>
        </a:bodyPr>
        <a:lstStyle/>
        <a:p>
          <a:pPr marL="171450" lvl="1" indent="-171450" algn="l" defTabSz="711200">
            <a:lnSpc>
              <a:spcPct val="90000"/>
            </a:lnSpc>
            <a:spcBef>
              <a:spcPct val="0"/>
            </a:spcBef>
            <a:spcAft>
              <a:spcPct val="15000"/>
            </a:spcAft>
            <a:buNone/>
          </a:pPr>
          <a:r>
            <a:rPr lang="ja-JP" altLang="en-US" sz="1600" b="1" i="0" kern="1200" dirty="0"/>
            <a:t>広告のラグ効果の検証</a:t>
          </a:r>
          <a:br>
            <a:rPr lang="ja-JP" altLang="en-US" sz="1600" b="1" i="0" kern="1200" dirty="0"/>
          </a:br>
          <a:r>
            <a:rPr lang="ja-JP" altLang="en-US" sz="1600" b="0" i="0" kern="1200" dirty="0"/>
            <a:t>（遅延効果の特定）</a:t>
          </a:r>
          <a:endParaRPr kumimoji="1" lang="ja-JP" altLang="en-US" sz="1600" kern="1200" dirty="0"/>
        </a:p>
        <a:p>
          <a:pPr marL="114300" lvl="1" indent="-114300" algn="l" defTabSz="622300">
            <a:lnSpc>
              <a:spcPct val="90000"/>
            </a:lnSpc>
            <a:spcBef>
              <a:spcPct val="0"/>
            </a:spcBef>
            <a:spcAft>
              <a:spcPct val="15000"/>
            </a:spcAft>
            <a:buNone/>
          </a:pPr>
          <a:r>
            <a:rPr lang="ja-JP" altLang="en-US" sz="1400" b="0" i="0" kern="1200" dirty="0"/>
            <a:t>広告投下当日だけでなく、</a:t>
          </a:r>
          <a:r>
            <a:rPr lang="en-US" altLang="ja-JP" sz="1400" b="0" i="0" kern="1200" dirty="0"/>
            <a:t>SNS</a:t>
          </a:r>
          <a:r>
            <a:rPr lang="ja-JP" altLang="en-US" sz="1400" b="0" i="0" kern="1200" dirty="0"/>
            <a:t>や</a:t>
          </a:r>
          <a:r>
            <a:rPr lang="en-US" altLang="ja-JP" sz="1400" b="0" i="0" kern="1200" dirty="0"/>
            <a:t>TV</a:t>
          </a:r>
          <a:r>
            <a:rPr lang="ja-JP" altLang="en-US" sz="1400" b="0" i="0" kern="1200" dirty="0"/>
            <a:t>放映が数日</a:t>
          </a:r>
          <a:r>
            <a:rPr lang="en-US" altLang="ja-JP" sz="1400" b="0" i="0" kern="1200" dirty="0"/>
            <a:t>〜</a:t>
          </a:r>
          <a:r>
            <a:rPr lang="ja-JP" altLang="en-US" sz="1400" b="0" i="0" kern="1200" dirty="0"/>
            <a:t>数週間にわたって需要を押し上げる「残効効果」をラグ変数として設計し、その影響度とタイムラグを定量的に分析する。</a:t>
          </a:r>
          <a:endParaRPr kumimoji="1" lang="ja-JP" altLang="en-US" sz="1400" kern="1200" dirty="0"/>
        </a:p>
      </dsp:txBody>
      <dsp:txXfrm>
        <a:off x="4251492" y="812117"/>
        <a:ext cx="2518161" cy="3950809"/>
      </dsp:txXfrm>
    </dsp:sp>
    <dsp:sp modelId="{CF83586F-47A5-43AD-B725-61078AA27B7A}">
      <dsp:nvSpPr>
        <dsp:cNvPr id="0" name=""/>
        <dsp:cNvSpPr/>
      </dsp:nvSpPr>
      <dsp:spPr>
        <a:xfrm>
          <a:off x="3893484" y="295660"/>
          <a:ext cx="716016" cy="709363"/>
        </a:xfrm>
        <a:prstGeom prst="rect">
          <a:avLst/>
        </a:prstGeom>
        <a:blipFill>
          <a:blip xmlns:r="http://schemas.openxmlformats.org/officeDocument/2006/relationships" r:embed="rId2"/>
          <a:srcRect/>
          <a:stretch>
            <a:fillRect/>
          </a:stretch>
        </a:blipFill>
        <a:ln w="1270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B8B898AF-0F57-4C25-B30E-F3DA32CA7B16}">
      <dsp:nvSpPr>
        <dsp:cNvPr id="0" name=""/>
        <dsp:cNvSpPr/>
      </dsp:nvSpPr>
      <dsp:spPr>
        <a:xfrm rot="16200000">
          <a:off x="5706302" y="2535648"/>
          <a:ext cx="3950809" cy="5055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445865" bIns="0" numCol="1" spcCol="1270" anchor="t" anchorCtr="0">
          <a:noAutofit/>
        </a:bodyPr>
        <a:lstStyle/>
        <a:p>
          <a:pPr marL="0" lvl="0" indent="0" algn="r" defTabSz="1111250">
            <a:lnSpc>
              <a:spcPct val="90000"/>
            </a:lnSpc>
            <a:spcBef>
              <a:spcPct val="0"/>
            </a:spcBef>
            <a:spcAft>
              <a:spcPct val="35000"/>
            </a:spcAft>
            <a:buNone/>
          </a:pPr>
          <a:r>
            <a:rPr kumimoji="1" lang="en-US" altLang="ja-JP" sz="2500" b="1" kern="1200" dirty="0">
              <a:solidFill>
                <a:schemeClr val="bg1">
                  <a:lumMod val="65000"/>
                </a:schemeClr>
              </a:solidFill>
            </a:rPr>
            <a:t>03</a:t>
          </a:r>
          <a:endParaRPr kumimoji="1" lang="ja-JP" altLang="en-US" sz="2500" b="1" kern="1200" dirty="0">
            <a:solidFill>
              <a:schemeClr val="bg1">
                <a:lumMod val="65000"/>
              </a:schemeClr>
            </a:solidFill>
          </a:endParaRPr>
        </a:p>
      </dsp:txBody>
      <dsp:txXfrm>
        <a:off x="5706302" y="2535648"/>
        <a:ext cx="3950809" cy="505547"/>
      </dsp:txXfrm>
    </dsp:sp>
    <dsp:sp modelId="{A99AF3EF-AE9E-4DFD-A80F-3C76FF9B949B}">
      <dsp:nvSpPr>
        <dsp:cNvPr id="0" name=""/>
        <dsp:cNvSpPr/>
      </dsp:nvSpPr>
      <dsp:spPr>
        <a:xfrm>
          <a:off x="7934480" y="813017"/>
          <a:ext cx="2518161" cy="3950809"/>
        </a:xfrm>
        <a:prstGeom prst="rect">
          <a:avLst/>
        </a:prstGeom>
        <a:solidFill>
          <a:schemeClr val="lt1"/>
        </a:solidFill>
        <a:ln w="57150" cap="flat" cmpd="sng" algn="ctr">
          <a:solidFill>
            <a:schemeClr val="accent1"/>
          </a:solidFill>
          <a:prstDash val="solid"/>
          <a:miter lim="800000"/>
        </a:ln>
        <a:effectLst/>
        <a:scene3d>
          <a:camera prst="orthographicFront"/>
          <a:lightRig rig="flat" dir="t"/>
        </a:scene3d>
        <a:sp3d/>
      </dsp:spPr>
      <dsp:style>
        <a:lnRef idx="2">
          <a:schemeClr val="accent1"/>
        </a:lnRef>
        <a:fillRef idx="1">
          <a:schemeClr val="lt1"/>
        </a:fillRef>
        <a:effectRef idx="0">
          <a:schemeClr val="accent1"/>
        </a:effectRef>
        <a:fontRef idx="minor">
          <a:schemeClr val="dk1"/>
        </a:fontRef>
      </dsp:style>
      <dsp:txBody>
        <a:bodyPr spcFirstLastPara="0" vert="horz" wrap="square" lIns="113792" tIns="445865" rIns="113792" bIns="113792" numCol="1" spcCol="1270" anchor="t" anchorCtr="0">
          <a:noAutofit/>
        </a:bodyPr>
        <a:lstStyle/>
        <a:p>
          <a:pPr marL="171450" lvl="1" indent="-171450" algn="l" defTabSz="711200">
            <a:lnSpc>
              <a:spcPct val="90000"/>
            </a:lnSpc>
            <a:spcBef>
              <a:spcPct val="0"/>
            </a:spcBef>
            <a:spcAft>
              <a:spcPct val="15000"/>
            </a:spcAft>
            <a:buNone/>
          </a:pPr>
          <a:r>
            <a:rPr lang="ja-JP" altLang="en-US" sz="1600" b="1" i="0" kern="1200" dirty="0"/>
            <a:t>アップリフト分析による</a:t>
          </a:r>
          <a:br>
            <a:rPr lang="ja-JP" altLang="en-US" sz="1600" b="1" i="0" kern="1200" dirty="0"/>
          </a:br>
          <a:r>
            <a:rPr lang="ja-JP" altLang="en-US" sz="1600" b="1" i="0" kern="1200" dirty="0">
              <a:solidFill>
                <a:schemeClr val="accent1"/>
              </a:solidFill>
            </a:rPr>
            <a:t>施策の意思決定支援</a:t>
          </a:r>
          <a:endParaRPr kumimoji="1" lang="ja-JP" altLang="en-US" sz="1600" b="1" kern="1200" dirty="0">
            <a:solidFill>
              <a:schemeClr val="accent1"/>
            </a:solidFill>
          </a:endParaRPr>
        </a:p>
        <a:p>
          <a:pPr marL="114300" lvl="1" indent="-114300" algn="l" defTabSz="622300">
            <a:lnSpc>
              <a:spcPct val="90000"/>
            </a:lnSpc>
            <a:spcBef>
              <a:spcPct val="0"/>
            </a:spcBef>
            <a:spcAft>
              <a:spcPct val="15000"/>
            </a:spcAft>
            <a:buNone/>
          </a:pPr>
          <a:r>
            <a:rPr lang="ja-JP" altLang="en-US" sz="1400" b="0" i="0" kern="1200" dirty="0"/>
            <a:t>構築したモデルを用い、広告を「実施した場合」と「しなかった場合」の反実仮想的な予測値を比較。どの商品群が高い反応（</a:t>
          </a:r>
          <a:r>
            <a:rPr lang="en-US" altLang="ja-JP" sz="1400" b="0" i="0" kern="1200" dirty="0"/>
            <a:t>Uplift</a:t>
          </a:r>
          <a:r>
            <a:rPr lang="ja-JP" altLang="en-US" sz="1400" b="0" i="0" kern="1200" dirty="0"/>
            <a:t>）を示すかを特定し、施策最適化に貢献する。</a:t>
          </a:r>
          <a:endParaRPr kumimoji="1" lang="ja-JP" altLang="en-US" sz="1400" kern="1200" dirty="0"/>
        </a:p>
      </dsp:txBody>
      <dsp:txXfrm>
        <a:off x="7934480" y="813017"/>
        <a:ext cx="2518161" cy="3950809"/>
      </dsp:txXfrm>
    </dsp:sp>
    <dsp:sp modelId="{D8B7540E-80FB-4BAC-B76F-B70A4080AACD}">
      <dsp:nvSpPr>
        <dsp:cNvPr id="0" name=""/>
        <dsp:cNvSpPr/>
      </dsp:nvSpPr>
      <dsp:spPr>
        <a:xfrm>
          <a:off x="7582619" y="295660"/>
          <a:ext cx="703721" cy="711163"/>
        </a:xfrm>
        <a:prstGeom prst="rect">
          <a:avLst/>
        </a:prstGeom>
        <a:blipFill>
          <a:blip xmlns:r="http://schemas.openxmlformats.org/officeDocument/2006/relationships" r:embed="rId3"/>
          <a:srcRect/>
          <a:stretch>
            <a:fillRect/>
          </a:stretch>
        </a:blipFill>
        <a:ln w="1270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39972B-D7C1-4CEA-8DD9-8BB8BD187C2A}">
      <dsp:nvSpPr>
        <dsp:cNvPr id="0" name=""/>
        <dsp:cNvSpPr/>
      </dsp:nvSpPr>
      <dsp:spPr>
        <a:xfrm>
          <a:off x="7" y="1050446"/>
          <a:ext cx="2871184" cy="3445421"/>
        </a:xfrm>
        <a:prstGeom prst="roundRect">
          <a:avLst>
            <a:gd name="adj" fmla="val 5000"/>
          </a:avLst>
        </a:prstGeom>
        <a:solidFill>
          <a:schemeClr val="lt1"/>
        </a:solidFill>
        <a:ln w="19050" cap="flat" cmpd="sng" algn="ctr">
          <a:solidFill>
            <a:schemeClr val="accent1"/>
          </a:solidFill>
          <a:prstDash val="solid"/>
          <a:miter lim="800000"/>
        </a:ln>
        <a:effectLst/>
        <a:scene3d>
          <a:camera prst="orthographicFront"/>
          <a:lightRig rig="flat" dir="t"/>
        </a:scene3d>
        <a:sp3d/>
      </dsp:spPr>
      <dsp:style>
        <a:lnRef idx="2">
          <a:schemeClr val="accent1"/>
        </a:lnRef>
        <a:fillRef idx="1">
          <a:schemeClr val="lt1"/>
        </a:fillRef>
        <a:effectRef idx="0">
          <a:schemeClr val="accent1"/>
        </a:effectRef>
        <a:fontRef idx="minor">
          <a:schemeClr val="dk1"/>
        </a:fontRef>
      </dsp:style>
      <dsp:txBody>
        <a:bodyPr spcFirstLastPara="0" vert="horz" wrap="square" lIns="0" tIns="37719" rIns="48895" bIns="0" numCol="1" spcCol="1270" anchor="t" anchorCtr="0">
          <a:noAutofit/>
        </a:bodyPr>
        <a:lstStyle/>
        <a:p>
          <a:pPr marL="0" lvl="0" indent="0" algn="r" defTabSz="488950">
            <a:lnSpc>
              <a:spcPct val="90000"/>
            </a:lnSpc>
            <a:spcBef>
              <a:spcPct val="0"/>
            </a:spcBef>
            <a:spcAft>
              <a:spcPct val="35000"/>
            </a:spcAft>
            <a:buNone/>
          </a:pPr>
          <a:r>
            <a:rPr kumimoji="1" lang="ja-JP" altLang="en-US" sz="1100" kern="1200" dirty="0"/>
            <a:t>　　　</a:t>
          </a:r>
          <a:endParaRPr kumimoji="1" lang="en-US" altLang="ja-JP" sz="1100" kern="1200" dirty="0"/>
        </a:p>
        <a:p>
          <a:pPr marL="0" lvl="0" indent="0" algn="r" defTabSz="488950">
            <a:lnSpc>
              <a:spcPct val="90000"/>
            </a:lnSpc>
            <a:spcBef>
              <a:spcPct val="0"/>
            </a:spcBef>
            <a:spcAft>
              <a:spcPct val="35000"/>
            </a:spcAft>
            <a:buNone/>
          </a:pPr>
          <a:endParaRPr kumimoji="1" lang="ja-JP" altLang="en-US" sz="1100" kern="1200" dirty="0"/>
        </a:p>
      </dsp:txBody>
      <dsp:txXfrm rot="16200000">
        <a:off x="-1125497" y="2175950"/>
        <a:ext cx="2825245" cy="574236"/>
      </dsp:txXfrm>
    </dsp:sp>
    <dsp:sp modelId="{A57FE531-C9FA-43ED-A8A5-BF48EC0B9A4F}">
      <dsp:nvSpPr>
        <dsp:cNvPr id="0" name=""/>
        <dsp:cNvSpPr/>
      </dsp:nvSpPr>
      <dsp:spPr>
        <a:xfrm>
          <a:off x="574244" y="1050446"/>
          <a:ext cx="2139032" cy="3445421"/>
        </a:xfrm>
        <a:prstGeom prst="rect">
          <a:avLst/>
        </a:prstGeom>
        <a:noFill/>
        <a:ln>
          <a:noFill/>
        </a:ln>
        <a:effectLst/>
        <a:scene3d>
          <a:camera prst="orthographicFront"/>
          <a:lightRig rig="flat" dir="t"/>
        </a:scene3d>
        <a:sp3d/>
      </dsp:spPr>
      <dsp:style>
        <a:lnRef idx="0">
          <a:scrgbClr r="0" g="0" b="0"/>
        </a:lnRef>
        <a:fillRef idx="2">
          <a:scrgbClr r="0" g="0" b="0"/>
        </a:fillRef>
        <a:effectRef idx="1">
          <a:scrgbClr r="0" g="0" b="0"/>
        </a:effectRef>
        <a:fontRef idx="minor">
          <a:schemeClr val="dk1"/>
        </a:fontRef>
      </dsp:style>
      <dsp:txBody>
        <a:bodyPr spcFirstLastPara="0" vert="horz" wrap="square" lIns="0" tIns="58293" rIns="0" bIns="0" numCol="1" spcCol="1270" anchor="t" anchorCtr="0">
          <a:noAutofit/>
        </a:bodyPr>
        <a:lstStyle/>
        <a:p>
          <a:pPr marL="0" lvl="0" indent="0" algn="l" defTabSz="755650">
            <a:lnSpc>
              <a:spcPct val="90000"/>
            </a:lnSpc>
            <a:spcBef>
              <a:spcPct val="0"/>
            </a:spcBef>
            <a:spcAft>
              <a:spcPct val="35000"/>
            </a:spcAft>
            <a:buNone/>
          </a:pPr>
          <a:endParaRPr kumimoji="1" lang="ja-JP" altLang="en-US" sz="1700" kern="1200" dirty="0"/>
        </a:p>
        <a:p>
          <a:pPr marL="0" lvl="0" indent="0" algn="l" defTabSz="755650">
            <a:lnSpc>
              <a:spcPct val="90000"/>
            </a:lnSpc>
            <a:spcBef>
              <a:spcPct val="0"/>
            </a:spcBef>
            <a:spcAft>
              <a:spcPct val="35000"/>
            </a:spcAft>
            <a:buNone/>
          </a:pPr>
          <a:endParaRPr lang="en-US" altLang="ja-JP" sz="1700" b="1" i="0" kern="1200" dirty="0"/>
        </a:p>
        <a:p>
          <a:pPr marL="0" lvl="0" indent="0" algn="l" defTabSz="755650">
            <a:lnSpc>
              <a:spcPct val="90000"/>
            </a:lnSpc>
            <a:spcBef>
              <a:spcPct val="0"/>
            </a:spcBef>
            <a:spcAft>
              <a:spcPct val="35000"/>
            </a:spcAft>
            <a:buNone/>
          </a:pPr>
          <a:endParaRPr lang="en-US" altLang="ja-JP" sz="1700" b="1" i="0" kern="1200" dirty="0"/>
        </a:p>
        <a:p>
          <a:pPr marL="0" lvl="0" indent="0" algn="l" defTabSz="755650">
            <a:lnSpc>
              <a:spcPct val="90000"/>
            </a:lnSpc>
            <a:spcBef>
              <a:spcPct val="0"/>
            </a:spcBef>
            <a:spcAft>
              <a:spcPct val="35000"/>
            </a:spcAft>
            <a:buNone/>
          </a:pPr>
          <a:endParaRPr lang="en-US" altLang="ja-JP" sz="1700" b="1" i="0" kern="1200" dirty="0"/>
        </a:p>
      </dsp:txBody>
      <dsp:txXfrm>
        <a:off x="574244" y="1050446"/>
        <a:ext cx="2139032" cy="3445421"/>
      </dsp:txXfrm>
    </dsp:sp>
    <dsp:sp modelId="{531634B0-6003-4C47-851F-8AAD0E5BD91E}">
      <dsp:nvSpPr>
        <dsp:cNvPr id="0" name=""/>
        <dsp:cNvSpPr/>
      </dsp:nvSpPr>
      <dsp:spPr>
        <a:xfrm>
          <a:off x="2976449" y="1043348"/>
          <a:ext cx="2871184" cy="3445421"/>
        </a:xfrm>
        <a:prstGeom prst="roundRect">
          <a:avLst>
            <a:gd name="adj" fmla="val 5000"/>
          </a:avLst>
        </a:prstGeom>
        <a:solidFill>
          <a:srgbClr val="FFF3EB"/>
        </a:solidFill>
        <a:ln w="38100" cap="flat" cmpd="sng" algn="ctr">
          <a:solidFill>
            <a:schemeClr val="accent2"/>
          </a:solidFill>
          <a:prstDash val="solid"/>
          <a:miter lim="800000"/>
        </a:ln>
        <a:effectLst/>
        <a:scene3d>
          <a:camera prst="orthographicFront"/>
          <a:lightRig rig="flat" dir="t"/>
        </a:scene3d>
        <a:sp3d/>
      </dsp:spPr>
      <dsp:style>
        <a:lnRef idx="1">
          <a:schemeClr val="accent2"/>
        </a:lnRef>
        <a:fillRef idx="2">
          <a:schemeClr val="accent2"/>
        </a:fillRef>
        <a:effectRef idx="1">
          <a:schemeClr val="accent2"/>
        </a:effectRef>
        <a:fontRef idx="minor">
          <a:schemeClr val="dk1"/>
        </a:fontRef>
      </dsp:style>
      <dsp:txBody>
        <a:bodyPr spcFirstLastPara="0" vert="horz" wrap="square" lIns="0" tIns="37719" rIns="48895" bIns="0" numCol="1" spcCol="1270" anchor="t" anchorCtr="0">
          <a:noAutofit/>
        </a:bodyPr>
        <a:lstStyle/>
        <a:p>
          <a:pPr marL="0" lvl="0" indent="0" algn="r" defTabSz="488950">
            <a:lnSpc>
              <a:spcPct val="90000"/>
            </a:lnSpc>
            <a:spcBef>
              <a:spcPct val="0"/>
            </a:spcBef>
            <a:spcAft>
              <a:spcPct val="35000"/>
            </a:spcAft>
            <a:buNone/>
          </a:pPr>
          <a:r>
            <a:rPr kumimoji="1" lang="en-US" altLang="ja-JP" sz="1100" kern="1200" dirty="0"/>
            <a:t>  </a:t>
          </a:r>
          <a:endParaRPr kumimoji="1" lang="ja-JP" altLang="en-US" sz="1100" kern="1200" dirty="0"/>
        </a:p>
      </dsp:txBody>
      <dsp:txXfrm rot="16200000">
        <a:off x="1850945" y="2168853"/>
        <a:ext cx="2825245" cy="574236"/>
      </dsp:txXfrm>
    </dsp:sp>
    <dsp:sp modelId="{FF279A00-F451-493B-9D4A-9985AB9E9717}">
      <dsp:nvSpPr>
        <dsp:cNvPr id="0" name=""/>
        <dsp:cNvSpPr/>
      </dsp:nvSpPr>
      <dsp:spPr>
        <a:xfrm rot="5400000">
          <a:off x="2688537" y="3738633"/>
          <a:ext cx="604535" cy="430677"/>
        </a:xfrm>
        <a:prstGeom prst="flowChartExtra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1270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0">
          <a:scrgbClr r="0" g="0" b="0"/>
        </a:effectRef>
        <a:fontRef idx="minor"/>
      </dsp:style>
    </dsp:sp>
    <dsp:sp modelId="{8802E771-1E85-4161-BA2D-F636707BDCAC}">
      <dsp:nvSpPr>
        <dsp:cNvPr id="0" name=""/>
        <dsp:cNvSpPr/>
      </dsp:nvSpPr>
      <dsp:spPr>
        <a:xfrm>
          <a:off x="3550686" y="1043348"/>
          <a:ext cx="2139032" cy="3445421"/>
        </a:xfrm>
        <a:prstGeom prst="rect">
          <a:avLst/>
        </a:prstGeom>
        <a:noFill/>
        <a:ln>
          <a:noFill/>
        </a:ln>
        <a:effectLst/>
        <a:scene3d>
          <a:camera prst="orthographicFront"/>
          <a:lightRig rig="flat" dir="t"/>
        </a:scene3d>
        <a:sp3d/>
      </dsp:spPr>
      <dsp:style>
        <a:lnRef idx="0">
          <a:scrgbClr r="0" g="0" b="0"/>
        </a:lnRef>
        <a:fillRef idx="2">
          <a:scrgbClr r="0" g="0" b="0"/>
        </a:fillRef>
        <a:effectRef idx="1">
          <a:scrgbClr r="0" g="0" b="0"/>
        </a:effectRef>
        <a:fontRef idx="minor">
          <a:schemeClr val="dk1"/>
        </a:fontRef>
      </dsp:style>
      <dsp:txBody>
        <a:bodyPr spcFirstLastPara="0" vert="horz" wrap="square" lIns="0" tIns="92583" rIns="0" bIns="0" numCol="1" spcCol="1270" anchor="t" anchorCtr="0">
          <a:noAutofit/>
        </a:bodyPr>
        <a:lstStyle/>
        <a:p>
          <a:pPr marL="0" lvl="0" indent="0" algn="l" defTabSz="1200150">
            <a:lnSpc>
              <a:spcPct val="90000"/>
            </a:lnSpc>
            <a:spcBef>
              <a:spcPct val="0"/>
            </a:spcBef>
            <a:spcAft>
              <a:spcPct val="35000"/>
            </a:spcAft>
            <a:buNone/>
          </a:pPr>
          <a:r>
            <a:rPr lang="en-US" sz="2700" b="1" i="0" kern="1200" dirty="0">
              <a:solidFill>
                <a:schemeClr val="accent1"/>
              </a:solidFill>
            </a:rPr>
            <a:t>Autoencoder</a:t>
          </a:r>
        </a:p>
        <a:p>
          <a:pPr marL="0" lvl="0" indent="0" algn="l" defTabSz="1200150">
            <a:lnSpc>
              <a:spcPct val="90000"/>
            </a:lnSpc>
            <a:spcBef>
              <a:spcPct val="0"/>
            </a:spcBef>
            <a:spcAft>
              <a:spcPct val="35000"/>
            </a:spcAft>
            <a:buNone/>
          </a:pPr>
          <a:r>
            <a:rPr lang="en-US" altLang="ja-JP" sz="1600" b="0" i="0" kern="1200" dirty="0"/>
            <a:t>BERT</a:t>
          </a:r>
          <a:r>
            <a:rPr lang="ja-JP" altLang="en-US" sz="1600" b="0" i="0" kern="1200" dirty="0"/>
            <a:t>ベクトル圧縮</a:t>
          </a:r>
          <a:endParaRPr kumimoji="1" lang="ja-JP" altLang="en-US" sz="1000" kern="1200" dirty="0">
            <a:solidFill>
              <a:schemeClr val="accent1"/>
            </a:solidFill>
          </a:endParaRPr>
        </a:p>
        <a:p>
          <a:pPr marL="0" lvl="0" indent="0" algn="l" defTabSz="889000">
            <a:lnSpc>
              <a:spcPct val="90000"/>
            </a:lnSpc>
            <a:spcBef>
              <a:spcPct val="0"/>
            </a:spcBef>
            <a:spcAft>
              <a:spcPct val="35000"/>
            </a:spcAft>
            <a:buNone/>
          </a:pPr>
          <a:endParaRPr lang="en-US" altLang="ja-JP" sz="2000" b="0" i="0" kern="1200" dirty="0"/>
        </a:p>
        <a:p>
          <a:pPr marL="0" lvl="0" indent="0" algn="l" defTabSz="889000">
            <a:lnSpc>
              <a:spcPct val="90000"/>
            </a:lnSpc>
            <a:spcBef>
              <a:spcPct val="0"/>
            </a:spcBef>
            <a:spcAft>
              <a:spcPct val="35000"/>
            </a:spcAft>
            <a:buNone/>
          </a:pPr>
          <a:endParaRPr lang="en-US" altLang="ja-JP" sz="2000" b="0" i="0" kern="1200" dirty="0"/>
        </a:p>
        <a:p>
          <a:pPr marL="0" lvl="0" indent="0" algn="l" defTabSz="889000">
            <a:lnSpc>
              <a:spcPct val="90000"/>
            </a:lnSpc>
            <a:spcBef>
              <a:spcPct val="0"/>
            </a:spcBef>
            <a:spcAft>
              <a:spcPct val="35000"/>
            </a:spcAft>
            <a:buNone/>
          </a:pPr>
          <a:r>
            <a:rPr lang="ja-JP" altLang="en-US" sz="2000" b="0" i="0" kern="1200" dirty="0"/>
            <a:t>過学習防止と</a:t>
          </a:r>
          <a:br>
            <a:rPr lang="ja-JP" altLang="en-US" sz="2000" b="0" i="0" kern="1200" dirty="0"/>
          </a:br>
          <a:r>
            <a:rPr lang="ja-JP" altLang="en-US" sz="2000" b="0" i="0" kern="1200" dirty="0"/>
            <a:t>計算効率化</a:t>
          </a:r>
        </a:p>
      </dsp:txBody>
      <dsp:txXfrm>
        <a:off x="3550686" y="1043348"/>
        <a:ext cx="2139032" cy="3445421"/>
      </dsp:txXfrm>
    </dsp:sp>
    <dsp:sp modelId="{37BE6D09-2CFB-4991-B9FC-70451BB187C1}">
      <dsp:nvSpPr>
        <dsp:cNvPr id="0" name=""/>
        <dsp:cNvSpPr/>
      </dsp:nvSpPr>
      <dsp:spPr>
        <a:xfrm>
          <a:off x="5948125" y="1043348"/>
          <a:ext cx="2871184" cy="3445421"/>
        </a:xfrm>
        <a:prstGeom prst="roundRect">
          <a:avLst>
            <a:gd name="adj" fmla="val 5000"/>
          </a:avLst>
        </a:prstGeom>
        <a:solidFill>
          <a:schemeClr val="lt1"/>
        </a:solidFill>
        <a:ln w="38100" cap="flat" cmpd="sng" algn="ctr">
          <a:solidFill>
            <a:schemeClr val="accent1"/>
          </a:solidFill>
          <a:prstDash val="solid"/>
          <a:miter lim="800000"/>
        </a:ln>
        <a:effectLst/>
        <a:scene3d>
          <a:camera prst="orthographicFront"/>
          <a:lightRig rig="flat" dir="t"/>
        </a:scene3d>
        <a:sp3d/>
      </dsp:spPr>
      <dsp:style>
        <a:lnRef idx="2">
          <a:schemeClr val="accent1"/>
        </a:lnRef>
        <a:fillRef idx="1">
          <a:schemeClr val="lt1"/>
        </a:fillRef>
        <a:effectRef idx="0">
          <a:schemeClr val="accent1"/>
        </a:effectRef>
        <a:fontRef idx="minor">
          <a:schemeClr val="dk1"/>
        </a:fontRef>
      </dsp:style>
      <dsp:txBody>
        <a:bodyPr spcFirstLastPara="0" vert="horz" wrap="square" lIns="0" tIns="37719" rIns="48895" bIns="0" numCol="1" spcCol="1270" anchor="t" anchorCtr="0">
          <a:noAutofit/>
        </a:bodyPr>
        <a:lstStyle/>
        <a:p>
          <a:pPr marL="0" lvl="0" indent="0" algn="r" defTabSz="488950">
            <a:lnSpc>
              <a:spcPct val="90000"/>
            </a:lnSpc>
            <a:spcBef>
              <a:spcPct val="0"/>
            </a:spcBef>
            <a:spcAft>
              <a:spcPct val="35000"/>
            </a:spcAft>
            <a:buNone/>
          </a:pPr>
          <a:r>
            <a:rPr kumimoji="1" lang="en-US" altLang="ja-JP" sz="1100" kern="1200" dirty="0"/>
            <a:t>  </a:t>
          </a:r>
          <a:endParaRPr kumimoji="1" lang="ja-JP" altLang="en-US" sz="1100" kern="1200" dirty="0"/>
        </a:p>
      </dsp:txBody>
      <dsp:txXfrm rot="16200000">
        <a:off x="4822621" y="2168853"/>
        <a:ext cx="2825245" cy="574236"/>
      </dsp:txXfrm>
    </dsp:sp>
    <dsp:sp modelId="{8E42C326-8621-4FB4-B5C3-EB9BCC686598}">
      <dsp:nvSpPr>
        <dsp:cNvPr id="0" name=""/>
        <dsp:cNvSpPr/>
      </dsp:nvSpPr>
      <dsp:spPr>
        <a:xfrm rot="5400000">
          <a:off x="5709221" y="3782716"/>
          <a:ext cx="506521" cy="430677"/>
        </a:xfrm>
        <a:prstGeom prst="flowChartExtra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1270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0">
          <a:scrgbClr r="0" g="0" b="0"/>
        </a:effectRef>
        <a:fontRef idx="minor"/>
      </dsp:style>
    </dsp:sp>
    <dsp:sp modelId="{345FAB93-EEF5-4773-BAD2-F4BC481A35B4}">
      <dsp:nvSpPr>
        <dsp:cNvPr id="0" name=""/>
        <dsp:cNvSpPr/>
      </dsp:nvSpPr>
      <dsp:spPr>
        <a:xfrm>
          <a:off x="6522362" y="1043348"/>
          <a:ext cx="2139032" cy="3445421"/>
        </a:xfrm>
        <a:prstGeom prst="rect">
          <a:avLst/>
        </a:prstGeom>
        <a:noFill/>
        <a:ln>
          <a:noFill/>
        </a:ln>
        <a:effectLst/>
        <a:scene3d>
          <a:camera prst="orthographicFront"/>
          <a:lightRig rig="flat" dir="t"/>
        </a:scene3d>
        <a:sp3d/>
      </dsp:spPr>
      <dsp:style>
        <a:lnRef idx="0">
          <a:scrgbClr r="0" g="0" b="0"/>
        </a:lnRef>
        <a:fillRef idx="2">
          <a:scrgbClr r="0" g="0" b="0"/>
        </a:fillRef>
        <a:effectRef idx="1">
          <a:scrgbClr r="0" g="0" b="0"/>
        </a:effectRef>
        <a:fontRef idx="minor">
          <a:schemeClr val="dk1"/>
        </a:fontRef>
      </dsp:style>
      <dsp:txBody>
        <a:bodyPr spcFirstLastPara="0" vert="horz" wrap="square" lIns="0" tIns="82296" rIns="0" bIns="0" numCol="1" spcCol="1270" anchor="t" anchorCtr="0">
          <a:noAutofit/>
        </a:bodyPr>
        <a:lstStyle/>
        <a:p>
          <a:pPr marL="0" lvl="0" indent="0" algn="l" defTabSz="1066800">
            <a:lnSpc>
              <a:spcPct val="90000"/>
            </a:lnSpc>
            <a:spcBef>
              <a:spcPct val="0"/>
            </a:spcBef>
            <a:spcAft>
              <a:spcPct val="35000"/>
            </a:spcAft>
            <a:buNone/>
          </a:pPr>
          <a:r>
            <a:rPr lang="en-US" sz="2400" b="1" i="0" kern="1200" dirty="0"/>
            <a:t>ANN </a:t>
          </a:r>
        </a:p>
        <a:p>
          <a:pPr marL="0" lvl="0" indent="0" algn="l" defTabSz="1066800">
            <a:lnSpc>
              <a:spcPct val="90000"/>
            </a:lnSpc>
            <a:spcBef>
              <a:spcPct val="0"/>
            </a:spcBef>
            <a:spcAft>
              <a:spcPct val="35000"/>
            </a:spcAft>
            <a:buNone/>
          </a:pPr>
          <a:endParaRPr kumimoji="1" lang="ja-JP" altLang="en-US" sz="1600" kern="1200" dirty="0"/>
        </a:p>
        <a:p>
          <a:pPr marL="0" lvl="0" indent="0" algn="l" defTabSz="711200">
            <a:lnSpc>
              <a:spcPct val="90000"/>
            </a:lnSpc>
            <a:spcBef>
              <a:spcPct val="0"/>
            </a:spcBef>
            <a:spcAft>
              <a:spcPct val="35000"/>
            </a:spcAft>
            <a:buNone/>
          </a:pPr>
          <a:r>
            <a:rPr lang="ja-JP" altLang="en-US" sz="1600" b="0" i="0" kern="1200" dirty="0"/>
            <a:t>非線形相互作用の学習</a:t>
          </a:r>
        </a:p>
        <a:p>
          <a:pPr marL="0" lvl="0" indent="0" algn="l" defTabSz="711200">
            <a:lnSpc>
              <a:spcPct val="90000"/>
            </a:lnSpc>
            <a:spcBef>
              <a:spcPct val="0"/>
            </a:spcBef>
            <a:spcAft>
              <a:spcPct val="35000"/>
            </a:spcAft>
            <a:buNone/>
          </a:pPr>
          <a:r>
            <a:rPr lang="en-US" sz="1600" b="0" i="0" kern="1200" dirty="0" err="1"/>
            <a:t>BatchNorm</a:t>
          </a:r>
          <a:r>
            <a:rPr lang="en-US" sz="1600" b="0" i="0" kern="1200" dirty="0"/>
            <a:t> / Dropout</a:t>
          </a:r>
        </a:p>
        <a:p>
          <a:pPr marL="0" lvl="0" indent="0" algn="l" defTabSz="711200">
            <a:lnSpc>
              <a:spcPct val="90000"/>
            </a:lnSpc>
            <a:spcBef>
              <a:spcPct val="0"/>
            </a:spcBef>
            <a:spcAft>
              <a:spcPct val="35000"/>
            </a:spcAft>
            <a:buNone/>
          </a:pPr>
          <a:r>
            <a:rPr lang="ja-JP" altLang="en-US" sz="1600" b="1" i="0" kern="1200" dirty="0"/>
            <a:t>探索パラメータ</a:t>
          </a:r>
          <a:r>
            <a:rPr lang="en-US" altLang="ja-JP" sz="1600" b="1" i="0" kern="1200" dirty="0"/>
            <a:t>:</a:t>
          </a:r>
        </a:p>
        <a:p>
          <a:pPr marL="0" lvl="0" indent="0" algn="l" defTabSz="622300">
            <a:lnSpc>
              <a:spcPct val="90000"/>
            </a:lnSpc>
            <a:spcBef>
              <a:spcPct val="0"/>
            </a:spcBef>
            <a:spcAft>
              <a:spcPct val="35000"/>
            </a:spcAft>
            <a:buFont typeface="Arial" panose="020B0604020202020204" pitchFamily="34" charset="0"/>
            <a:buNone/>
          </a:pPr>
          <a:r>
            <a:rPr lang="ja-JP" altLang="en-US" sz="1400" b="0" i="0" kern="1200" dirty="0"/>
            <a:t>学習率</a:t>
          </a:r>
        </a:p>
        <a:p>
          <a:pPr marL="0" lvl="0" indent="0" algn="l" defTabSz="622300">
            <a:lnSpc>
              <a:spcPct val="90000"/>
            </a:lnSpc>
            <a:spcBef>
              <a:spcPct val="0"/>
            </a:spcBef>
            <a:spcAft>
              <a:spcPct val="35000"/>
            </a:spcAft>
            <a:buFont typeface="Arial" panose="020B0604020202020204" pitchFamily="34" charset="0"/>
            <a:buNone/>
          </a:pPr>
          <a:r>
            <a:rPr lang="ja-JP" altLang="en-US" sz="1400" b="0" i="0" kern="1200" dirty="0"/>
            <a:t>層数・ユニット数</a:t>
          </a:r>
        </a:p>
        <a:p>
          <a:pPr marL="0" lvl="0" indent="0" algn="l" defTabSz="622300">
            <a:lnSpc>
              <a:spcPct val="90000"/>
            </a:lnSpc>
            <a:spcBef>
              <a:spcPct val="0"/>
            </a:spcBef>
            <a:spcAft>
              <a:spcPct val="35000"/>
            </a:spcAft>
            <a:buFont typeface="Arial" panose="020B0604020202020204" pitchFamily="34" charset="0"/>
            <a:buNone/>
          </a:pPr>
          <a:r>
            <a:rPr lang="en-US" sz="1400" b="0" i="0" kern="1200" dirty="0"/>
            <a:t>Dropout</a:t>
          </a:r>
          <a:r>
            <a:rPr lang="ja-JP" altLang="en-US" sz="1400" b="0" i="0" kern="1200" dirty="0"/>
            <a:t>率</a:t>
          </a:r>
        </a:p>
      </dsp:txBody>
      <dsp:txXfrm>
        <a:off x="6522362" y="1043348"/>
        <a:ext cx="2139032" cy="3445421"/>
      </dsp:txXfrm>
    </dsp:sp>
    <dsp:sp modelId="{4F69D514-3822-4404-BC66-47F4BF718869}">
      <dsp:nvSpPr>
        <dsp:cNvPr id="0" name=""/>
        <dsp:cNvSpPr/>
      </dsp:nvSpPr>
      <dsp:spPr>
        <a:xfrm>
          <a:off x="8919801" y="1043348"/>
          <a:ext cx="2871184" cy="3445421"/>
        </a:xfrm>
        <a:prstGeom prst="roundRect">
          <a:avLst>
            <a:gd name="adj" fmla="val 5000"/>
          </a:avLst>
        </a:prstGeom>
        <a:solidFill>
          <a:srgbClr val="CCFFCC"/>
        </a:solidFill>
        <a:ln w="38100" cap="flat" cmpd="sng" algn="ctr">
          <a:solidFill>
            <a:schemeClr val="accent3"/>
          </a:solidFill>
          <a:prstDash val="solid"/>
          <a:miter lim="800000"/>
        </a:ln>
        <a:effectLst/>
        <a:scene3d>
          <a:camera prst="orthographicFront"/>
          <a:lightRig rig="flat" dir="t"/>
        </a:scene3d>
        <a:sp3d/>
      </dsp:spPr>
      <dsp:style>
        <a:lnRef idx="1">
          <a:schemeClr val="accent6"/>
        </a:lnRef>
        <a:fillRef idx="2">
          <a:schemeClr val="accent6"/>
        </a:fillRef>
        <a:effectRef idx="1">
          <a:schemeClr val="accent6"/>
        </a:effectRef>
        <a:fontRef idx="minor">
          <a:schemeClr val="dk1"/>
        </a:fontRef>
      </dsp:style>
      <dsp:txBody>
        <a:bodyPr spcFirstLastPara="0" vert="horz" wrap="square" lIns="0" tIns="37719" rIns="48895" bIns="0" numCol="1" spcCol="1270" anchor="t" anchorCtr="0">
          <a:noAutofit/>
        </a:bodyPr>
        <a:lstStyle/>
        <a:p>
          <a:pPr marL="0" lvl="0" indent="0" algn="r" defTabSz="488950">
            <a:lnSpc>
              <a:spcPct val="90000"/>
            </a:lnSpc>
            <a:spcBef>
              <a:spcPct val="0"/>
            </a:spcBef>
            <a:spcAft>
              <a:spcPct val="35000"/>
            </a:spcAft>
            <a:buNone/>
          </a:pPr>
          <a:endParaRPr kumimoji="1" lang="ja-JP" altLang="en-US" sz="1100" kern="1200"/>
        </a:p>
      </dsp:txBody>
      <dsp:txXfrm rot="16200000">
        <a:off x="7794297" y="2168853"/>
        <a:ext cx="2825245" cy="574236"/>
      </dsp:txXfrm>
    </dsp:sp>
    <dsp:sp modelId="{4E5D8655-D8A6-46B4-ACBB-E5930DCC79B4}">
      <dsp:nvSpPr>
        <dsp:cNvPr id="0" name=""/>
        <dsp:cNvSpPr/>
      </dsp:nvSpPr>
      <dsp:spPr>
        <a:xfrm rot="5400000">
          <a:off x="8680897" y="3782716"/>
          <a:ext cx="506521" cy="430677"/>
        </a:xfrm>
        <a:prstGeom prst="flowChartExtra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1270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97BDDE-2D02-470A-8CDE-483F64DF0EE1}">
      <dsp:nvSpPr>
        <dsp:cNvPr id="0" name=""/>
        <dsp:cNvSpPr/>
      </dsp:nvSpPr>
      <dsp:spPr>
        <a:xfrm>
          <a:off x="0" y="452913"/>
          <a:ext cx="5801868" cy="603884"/>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FD2E5E32-9F46-4560-86BD-F4D01C0508D9}">
      <dsp:nvSpPr>
        <dsp:cNvPr id="0" name=""/>
        <dsp:cNvSpPr/>
      </dsp:nvSpPr>
      <dsp:spPr>
        <a:xfrm>
          <a:off x="2613" y="0"/>
          <a:ext cx="1256976" cy="6038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ja-JP" altLang="en-US" sz="1100" b="1" i="0" kern="1200" dirty="0"/>
            <a:t>広告投下</a:t>
          </a:r>
          <a:br>
            <a:rPr lang="ja-JP" altLang="en-US" sz="1100" kern="1200" dirty="0"/>
          </a:br>
          <a:r>
            <a:rPr lang="en-US" altLang="ja-JP" sz="1100" b="1" i="0" kern="1200" dirty="0"/>
            <a:t>(</a:t>
          </a:r>
          <a:r>
            <a:rPr lang="en-US" sz="1100" b="1" i="0" kern="1200" dirty="0"/>
            <a:t>lag0)</a:t>
          </a:r>
          <a:endParaRPr kumimoji="1" lang="ja-JP" altLang="en-US" sz="1100" kern="1200" dirty="0"/>
        </a:p>
      </dsp:txBody>
      <dsp:txXfrm>
        <a:off x="2613" y="0"/>
        <a:ext cx="1256976" cy="603884"/>
      </dsp:txXfrm>
    </dsp:sp>
    <dsp:sp modelId="{875DB8F8-A405-4710-AA25-F35B4BD07399}">
      <dsp:nvSpPr>
        <dsp:cNvPr id="0" name=""/>
        <dsp:cNvSpPr/>
      </dsp:nvSpPr>
      <dsp:spPr>
        <a:xfrm>
          <a:off x="555616" y="679369"/>
          <a:ext cx="150971" cy="150971"/>
        </a:xfrm>
        <a:prstGeom prst="ellips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E39C01C4-D7AE-42CE-A9DC-07CCA79B110C}">
      <dsp:nvSpPr>
        <dsp:cNvPr id="0" name=""/>
        <dsp:cNvSpPr/>
      </dsp:nvSpPr>
      <dsp:spPr>
        <a:xfrm>
          <a:off x="1322439" y="905826"/>
          <a:ext cx="1256976" cy="6038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a:lnSpc>
              <a:spcPct val="90000"/>
            </a:lnSpc>
            <a:spcBef>
              <a:spcPct val="0"/>
            </a:spcBef>
            <a:spcAft>
              <a:spcPct val="35000"/>
            </a:spcAft>
            <a:buNone/>
          </a:pPr>
          <a:endParaRPr kumimoji="1" lang="ja-JP" altLang="en-US" sz="1100" kern="1200"/>
        </a:p>
      </dsp:txBody>
      <dsp:txXfrm>
        <a:off x="1322439" y="905826"/>
        <a:ext cx="1256976" cy="603884"/>
      </dsp:txXfrm>
    </dsp:sp>
    <dsp:sp modelId="{BD76AD41-E89B-4FF3-9EF3-41382512EC33}">
      <dsp:nvSpPr>
        <dsp:cNvPr id="0" name=""/>
        <dsp:cNvSpPr/>
      </dsp:nvSpPr>
      <dsp:spPr>
        <a:xfrm>
          <a:off x="1875442" y="679369"/>
          <a:ext cx="150971" cy="150971"/>
        </a:xfrm>
        <a:prstGeom prst="ellips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ED828EE1-56F4-438C-B15B-F5ABB375B05C}">
      <dsp:nvSpPr>
        <dsp:cNvPr id="0" name=""/>
        <dsp:cNvSpPr/>
      </dsp:nvSpPr>
      <dsp:spPr>
        <a:xfrm>
          <a:off x="2642265" y="0"/>
          <a:ext cx="1256976" cy="6038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en-US" altLang="ja-JP" sz="1100" b="0" i="0" kern="1200" dirty="0"/>
            <a:t>2</a:t>
          </a:r>
          <a:r>
            <a:rPr lang="ja-JP" altLang="en-US" sz="1100" b="0" i="0" kern="1200" dirty="0"/>
            <a:t>週間後</a:t>
          </a:r>
          <a:br>
            <a:rPr lang="ja-JP" altLang="en-US" sz="1100" kern="1200" dirty="0"/>
          </a:br>
          <a:r>
            <a:rPr lang="en-US" altLang="ja-JP" sz="1100" b="0" i="0" kern="1200" dirty="0"/>
            <a:t>(</a:t>
          </a:r>
          <a:r>
            <a:rPr lang="en-US" sz="1100" b="0" i="0" kern="1200" dirty="0"/>
            <a:t>lag2)</a:t>
          </a:r>
          <a:endParaRPr kumimoji="1" lang="ja-JP" altLang="en-US" sz="1100" kern="1200" dirty="0"/>
        </a:p>
      </dsp:txBody>
      <dsp:txXfrm>
        <a:off x="2642265" y="0"/>
        <a:ext cx="1256976" cy="603884"/>
      </dsp:txXfrm>
    </dsp:sp>
    <dsp:sp modelId="{38B7B061-1DF8-4F10-A98D-2EE7F40F3E3D}">
      <dsp:nvSpPr>
        <dsp:cNvPr id="0" name=""/>
        <dsp:cNvSpPr/>
      </dsp:nvSpPr>
      <dsp:spPr>
        <a:xfrm>
          <a:off x="3195267" y="679369"/>
          <a:ext cx="150971" cy="150971"/>
        </a:xfrm>
        <a:prstGeom prst="ellips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90764467-635F-4005-8F67-812AE9CB41A1}">
      <dsp:nvSpPr>
        <dsp:cNvPr id="0" name=""/>
        <dsp:cNvSpPr/>
      </dsp:nvSpPr>
      <dsp:spPr>
        <a:xfrm>
          <a:off x="3962719" y="9040"/>
          <a:ext cx="1256976" cy="6038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88950">
            <a:lnSpc>
              <a:spcPct val="90000"/>
            </a:lnSpc>
            <a:spcBef>
              <a:spcPct val="0"/>
            </a:spcBef>
            <a:spcAft>
              <a:spcPct val="35000"/>
            </a:spcAft>
            <a:buNone/>
          </a:pPr>
          <a:r>
            <a:rPr lang="en-US" altLang="ja-JP" sz="1100" b="1" i="0" kern="1200" dirty="0">
              <a:solidFill>
                <a:schemeClr val="accent1"/>
              </a:solidFill>
            </a:rPr>
            <a:t>3</a:t>
          </a:r>
          <a:r>
            <a:rPr lang="ja-JP" altLang="en-US" sz="1100" b="1" i="0" kern="1200" dirty="0">
              <a:solidFill>
                <a:schemeClr val="accent1"/>
              </a:solidFill>
            </a:rPr>
            <a:t>週間後</a:t>
          </a:r>
          <a:br>
            <a:rPr lang="ja-JP" altLang="en-US" sz="1100" kern="1200" dirty="0">
              <a:solidFill>
                <a:schemeClr val="accent1"/>
              </a:solidFill>
            </a:rPr>
          </a:br>
          <a:r>
            <a:rPr lang="ja-JP" altLang="en-US" sz="1100" b="1" i="0" kern="1200" dirty="0">
              <a:solidFill>
                <a:schemeClr val="accent1"/>
              </a:solidFill>
            </a:rPr>
            <a:t>購買ピーク</a:t>
          </a:r>
          <a:r>
            <a:rPr lang="en-US" altLang="ja-JP" sz="1100" b="1" i="0" kern="1200" dirty="0">
              <a:solidFill>
                <a:schemeClr val="accent1"/>
              </a:solidFill>
            </a:rPr>
            <a:t>(</a:t>
          </a:r>
          <a:r>
            <a:rPr lang="en-US" sz="1100" b="1" i="0" kern="1200" dirty="0">
              <a:solidFill>
                <a:schemeClr val="accent1"/>
              </a:solidFill>
            </a:rPr>
            <a:t>lag3)</a:t>
          </a:r>
          <a:endParaRPr kumimoji="1" lang="ja-JP" altLang="en-US" sz="1100" kern="1200" dirty="0">
            <a:solidFill>
              <a:schemeClr val="accent1"/>
            </a:solidFill>
          </a:endParaRPr>
        </a:p>
      </dsp:txBody>
      <dsp:txXfrm>
        <a:off x="3962719" y="9040"/>
        <a:ext cx="1256976" cy="603884"/>
      </dsp:txXfrm>
    </dsp:sp>
    <dsp:sp modelId="{04D43E61-8729-4BFD-8E58-0D6E903582E5}">
      <dsp:nvSpPr>
        <dsp:cNvPr id="0" name=""/>
        <dsp:cNvSpPr/>
      </dsp:nvSpPr>
      <dsp:spPr>
        <a:xfrm>
          <a:off x="4515093" y="679369"/>
          <a:ext cx="150971" cy="150971"/>
        </a:xfrm>
        <a:prstGeom prst="ellips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188F7E-9E2C-494F-ACC5-77F519B08376}">
      <dsp:nvSpPr>
        <dsp:cNvPr id="0" name=""/>
        <dsp:cNvSpPr/>
      </dsp:nvSpPr>
      <dsp:spPr>
        <a:xfrm>
          <a:off x="898860" y="489307"/>
          <a:ext cx="3985011" cy="3985011"/>
        </a:xfrm>
        <a:prstGeom prst="circularArrow">
          <a:avLst>
            <a:gd name="adj1" fmla="val 5689"/>
            <a:gd name="adj2" fmla="val 340510"/>
            <a:gd name="adj3" fmla="val 12493003"/>
            <a:gd name="adj4" fmla="val 18219103"/>
            <a:gd name="adj5" fmla="val 5908"/>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 modelId="{97493868-8674-4853-88E4-1C225AFC2AF0}">
      <dsp:nvSpPr>
        <dsp:cNvPr id="0" name=""/>
        <dsp:cNvSpPr/>
      </dsp:nvSpPr>
      <dsp:spPr>
        <a:xfrm>
          <a:off x="1510626" y="697742"/>
          <a:ext cx="2761480" cy="1380740"/>
        </a:xfrm>
        <a:prstGeom prst="roundRect">
          <a:avLst/>
        </a:prstGeom>
        <a:solidFill>
          <a:schemeClr val="lt1"/>
        </a:solidFill>
        <a:ln w="38100" cap="flat" cmpd="sng" algn="ctr">
          <a:solidFill>
            <a:srgbClr val="0070C0"/>
          </a:solidFill>
          <a:prstDash val="solid"/>
          <a:miter lim="800000"/>
        </a:ln>
        <a:effectLst/>
        <a:scene3d>
          <a:camera prst="orthographicFront"/>
          <a:lightRig rig="flat" dir="t"/>
        </a:scene3d>
        <a:sp3d/>
      </dsp:spPr>
      <dsp:style>
        <a:lnRef idx="2">
          <a:schemeClr val="accent1"/>
        </a:lnRef>
        <a:fillRef idx="1">
          <a:schemeClr val="lt1"/>
        </a:fillRef>
        <a:effectRef idx="0">
          <a:schemeClr val="accent1"/>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i="0" kern="1200" dirty="0"/>
            <a:t>       1. PI</a:t>
          </a:r>
          <a:r>
            <a:rPr lang="ja-JP" altLang="en-US" sz="1600" b="1" i="0" kern="1200" dirty="0"/>
            <a:t>による評価</a:t>
          </a:r>
        </a:p>
        <a:p>
          <a:pPr marL="0" lvl="0" indent="0" algn="l" defTabSz="711200">
            <a:lnSpc>
              <a:spcPct val="90000"/>
            </a:lnSpc>
            <a:spcBef>
              <a:spcPct val="0"/>
            </a:spcBef>
            <a:spcAft>
              <a:spcPct val="35000"/>
            </a:spcAft>
            <a:buNone/>
          </a:pPr>
          <a:r>
            <a:rPr lang="en-US" sz="1200" b="1" i="0" kern="1200" dirty="0">
              <a:solidFill>
                <a:srgbClr val="0070C0"/>
              </a:solidFill>
            </a:rPr>
            <a:t>Permutation Importance</a:t>
          </a:r>
        </a:p>
        <a:p>
          <a:pPr marL="0" lvl="0" indent="0" algn="l" defTabSz="711200">
            <a:lnSpc>
              <a:spcPct val="90000"/>
            </a:lnSpc>
            <a:spcBef>
              <a:spcPct val="0"/>
            </a:spcBef>
            <a:spcAft>
              <a:spcPct val="35000"/>
            </a:spcAft>
            <a:buNone/>
          </a:pPr>
          <a:r>
            <a:rPr lang="ja-JP" altLang="en-US" sz="1200" b="0" i="0" kern="1200" dirty="0"/>
            <a:t>学習済みモデルに対し、各特徴量の予測精度への寄与度を計測。</a:t>
          </a:r>
          <a:endParaRPr kumimoji="1" lang="ja-JP" altLang="en-US" sz="1200" kern="1200" dirty="0"/>
        </a:p>
      </dsp:txBody>
      <dsp:txXfrm>
        <a:off x="1578028" y="765144"/>
        <a:ext cx="2626676" cy="1245936"/>
      </dsp:txXfrm>
    </dsp:sp>
    <dsp:sp modelId="{CB76CD82-58E4-4D1E-BD7B-7D5B041E94B4}">
      <dsp:nvSpPr>
        <dsp:cNvPr id="0" name=""/>
        <dsp:cNvSpPr/>
      </dsp:nvSpPr>
      <dsp:spPr>
        <a:xfrm>
          <a:off x="3020963" y="3313723"/>
          <a:ext cx="2761480" cy="1380740"/>
        </a:xfrm>
        <a:prstGeom prst="roundRect">
          <a:avLst/>
        </a:prstGeom>
        <a:solidFill>
          <a:schemeClr val="lt1"/>
        </a:solidFill>
        <a:ln w="38100" cap="flat" cmpd="sng" algn="ctr">
          <a:solidFill>
            <a:schemeClr val="accent2"/>
          </a:solidFill>
          <a:prstDash val="solid"/>
          <a:miter lim="800000"/>
        </a:ln>
        <a:effectLst/>
        <a:scene3d>
          <a:camera prst="orthographicFront"/>
          <a:lightRig rig="flat" dir="t"/>
        </a:scene3d>
        <a:sp3d/>
      </dsp:spPr>
      <dsp:style>
        <a:lnRef idx="2">
          <a:schemeClr val="accent2"/>
        </a:lnRef>
        <a:fillRef idx="1">
          <a:schemeClr val="lt1"/>
        </a:fillRef>
        <a:effectRef idx="0">
          <a:schemeClr val="accent2"/>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altLang="ja-JP" sz="1600" b="1" i="0" kern="1200" dirty="0"/>
            <a:t>      2. </a:t>
          </a:r>
          <a:r>
            <a:rPr lang="ja-JP" altLang="en-US" sz="1600" b="1" i="0" kern="1200" dirty="0"/>
            <a:t>ノイズの排除</a:t>
          </a:r>
        </a:p>
        <a:p>
          <a:pPr marL="0" lvl="0" indent="0" algn="l" defTabSz="711200">
            <a:lnSpc>
              <a:spcPct val="90000"/>
            </a:lnSpc>
            <a:spcBef>
              <a:spcPct val="0"/>
            </a:spcBef>
            <a:spcAft>
              <a:spcPct val="35000"/>
            </a:spcAft>
            <a:buNone/>
          </a:pPr>
          <a:r>
            <a:rPr lang="en-US" sz="1200" b="1" i="0" kern="1200" dirty="0">
              <a:solidFill>
                <a:schemeClr val="accent2"/>
              </a:solidFill>
            </a:rPr>
            <a:t>Remove Negative PI</a:t>
          </a:r>
        </a:p>
        <a:p>
          <a:pPr marL="0" lvl="0" indent="0" algn="l" defTabSz="711200">
            <a:lnSpc>
              <a:spcPct val="90000"/>
            </a:lnSpc>
            <a:spcBef>
              <a:spcPct val="0"/>
            </a:spcBef>
            <a:spcAft>
              <a:spcPct val="35000"/>
            </a:spcAft>
            <a:buNone/>
          </a:pPr>
          <a:r>
            <a:rPr lang="en-US" altLang="ja-JP" sz="1200" b="0" i="0" kern="1200" dirty="0"/>
            <a:t>PI</a:t>
          </a:r>
          <a:r>
            <a:rPr lang="ja-JP" altLang="en-US" sz="1200" b="0" i="0" kern="1200" dirty="0"/>
            <a:t>値がマイナス（＝予測を阻害）となった特徴量を段階的に削除。</a:t>
          </a:r>
          <a:endParaRPr kumimoji="1" lang="ja-JP" altLang="en-US" sz="1200" kern="1200" dirty="0"/>
        </a:p>
      </dsp:txBody>
      <dsp:txXfrm>
        <a:off x="3088365" y="3381125"/>
        <a:ext cx="2626676" cy="1245936"/>
      </dsp:txXfrm>
    </dsp:sp>
    <dsp:sp modelId="{513B50F0-8F1B-4C83-98F2-EDC0C6326ABA}">
      <dsp:nvSpPr>
        <dsp:cNvPr id="0" name=""/>
        <dsp:cNvSpPr/>
      </dsp:nvSpPr>
      <dsp:spPr>
        <a:xfrm>
          <a:off x="288" y="3313723"/>
          <a:ext cx="2761480" cy="1380740"/>
        </a:xfrm>
        <a:prstGeom prst="roundRect">
          <a:avLst/>
        </a:prstGeom>
        <a:solidFill>
          <a:schemeClr val="lt1"/>
        </a:solidFill>
        <a:ln w="38100" cap="flat" cmpd="sng" algn="ctr">
          <a:solidFill>
            <a:schemeClr val="accent6"/>
          </a:solidFill>
          <a:prstDash val="solid"/>
          <a:miter lim="800000"/>
        </a:ln>
        <a:effectLst/>
        <a:scene3d>
          <a:camera prst="orthographicFront"/>
          <a:lightRig rig="flat" dir="t"/>
        </a:scene3d>
        <a:sp3d/>
      </dsp:spPr>
      <dsp:style>
        <a:lnRef idx="2">
          <a:schemeClr val="accent6"/>
        </a:lnRef>
        <a:fillRef idx="1">
          <a:schemeClr val="lt1"/>
        </a:fillRef>
        <a:effectRef idx="0">
          <a:schemeClr val="accent6"/>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i="0" kern="1200" dirty="0"/>
            <a:t>     3. </a:t>
          </a:r>
          <a:r>
            <a:rPr lang="en-US" sz="1600" b="1" i="0" kern="1200" dirty="0" err="1"/>
            <a:t>Optuna</a:t>
          </a:r>
          <a:r>
            <a:rPr lang="ja-JP" altLang="en-US" sz="1600" b="1" i="0" kern="1200" dirty="0"/>
            <a:t>再学習</a:t>
          </a:r>
        </a:p>
        <a:p>
          <a:pPr marL="0" lvl="0" indent="0" algn="l" defTabSz="711200">
            <a:lnSpc>
              <a:spcPct val="90000"/>
            </a:lnSpc>
            <a:spcBef>
              <a:spcPct val="0"/>
            </a:spcBef>
            <a:spcAft>
              <a:spcPct val="35000"/>
            </a:spcAft>
            <a:buNone/>
          </a:pPr>
          <a:r>
            <a:rPr lang="en-US" sz="1200" b="1" i="0" kern="1200" dirty="0">
              <a:solidFill>
                <a:schemeClr val="accent6"/>
              </a:solidFill>
            </a:rPr>
            <a:t>Re-Optimization</a:t>
          </a:r>
        </a:p>
        <a:p>
          <a:pPr marL="0" lvl="0" indent="0" algn="l" defTabSz="711200">
            <a:lnSpc>
              <a:spcPct val="90000"/>
            </a:lnSpc>
            <a:spcBef>
              <a:spcPct val="0"/>
            </a:spcBef>
            <a:spcAft>
              <a:spcPct val="35000"/>
            </a:spcAft>
            <a:buNone/>
          </a:pPr>
          <a:r>
            <a:rPr lang="ja-JP" altLang="en-US" sz="1200" b="0" i="0" kern="1200" dirty="0"/>
            <a:t>絞り込まれた変数セットで、ハイパーパラメータを再最適化。</a:t>
          </a:r>
          <a:endParaRPr kumimoji="1" lang="ja-JP" altLang="en-US" sz="1200" kern="1200" dirty="0"/>
        </a:p>
      </dsp:txBody>
      <dsp:txXfrm>
        <a:off x="67690" y="3381125"/>
        <a:ext cx="2626676" cy="1245936"/>
      </dsp:txXfrm>
    </dsp:sp>
  </dsp:spTree>
</dsp:drawing>
</file>

<file path=ppt/diagrams/layout1.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69C83E-1E68-4287-BE45-D92EA3CA114A}" type="datetimeFigureOut">
              <a:rPr kumimoji="1" lang="ja-JP" altLang="en-US" smtClean="0"/>
              <a:t>2026/1/27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01642A-5144-47FC-90F4-33EDD11AC1DF}" type="slidenum">
              <a:rPr kumimoji="1" lang="ja-JP" altLang="en-US" smtClean="0"/>
              <a:t>‹#›</a:t>
            </a:fld>
            <a:endParaRPr kumimoji="1" lang="ja-JP" altLang="en-US"/>
          </a:p>
        </p:txBody>
      </p:sp>
    </p:spTree>
    <p:extLst>
      <p:ext uri="{BB962C8B-B14F-4D97-AF65-F5344CB8AC3E}">
        <p14:creationId xmlns:p14="http://schemas.microsoft.com/office/powerpoint/2010/main" val="374733189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FF01642A-5144-47FC-90F4-33EDD11AC1DF}" type="slidenum">
              <a:rPr kumimoji="1" lang="ja-JP" altLang="en-US" smtClean="0"/>
              <a:t>7</a:t>
            </a:fld>
            <a:endParaRPr kumimoji="1" lang="ja-JP" altLang="en-US"/>
          </a:p>
        </p:txBody>
      </p:sp>
    </p:spTree>
    <p:extLst>
      <p:ext uri="{BB962C8B-B14F-4D97-AF65-F5344CB8AC3E}">
        <p14:creationId xmlns:p14="http://schemas.microsoft.com/office/powerpoint/2010/main" val="4321737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77</a:t>
            </a:r>
            <a:r>
              <a:rPr kumimoji="1" lang="ja-JP" altLang="en-US" dirty="0"/>
              <a:t>特徴量→</a:t>
            </a:r>
            <a:r>
              <a:rPr kumimoji="1" lang="en-US" altLang="ja-JP" dirty="0"/>
              <a:t>46</a:t>
            </a:r>
            <a:r>
              <a:rPr kumimoji="1" lang="ja-JP" altLang="en-US" dirty="0"/>
              <a:t>特徴量</a:t>
            </a:r>
            <a:endParaRPr kumimoji="1" lang="en-US" altLang="ja-JP" dirty="0"/>
          </a:p>
        </p:txBody>
      </p:sp>
      <p:sp>
        <p:nvSpPr>
          <p:cNvPr id="4" name="スライド番号プレースホルダー 3"/>
          <p:cNvSpPr>
            <a:spLocks noGrp="1"/>
          </p:cNvSpPr>
          <p:nvPr>
            <p:ph type="sldNum" sz="quarter" idx="5"/>
          </p:nvPr>
        </p:nvSpPr>
        <p:spPr/>
        <p:txBody>
          <a:bodyPr/>
          <a:lstStyle/>
          <a:p>
            <a:fld id="{FF01642A-5144-47FC-90F4-33EDD11AC1DF}" type="slidenum">
              <a:rPr kumimoji="1" lang="ja-JP" altLang="en-US" smtClean="0"/>
              <a:t>8</a:t>
            </a:fld>
            <a:endParaRPr kumimoji="1" lang="ja-JP" altLang="en-US"/>
          </a:p>
        </p:txBody>
      </p:sp>
    </p:spTree>
    <p:extLst>
      <p:ext uri="{BB962C8B-B14F-4D97-AF65-F5344CB8AC3E}">
        <p14:creationId xmlns:p14="http://schemas.microsoft.com/office/powerpoint/2010/main" val="10879385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FF01642A-5144-47FC-90F4-33EDD11AC1DF}" type="slidenum">
              <a:rPr kumimoji="1" lang="ja-JP" altLang="en-US" smtClean="0"/>
              <a:t>13</a:t>
            </a:fld>
            <a:endParaRPr kumimoji="1" lang="ja-JP" altLang="en-US"/>
          </a:p>
        </p:txBody>
      </p:sp>
    </p:spTree>
    <p:extLst>
      <p:ext uri="{BB962C8B-B14F-4D97-AF65-F5344CB8AC3E}">
        <p14:creationId xmlns:p14="http://schemas.microsoft.com/office/powerpoint/2010/main" val="14277367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r>
                  <a:rPr lang="en-US" altLang="ja-JP" sz="1100" b="1" dirty="0">
                    <a:solidFill>
                      <a:schemeClr val="tx1"/>
                    </a:solidFill>
                  </a:rPr>
                  <a:t>ROI</a:t>
                </a:r>
                <a:r>
                  <a:rPr lang="ja-JP" altLang="en-US" sz="1100" b="1" dirty="0">
                    <a:solidFill>
                      <a:schemeClr val="tx1"/>
                    </a:solidFill>
                  </a:rPr>
                  <a:t>の増分：  </a:t>
                </a:r>
                <a14:m>
                  <m:oMath xmlns:m="http://schemas.openxmlformats.org/officeDocument/2006/math">
                    <m:r>
                      <a:rPr lang="en-US" altLang="ja-JP" sz="1200" b="1" i="0" smtClean="0">
                        <a:solidFill>
                          <a:schemeClr val="tx1"/>
                        </a:solidFill>
                        <a:latin typeface="Cambria Math" panose="02040503050406030204" pitchFamily="18" charset="0"/>
                      </a:rPr>
                      <m:t>𝐑𝐎𝐈</m:t>
                    </m:r>
                    <m:r>
                      <a:rPr lang="en-US" altLang="ja-JP" sz="1200" b="1" i="0" smtClean="0">
                        <a:solidFill>
                          <a:schemeClr val="tx1"/>
                        </a:solidFill>
                        <a:latin typeface="Cambria Math" panose="02040503050406030204" pitchFamily="18" charset="0"/>
                      </a:rPr>
                      <m:t>=</m:t>
                    </m:r>
                    <m:f>
                      <m:fPr>
                        <m:ctrlPr>
                          <a:rPr lang="en-US" altLang="ja-JP" sz="1200" b="1" i="1" smtClean="0">
                            <a:solidFill>
                              <a:schemeClr val="tx1"/>
                            </a:solidFill>
                            <a:latin typeface="Cambria Math" panose="02040503050406030204" pitchFamily="18" charset="0"/>
                          </a:rPr>
                        </m:ctrlPr>
                      </m:fPr>
                      <m:num>
                        <m:r>
                          <a:rPr lang="en-US" altLang="ja-JP" sz="1200" b="1" i="1" smtClean="0">
                            <a:solidFill>
                              <a:schemeClr val="tx1"/>
                            </a:solidFill>
                            <a:latin typeface="Cambria Math" panose="02040503050406030204" pitchFamily="18" charset="0"/>
                          </a:rPr>
                          <m:t>𝟎</m:t>
                        </m:r>
                        <m:r>
                          <a:rPr lang="en-US" altLang="ja-JP" sz="1200" b="1" i="1" smtClean="0">
                            <a:solidFill>
                              <a:schemeClr val="tx1"/>
                            </a:solidFill>
                            <a:latin typeface="Cambria Math" panose="02040503050406030204" pitchFamily="18" charset="0"/>
                          </a:rPr>
                          <m:t>.</m:t>
                        </m:r>
                        <m:r>
                          <a:rPr lang="en-US" altLang="ja-JP" sz="1200" b="1" i="1" smtClean="0">
                            <a:solidFill>
                              <a:schemeClr val="tx1"/>
                            </a:solidFill>
                            <a:latin typeface="Cambria Math" panose="02040503050406030204" pitchFamily="18" charset="0"/>
                          </a:rPr>
                          <m:t>𝟑𝟖</m:t>
                        </m:r>
                        <m:r>
                          <a:rPr lang="en-US" altLang="ja-JP" sz="1200" b="1" i="1" smtClean="0">
                            <a:solidFill>
                              <a:schemeClr val="tx1"/>
                            </a:solidFill>
                            <a:latin typeface="Cambria Math" panose="02040503050406030204" pitchFamily="18" charset="0"/>
                            <a:ea typeface="Cambria Math" panose="02040503050406030204" pitchFamily="18" charset="0"/>
                          </a:rPr>
                          <m:t>×</m:t>
                        </m:r>
                        <m:r>
                          <a:rPr lang="ja-JP" altLang="en-US" sz="1200" b="1" i="1">
                            <a:solidFill>
                              <a:schemeClr val="tx1"/>
                            </a:solidFill>
                            <a:latin typeface="Cambria Math" panose="02040503050406030204" pitchFamily="18" charset="0"/>
                            <a:ea typeface="Cambria Math" panose="02040503050406030204" pitchFamily="18" charset="0"/>
                          </a:rPr>
                          <m:t>単価</m:t>
                        </m:r>
                      </m:num>
                      <m:den>
                        <m:r>
                          <a:rPr lang="ja-JP" altLang="en-US" sz="1200" b="1" i="1">
                            <a:solidFill>
                              <a:schemeClr val="tx1"/>
                            </a:solidFill>
                            <a:latin typeface="Cambria Math" panose="02040503050406030204" pitchFamily="18" charset="0"/>
                          </a:rPr>
                          <m:t>広告コスト</m:t>
                        </m:r>
                      </m:den>
                    </m:f>
                    <m:r>
                      <a:rPr lang="en-US" altLang="ja-JP" sz="1200" b="1" i="1" smtClean="0">
                        <a:solidFill>
                          <a:schemeClr val="tx1"/>
                        </a:solidFill>
                        <a:latin typeface="Cambria Math" panose="02040503050406030204" pitchFamily="18" charset="0"/>
                        <a:ea typeface="Cambria Math" panose="02040503050406030204" pitchFamily="18" charset="0"/>
                      </a:rPr>
                      <m:t>→</m:t>
                    </m:r>
                    <m:r>
                      <a:rPr lang="en-US" altLang="ja-JP" sz="1200" b="1" i="1" smtClean="0">
                        <a:solidFill>
                          <a:schemeClr val="tx1"/>
                        </a:solidFill>
                        <a:latin typeface="Cambria Math" panose="02040503050406030204" pitchFamily="18" charset="0"/>
                        <a:ea typeface="Cambria Math" panose="02040503050406030204" pitchFamily="18" charset="0"/>
                      </a:rPr>
                      <m:t>𝑹𝑶𝑰</m:t>
                    </m:r>
                    <m:f>
                      <m:fPr>
                        <m:ctrlPr>
                          <a:rPr lang="en-US" altLang="ja-JP" sz="1200" b="1" i="1" smtClean="0">
                            <a:solidFill>
                              <a:schemeClr val="tx1"/>
                            </a:solidFill>
                            <a:latin typeface="Cambria Math" panose="02040503050406030204" pitchFamily="18" charset="0"/>
                            <a:ea typeface="Cambria Math" panose="02040503050406030204" pitchFamily="18" charset="0"/>
                          </a:rPr>
                        </m:ctrlPr>
                      </m:fPr>
                      <m:num/>
                      <m:den>
                        <m:r>
                          <a:rPr lang="en-US" altLang="ja-JP" sz="1200" b="1" i="1" smtClean="0">
                            <a:solidFill>
                              <a:schemeClr val="tx1"/>
                            </a:solidFill>
                            <a:latin typeface="Cambria Math" panose="02040503050406030204" pitchFamily="18" charset="0"/>
                            <a:ea typeface="Cambria Math" panose="02040503050406030204" pitchFamily="18" charset="0"/>
                          </a:rPr>
                          <m:t>𝟎</m:t>
                        </m:r>
                        <m:r>
                          <a:rPr lang="en-US" altLang="ja-JP" sz="1200" b="1" i="1" smtClean="0">
                            <a:solidFill>
                              <a:schemeClr val="tx1"/>
                            </a:solidFill>
                            <a:latin typeface="Cambria Math" panose="02040503050406030204" pitchFamily="18" charset="0"/>
                            <a:ea typeface="Cambria Math" panose="02040503050406030204" pitchFamily="18" charset="0"/>
                          </a:rPr>
                          <m:t>.</m:t>
                        </m:r>
                        <m:r>
                          <a:rPr lang="en-US" altLang="ja-JP" sz="1200" b="1" i="1" smtClean="0">
                            <a:solidFill>
                              <a:schemeClr val="tx1"/>
                            </a:solidFill>
                            <a:latin typeface="Cambria Math" panose="02040503050406030204" pitchFamily="18" charset="0"/>
                            <a:ea typeface="Cambria Math" panose="02040503050406030204" pitchFamily="18" charset="0"/>
                          </a:rPr>
                          <m:t>𝟓</m:t>
                        </m:r>
                        <m:r>
                          <a:rPr lang="en-US" altLang="ja-JP" sz="1200" b="1" i="1" smtClean="0">
                            <a:solidFill>
                              <a:schemeClr val="tx1"/>
                            </a:solidFill>
                            <a:latin typeface="Cambria Math" panose="02040503050406030204" pitchFamily="18" charset="0"/>
                            <a:ea typeface="Cambria Math" panose="02040503050406030204" pitchFamily="18" charset="0"/>
                          </a:rPr>
                          <m:t>(広告コスト)</m:t>
                        </m:r>
                      </m:den>
                    </m:f>
                  </m:oMath>
                </a14:m>
                <a:r>
                  <a:rPr lang="en-US" altLang="ja-JP" sz="1100" b="1" dirty="0">
                    <a:solidFill>
                      <a:schemeClr val="tx1"/>
                    </a:solidFill>
                  </a:rPr>
                  <a:t> </a:t>
                </a:r>
                <a:endParaRPr kumimoji="1" lang="ja-JP" altLang="en-US" dirty="0"/>
              </a:p>
            </p:txBody>
          </p:sp>
        </mc:Choice>
        <mc:Fallback xmlns="">
          <p:sp>
            <p:nvSpPr>
              <p:cNvPr id="3" name="ノート プレースホルダー 2"/>
              <p:cNvSpPr>
                <a:spLocks noGrp="1"/>
              </p:cNvSpPr>
              <p:nvPr>
                <p:ph type="body" idx="1"/>
              </p:nvPr>
            </p:nvSpPr>
            <p:spPr/>
            <p:txBody>
              <a:bodyPr/>
              <a:lstStyle/>
              <a:p>
                <a:r>
                  <a:rPr lang="en-US" altLang="ja-JP" sz="1100" b="1" dirty="0">
                    <a:solidFill>
                      <a:schemeClr val="tx1"/>
                    </a:solidFill>
                  </a:rPr>
                  <a:t>ROI</a:t>
                </a:r>
                <a:r>
                  <a:rPr lang="ja-JP" altLang="en-US" sz="1100" b="1" dirty="0">
                    <a:solidFill>
                      <a:schemeClr val="tx1"/>
                    </a:solidFill>
                  </a:rPr>
                  <a:t>の増分：  </a:t>
                </a:r>
                <a:r>
                  <a:rPr lang="en-US" altLang="ja-JP" sz="1200" b="1" i="0">
                    <a:solidFill>
                      <a:schemeClr val="tx1"/>
                    </a:solidFill>
                    <a:latin typeface="Cambria Math" panose="02040503050406030204" pitchFamily="18" charset="0"/>
                  </a:rPr>
                  <a:t>𝐑𝐎𝐈=(𝟎.𝟑𝟖</a:t>
                </a:r>
                <a:r>
                  <a:rPr lang="en-US" altLang="ja-JP" sz="1200" b="1" i="0">
                    <a:solidFill>
                      <a:schemeClr val="tx1"/>
                    </a:solidFill>
                    <a:latin typeface="Cambria Math" panose="02040503050406030204" pitchFamily="18" charset="0"/>
                    <a:ea typeface="Cambria Math" panose="02040503050406030204" pitchFamily="18" charset="0"/>
                  </a:rPr>
                  <a:t>×</a:t>
                </a:r>
                <a:r>
                  <a:rPr lang="ja-JP" altLang="en-US" sz="1200" b="1" i="0">
                    <a:solidFill>
                      <a:schemeClr val="tx1"/>
                    </a:solidFill>
                    <a:latin typeface="Cambria Math" panose="02040503050406030204" pitchFamily="18" charset="0"/>
                    <a:ea typeface="Cambria Math" panose="02040503050406030204" pitchFamily="18" charset="0"/>
                  </a:rPr>
                  <a:t>単価</a:t>
                </a:r>
                <a:r>
                  <a:rPr lang="en-US" altLang="ja-JP" sz="1200" b="1" i="0">
                    <a:solidFill>
                      <a:schemeClr val="tx1"/>
                    </a:solidFill>
                    <a:latin typeface="Cambria Math" panose="02040503050406030204" pitchFamily="18" charset="0"/>
                    <a:ea typeface="Cambria Math" panose="02040503050406030204" pitchFamily="18" charset="0"/>
                  </a:rPr>
                  <a:t>)/</a:t>
                </a:r>
                <a:r>
                  <a:rPr lang="ja-JP" altLang="en-US" sz="1200" b="1" i="0">
                    <a:solidFill>
                      <a:schemeClr val="tx1"/>
                    </a:solidFill>
                    <a:latin typeface="Cambria Math" panose="02040503050406030204" pitchFamily="18" charset="0"/>
                  </a:rPr>
                  <a:t>広告コスト</a:t>
                </a:r>
                <a:r>
                  <a:rPr lang="en-US" altLang="ja-JP" sz="1200" b="1" i="0">
                    <a:solidFill>
                      <a:schemeClr val="tx1"/>
                    </a:solidFill>
                    <a:latin typeface="Cambria Math" panose="02040503050406030204" pitchFamily="18" charset="0"/>
                    <a:ea typeface="Cambria Math" panose="02040503050406030204" pitchFamily="18" charset="0"/>
                  </a:rPr>
                  <a:t>→𝑹𝑶𝑰 /(𝟎.𝟓(広告コスト))</a:t>
                </a:r>
                <a:r>
                  <a:rPr lang="en-US" altLang="ja-JP" sz="1100" b="1" dirty="0">
                    <a:solidFill>
                      <a:schemeClr val="tx1"/>
                    </a:solidFill>
                  </a:rPr>
                  <a:t> </a:t>
                </a:r>
                <a:endParaRPr kumimoji="1" lang="ja-JP" altLang="en-US" dirty="0"/>
              </a:p>
            </p:txBody>
          </p:sp>
        </mc:Fallback>
      </mc:AlternateContent>
      <p:sp>
        <p:nvSpPr>
          <p:cNvPr id="4" name="スライド番号プレースホルダー 3"/>
          <p:cNvSpPr>
            <a:spLocks noGrp="1"/>
          </p:cNvSpPr>
          <p:nvPr>
            <p:ph type="sldNum" sz="quarter" idx="5"/>
          </p:nvPr>
        </p:nvSpPr>
        <p:spPr/>
        <p:txBody>
          <a:bodyPr/>
          <a:lstStyle/>
          <a:p>
            <a:fld id="{FF01642A-5144-47FC-90F4-33EDD11AC1DF}" type="slidenum">
              <a:rPr kumimoji="1" lang="ja-JP" altLang="en-US" smtClean="0"/>
              <a:t>14</a:t>
            </a:fld>
            <a:endParaRPr kumimoji="1" lang="ja-JP" altLang="en-US"/>
          </a:p>
        </p:txBody>
      </p:sp>
    </p:spTree>
    <p:extLst>
      <p:ext uri="{BB962C8B-B14F-4D97-AF65-F5344CB8AC3E}">
        <p14:creationId xmlns:p14="http://schemas.microsoft.com/office/powerpoint/2010/main" val="40412072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FFEFE6-9A09-4B77-A845-823EE9344334}"/>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19B9DAC-8BD7-B06A-BFA0-45C53ACCE4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4F5F55ED-403D-27F9-8EBA-7289BB522357}"/>
              </a:ext>
            </a:extLst>
          </p:cNvPr>
          <p:cNvSpPr>
            <a:spLocks noGrp="1"/>
          </p:cNvSpPr>
          <p:nvPr>
            <p:ph type="dt" sz="half" idx="10"/>
          </p:nvPr>
        </p:nvSpPr>
        <p:spPr/>
        <p:txBody>
          <a:bodyPr/>
          <a:lstStyle/>
          <a:p>
            <a:fld id="{766ED0D3-DE60-40B5-ADEA-B5070E231616}" type="datetimeFigureOut">
              <a:rPr kumimoji="1" lang="ja-JP" altLang="en-US" smtClean="0"/>
              <a:t>2026/1/27</a:t>
            </a:fld>
            <a:endParaRPr kumimoji="1" lang="ja-JP" altLang="en-US"/>
          </a:p>
        </p:txBody>
      </p:sp>
      <p:sp>
        <p:nvSpPr>
          <p:cNvPr id="5" name="フッター プレースホルダー 4">
            <a:extLst>
              <a:ext uri="{FF2B5EF4-FFF2-40B4-BE49-F238E27FC236}">
                <a16:creationId xmlns:a16="http://schemas.microsoft.com/office/drawing/2014/main" id="{E298DADA-DF69-00F4-EA49-E7F14CD6D55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C32AEE6-11A8-7A90-98C4-830512F2AA48}"/>
              </a:ext>
            </a:extLst>
          </p:cNvPr>
          <p:cNvSpPr>
            <a:spLocks noGrp="1"/>
          </p:cNvSpPr>
          <p:nvPr>
            <p:ph type="sldNum" sz="quarter" idx="12"/>
          </p:nvPr>
        </p:nvSpPr>
        <p:spPr/>
        <p:txBody>
          <a:bodyPr/>
          <a:lstStyle/>
          <a:p>
            <a:fld id="{28BE68D3-CF27-4058-8EF8-DAE96F6B6DFD}" type="slidenum">
              <a:rPr kumimoji="1" lang="ja-JP" altLang="en-US" smtClean="0"/>
              <a:t>‹#›</a:t>
            </a:fld>
            <a:endParaRPr kumimoji="1" lang="ja-JP" altLang="en-US"/>
          </a:p>
        </p:txBody>
      </p:sp>
    </p:spTree>
    <p:extLst>
      <p:ext uri="{BB962C8B-B14F-4D97-AF65-F5344CB8AC3E}">
        <p14:creationId xmlns:p14="http://schemas.microsoft.com/office/powerpoint/2010/main" val="2733367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193D51-AF8F-4A07-1753-3336F8F8D77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E5E593B-2D99-D70A-AA68-D3B76CEB5DC9}"/>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179029E-38E9-63BD-19CC-2412FD30150C}"/>
              </a:ext>
            </a:extLst>
          </p:cNvPr>
          <p:cNvSpPr>
            <a:spLocks noGrp="1"/>
          </p:cNvSpPr>
          <p:nvPr>
            <p:ph type="dt" sz="half" idx="10"/>
          </p:nvPr>
        </p:nvSpPr>
        <p:spPr/>
        <p:txBody>
          <a:bodyPr/>
          <a:lstStyle/>
          <a:p>
            <a:fld id="{766ED0D3-DE60-40B5-ADEA-B5070E231616}" type="datetimeFigureOut">
              <a:rPr kumimoji="1" lang="ja-JP" altLang="en-US" smtClean="0"/>
              <a:t>2026/1/27</a:t>
            </a:fld>
            <a:endParaRPr kumimoji="1" lang="ja-JP" altLang="en-US"/>
          </a:p>
        </p:txBody>
      </p:sp>
      <p:sp>
        <p:nvSpPr>
          <p:cNvPr id="5" name="フッター プレースホルダー 4">
            <a:extLst>
              <a:ext uri="{FF2B5EF4-FFF2-40B4-BE49-F238E27FC236}">
                <a16:creationId xmlns:a16="http://schemas.microsoft.com/office/drawing/2014/main" id="{61F6B543-943E-6796-E74B-E9E31651E5C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0795FC5-7262-5675-68F8-E3D4251FB520}"/>
              </a:ext>
            </a:extLst>
          </p:cNvPr>
          <p:cNvSpPr>
            <a:spLocks noGrp="1"/>
          </p:cNvSpPr>
          <p:nvPr>
            <p:ph type="sldNum" sz="quarter" idx="12"/>
          </p:nvPr>
        </p:nvSpPr>
        <p:spPr/>
        <p:txBody>
          <a:bodyPr/>
          <a:lstStyle/>
          <a:p>
            <a:fld id="{28BE68D3-CF27-4058-8EF8-DAE96F6B6DFD}" type="slidenum">
              <a:rPr kumimoji="1" lang="ja-JP" altLang="en-US" smtClean="0"/>
              <a:t>‹#›</a:t>
            </a:fld>
            <a:endParaRPr kumimoji="1" lang="ja-JP" altLang="en-US"/>
          </a:p>
        </p:txBody>
      </p:sp>
    </p:spTree>
    <p:extLst>
      <p:ext uri="{BB962C8B-B14F-4D97-AF65-F5344CB8AC3E}">
        <p14:creationId xmlns:p14="http://schemas.microsoft.com/office/powerpoint/2010/main" val="112986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93CBD75-820B-1D35-C0E7-18414B5F5BE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C1FE28E-9170-325C-8BAA-B522F8AB791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71F3E29A-C918-F957-686A-FA5248A7CE24}"/>
              </a:ext>
            </a:extLst>
          </p:cNvPr>
          <p:cNvSpPr>
            <a:spLocks noGrp="1"/>
          </p:cNvSpPr>
          <p:nvPr>
            <p:ph type="dt" sz="half" idx="10"/>
          </p:nvPr>
        </p:nvSpPr>
        <p:spPr/>
        <p:txBody>
          <a:bodyPr/>
          <a:lstStyle/>
          <a:p>
            <a:fld id="{766ED0D3-DE60-40B5-ADEA-B5070E231616}" type="datetimeFigureOut">
              <a:rPr kumimoji="1" lang="ja-JP" altLang="en-US" smtClean="0"/>
              <a:t>2026/1/27</a:t>
            </a:fld>
            <a:endParaRPr kumimoji="1" lang="ja-JP" altLang="en-US"/>
          </a:p>
        </p:txBody>
      </p:sp>
      <p:sp>
        <p:nvSpPr>
          <p:cNvPr id="5" name="フッター プレースホルダー 4">
            <a:extLst>
              <a:ext uri="{FF2B5EF4-FFF2-40B4-BE49-F238E27FC236}">
                <a16:creationId xmlns:a16="http://schemas.microsoft.com/office/drawing/2014/main" id="{8D9DD7BC-487C-5CA1-6825-A4DE52F5BA7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1ECE600-C243-21A7-AF57-F80CFEB32CA5}"/>
              </a:ext>
            </a:extLst>
          </p:cNvPr>
          <p:cNvSpPr>
            <a:spLocks noGrp="1"/>
          </p:cNvSpPr>
          <p:nvPr>
            <p:ph type="sldNum" sz="quarter" idx="12"/>
          </p:nvPr>
        </p:nvSpPr>
        <p:spPr/>
        <p:txBody>
          <a:bodyPr/>
          <a:lstStyle/>
          <a:p>
            <a:fld id="{28BE68D3-CF27-4058-8EF8-DAE96F6B6DFD}" type="slidenum">
              <a:rPr kumimoji="1" lang="ja-JP" altLang="en-US" smtClean="0"/>
              <a:t>‹#›</a:t>
            </a:fld>
            <a:endParaRPr kumimoji="1" lang="ja-JP" altLang="en-US"/>
          </a:p>
        </p:txBody>
      </p:sp>
    </p:spTree>
    <p:extLst>
      <p:ext uri="{BB962C8B-B14F-4D97-AF65-F5344CB8AC3E}">
        <p14:creationId xmlns:p14="http://schemas.microsoft.com/office/powerpoint/2010/main" val="3810587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D3D0C8-D105-F5F4-7A3E-9654589B507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6EEFF1F-E895-956D-E88B-03A600F56D9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ADEC55FB-0412-43EB-CDA0-8359F947FDFF}"/>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6E6C2DFA-24B6-A708-5562-D24CCADF75B5}"/>
              </a:ext>
            </a:extLst>
          </p:cNvPr>
          <p:cNvSpPr>
            <a:spLocks noGrp="1"/>
          </p:cNvSpPr>
          <p:nvPr>
            <p:ph type="dt" sz="half" idx="10"/>
          </p:nvPr>
        </p:nvSpPr>
        <p:spPr/>
        <p:txBody>
          <a:bodyPr/>
          <a:lstStyle/>
          <a:p>
            <a:fld id="{766ED0D3-DE60-40B5-ADEA-B5070E231616}" type="datetimeFigureOut">
              <a:rPr kumimoji="1" lang="ja-JP" altLang="en-US" smtClean="0"/>
              <a:t>2026/1/27</a:t>
            </a:fld>
            <a:endParaRPr kumimoji="1" lang="ja-JP" altLang="en-US"/>
          </a:p>
        </p:txBody>
      </p:sp>
      <p:sp>
        <p:nvSpPr>
          <p:cNvPr id="6" name="フッター プレースホルダー 5">
            <a:extLst>
              <a:ext uri="{FF2B5EF4-FFF2-40B4-BE49-F238E27FC236}">
                <a16:creationId xmlns:a16="http://schemas.microsoft.com/office/drawing/2014/main" id="{6F803253-BF32-E6DD-7515-BD7853E9C54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989BCF5-0B12-11E3-703F-2CB5427B1A57}"/>
              </a:ext>
            </a:extLst>
          </p:cNvPr>
          <p:cNvSpPr>
            <a:spLocks noGrp="1"/>
          </p:cNvSpPr>
          <p:nvPr>
            <p:ph type="sldNum" sz="quarter" idx="12"/>
          </p:nvPr>
        </p:nvSpPr>
        <p:spPr/>
        <p:txBody>
          <a:bodyPr/>
          <a:lstStyle/>
          <a:p>
            <a:fld id="{28BE68D3-CF27-4058-8EF8-DAE96F6B6DFD}" type="slidenum">
              <a:rPr kumimoji="1" lang="ja-JP" altLang="en-US" smtClean="0"/>
              <a:t>‹#›</a:t>
            </a:fld>
            <a:endParaRPr kumimoji="1" lang="ja-JP" altLang="en-US"/>
          </a:p>
        </p:txBody>
      </p:sp>
    </p:spTree>
    <p:extLst>
      <p:ext uri="{BB962C8B-B14F-4D97-AF65-F5344CB8AC3E}">
        <p14:creationId xmlns:p14="http://schemas.microsoft.com/office/powerpoint/2010/main" val="260172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80A922-8FA2-B189-357A-1F38DBC8A1CE}"/>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649C987-AE44-2DB9-ACB2-5AB6AB47D5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6529DDD9-AAAB-A0B0-8D44-ADBA4051314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AA2CD61-4F3D-9EFC-26C4-37049EBC5B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BEE0ED43-5EA4-55FA-C945-BA6457CDB39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BA468AD-616A-8044-99E1-EEC8719F49C0}"/>
              </a:ext>
            </a:extLst>
          </p:cNvPr>
          <p:cNvSpPr>
            <a:spLocks noGrp="1"/>
          </p:cNvSpPr>
          <p:nvPr>
            <p:ph type="dt" sz="half" idx="10"/>
          </p:nvPr>
        </p:nvSpPr>
        <p:spPr/>
        <p:txBody>
          <a:bodyPr/>
          <a:lstStyle/>
          <a:p>
            <a:fld id="{766ED0D3-DE60-40B5-ADEA-B5070E231616}" type="datetimeFigureOut">
              <a:rPr kumimoji="1" lang="ja-JP" altLang="en-US" smtClean="0"/>
              <a:t>2026/1/27</a:t>
            </a:fld>
            <a:endParaRPr kumimoji="1" lang="ja-JP" altLang="en-US"/>
          </a:p>
        </p:txBody>
      </p:sp>
      <p:sp>
        <p:nvSpPr>
          <p:cNvPr id="8" name="フッター プレースホルダー 7">
            <a:extLst>
              <a:ext uri="{FF2B5EF4-FFF2-40B4-BE49-F238E27FC236}">
                <a16:creationId xmlns:a16="http://schemas.microsoft.com/office/drawing/2014/main" id="{249406B9-3CB1-A544-35DB-895268417E3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03625F06-2F25-9440-70EB-324F125C9F17}"/>
              </a:ext>
            </a:extLst>
          </p:cNvPr>
          <p:cNvSpPr>
            <a:spLocks noGrp="1"/>
          </p:cNvSpPr>
          <p:nvPr>
            <p:ph type="sldNum" sz="quarter" idx="12"/>
          </p:nvPr>
        </p:nvSpPr>
        <p:spPr/>
        <p:txBody>
          <a:bodyPr/>
          <a:lstStyle/>
          <a:p>
            <a:fld id="{28BE68D3-CF27-4058-8EF8-DAE96F6B6DFD}" type="slidenum">
              <a:rPr kumimoji="1" lang="ja-JP" altLang="en-US" smtClean="0"/>
              <a:t>‹#›</a:t>
            </a:fld>
            <a:endParaRPr kumimoji="1" lang="ja-JP" altLang="en-US"/>
          </a:p>
        </p:txBody>
      </p:sp>
    </p:spTree>
    <p:extLst>
      <p:ext uri="{BB962C8B-B14F-4D97-AF65-F5344CB8AC3E}">
        <p14:creationId xmlns:p14="http://schemas.microsoft.com/office/powerpoint/2010/main" val="1215514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BA9AD7-4FCA-FC92-F39B-43BD5947D0A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A77733BE-3EA7-4843-C517-C493ED0D1298}"/>
              </a:ext>
            </a:extLst>
          </p:cNvPr>
          <p:cNvSpPr>
            <a:spLocks noGrp="1"/>
          </p:cNvSpPr>
          <p:nvPr>
            <p:ph type="dt" sz="half" idx="10"/>
          </p:nvPr>
        </p:nvSpPr>
        <p:spPr/>
        <p:txBody>
          <a:bodyPr/>
          <a:lstStyle/>
          <a:p>
            <a:fld id="{766ED0D3-DE60-40B5-ADEA-B5070E231616}" type="datetimeFigureOut">
              <a:rPr kumimoji="1" lang="ja-JP" altLang="en-US" smtClean="0"/>
              <a:t>2026/1/27</a:t>
            </a:fld>
            <a:endParaRPr kumimoji="1" lang="ja-JP" altLang="en-US"/>
          </a:p>
        </p:txBody>
      </p:sp>
      <p:sp>
        <p:nvSpPr>
          <p:cNvPr id="4" name="フッター プレースホルダー 3">
            <a:extLst>
              <a:ext uri="{FF2B5EF4-FFF2-40B4-BE49-F238E27FC236}">
                <a16:creationId xmlns:a16="http://schemas.microsoft.com/office/drawing/2014/main" id="{0DEE5DC8-CC8C-D4E8-1FEF-A9166807680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EAAAB0A2-7B5E-FC95-4331-05AF4F51041C}"/>
              </a:ext>
            </a:extLst>
          </p:cNvPr>
          <p:cNvSpPr>
            <a:spLocks noGrp="1"/>
          </p:cNvSpPr>
          <p:nvPr>
            <p:ph type="sldNum" sz="quarter" idx="12"/>
          </p:nvPr>
        </p:nvSpPr>
        <p:spPr/>
        <p:txBody>
          <a:bodyPr/>
          <a:lstStyle/>
          <a:p>
            <a:fld id="{28BE68D3-CF27-4058-8EF8-DAE96F6B6DFD}" type="slidenum">
              <a:rPr kumimoji="1" lang="ja-JP" altLang="en-US" smtClean="0"/>
              <a:t>‹#›</a:t>
            </a:fld>
            <a:endParaRPr kumimoji="1" lang="ja-JP" altLang="en-US"/>
          </a:p>
        </p:txBody>
      </p:sp>
    </p:spTree>
    <p:extLst>
      <p:ext uri="{BB962C8B-B14F-4D97-AF65-F5344CB8AC3E}">
        <p14:creationId xmlns:p14="http://schemas.microsoft.com/office/powerpoint/2010/main" val="2734104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36A7EF2-8B1A-AF28-9D29-6BD695B6CE82}"/>
              </a:ext>
            </a:extLst>
          </p:cNvPr>
          <p:cNvSpPr>
            <a:spLocks noGrp="1"/>
          </p:cNvSpPr>
          <p:nvPr>
            <p:ph type="dt" sz="half" idx="10"/>
          </p:nvPr>
        </p:nvSpPr>
        <p:spPr/>
        <p:txBody>
          <a:bodyPr/>
          <a:lstStyle/>
          <a:p>
            <a:fld id="{766ED0D3-DE60-40B5-ADEA-B5070E231616}" type="datetimeFigureOut">
              <a:rPr kumimoji="1" lang="ja-JP" altLang="en-US" smtClean="0"/>
              <a:t>2026/1/27</a:t>
            </a:fld>
            <a:endParaRPr kumimoji="1" lang="ja-JP" altLang="en-US"/>
          </a:p>
        </p:txBody>
      </p:sp>
      <p:sp>
        <p:nvSpPr>
          <p:cNvPr id="3" name="フッター プレースホルダー 2">
            <a:extLst>
              <a:ext uri="{FF2B5EF4-FFF2-40B4-BE49-F238E27FC236}">
                <a16:creationId xmlns:a16="http://schemas.microsoft.com/office/drawing/2014/main" id="{070D4823-A971-5B7A-094C-5F485431100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99E7645-FE6C-FAA0-B00E-6E8B7147E655}"/>
              </a:ext>
            </a:extLst>
          </p:cNvPr>
          <p:cNvSpPr>
            <a:spLocks noGrp="1"/>
          </p:cNvSpPr>
          <p:nvPr>
            <p:ph type="sldNum" sz="quarter" idx="12"/>
          </p:nvPr>
        </p:nvSpPr>
        <p:spPr/>
        <p:txBody>
          <a:bodyPr/>
          <a:lstStyle/>
          <a:p>
            <a:fld id="{28BE68D3-CF27-4058-8EF8-DAE96F6B6DFD}" type="slidenum">
              <a:rPr kumimoji="1" lang="ja-JP" altLang="en-US" smtClean="0"/>
              <a:t>‹#›</a:t>
            </a:fld>
            <a:endParaRPr kumimoji="1" lang="ja-JP" altLang="en-US"/>
          </a:p>
        </p:txBody>
      </p:sp>
    </p:spTree>
    <p:extLst>
      <p:ext uri="{BB962C8B-B14F-4D97-AF65-F5344CB8AC3E}">
        <p14:creationId xmlns:p14="http://schemas.microsoft.com/office/powerpoint/2010/main" val="495343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B0CA603-72FD-A4ED-352F-DA07D45B150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6FF4C15-3732-83F6-90E1-F3628DF26F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281D3A5A-2FA9-2891-5526-8D3944390C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1FFC38F-7719-6B86-E5C4-DD973E66E033}"/>
              </a:ext>
            </a:extLst>
          </p:cNvPr>
          <p:cNvSpPr>
            <a:spLocks noGrp="1"/>
          </p:cNvSpPr>
          <p:nvPr>
            <p:ph type="dt" sz="half" idx="10"/>
          </p:nvPr>
        </p:nvSpPr>
        <p:spPr/>
        <p:txBody>
          <a:bodyPr/>
          <a:lstStyle/>
          <a:p>
            <a:fld id="{766ED0D3-DE60-40B5-ADEA-B5070E231616}" type="datetimeFigureOut">
              <a:rPr kumimoji="1" lang="ja-JP" altLang="en-US" smtClean="0"/>
              <a:t>2026/1/27</a:t>
            </a:fld>
            <a:endParaRPr kumimoji="1" lang="ja-JP" altLang="en-US"/>
          </a:p>
        </p:txBody>
      </p:sp>
      <p:sp>
        <p:nvSpPr>
          <p:cNvPr id="6" name="フッター プレースホルダー 5">
            <a:extLst>
              <a:ext uri="{FF2B5EF4-FFF2-40B4-BE49-F238E27FC236}">
                <a16:creationId xmlns:a16="http://schemas.microsoft.com/office/drawing/2014/main" id="{B66E7A56-2B7A-D181-425C-FD9CAE486E2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8DBADA0-E0DB-F774-13FD-47F3F637289E}"/>
              </a:ext>
            </a:extLst>
          </p:cNvPr>
          <p:cNvSpPr>
            <a:spLocks noGrp="1"/>
          </p:cNvSpPr>
          <p:nvPr>
            <p:ph type="sldNum" sz="quarter" idx="12"/>
          </p:nvPr>
        </p:nvSpPr>
        <p:spPr/>
        <p:txBody>
          <a:bodyPr/>
          <a:lstStyle/>
          <a:p>
            <a:fld id="{28BE68D3-CF27-4058-8EF8-DAE96F6B6DFD}" type="slidenum">
              <a:rPr kumimoji="1" lang="ja-JP" altLang="en-US" smtClean="0"/>
              <a:t>‹#›</a:t>
            </a:fld>
            <a:endParaRPr kumimoji="1" lang="ja-JP" altLang="en-US"/>
          </a:p>
        </p:txBody>
      </p:sp>
    </p:spTree>
    <p:extLst>
      <p:ext uri="{BB962C8B-B14F-4D97-AF65-F5344CB8AC3E}">
        <p14:creationId xmlns:p14="http://schemas.microsoft.com/office/powerpoint/2010/main" val="166526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9FF937-0640-118B-DDA6-72DCA215640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8774155-F4BC-E38D-709A-C59866D4BD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78EA111-3827-179A-C1E7-B69E76FD74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482AF28-6A95-FB03-5BA7-5AE005B23AE1}"/>
              </a:ext>
            </a:extLst>
          </p:cNvPr>
          <p:cNvSpPr>
            <a:spLocks noGrp="1"/>
          </p:cNvSpPr>
          <p:nvPr>
            <p:ph type="dt" sz="half" idx="10"/>
          </p:nvPr>
        </p:nvSpPr>
        <p:spPr/>
        <p:txBody>
          <a:bodyPr/>
          <a:lstStyle/>
          <a:p>
            <a:fld id="{766ED0D3-DE60-40B5-ADEA-B5070E231616}" type="datetimeFigureOut">
              <a:rPr kumimoji="1" lang="ja-JP" altLang="en-US" smtClean="0"/>
              <a:t>2026/1/27</a:t>
            </a:fld>
            <a:endParaRPr kumimoji="1" lang="ja-JP" altLang="en-US"/>
          </a:p>
        </p:txBody>
      </p:sp>
      <p:sp>
        <p:nvSpPr>
          <p:cNvPr id="6" name="フッター プレースホルダー 5">
            <a:extLst>
              <a:ext uri="{FF2B5EF4-FFF2-40B4-BE49-F238E27FC236}">
                <a16:creationId xmlns:a16="http://schemas.microsoft.com/office/drawing/2014/main" id="{E8D37683-5BD8-1F97-C6BD-7C507915504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663393A-EA49-22E9-A195-D88E557F667C}"/>
              </a:ext>
            </a:extLst>
          </p:cNvPr>
          <p:cNvSpPr>
            <a:spLocks noGrp="1"/>
          </p:cNvSpPr>
          <p:nvPr>
            <p:ph type="sldNum" sz="quarter" idx="12"/>
          </p:nvPr>
        </p:nvSpPr>
        <p:spPr/>
        <p:txBody>
          <a:bodyPr/>
          <a:lstStyle/>
          <a:p>
            <a:fld id="{28BE68D3-CF27-4058-8EF8-DAE96F6B6DFD}" type="slidenum">
              <a:rPr kumimoji="1" lang="ja-JP" altLang="en-US" smtClean="0"/>
              <a:t>‹#›</a:t>
            </a:fld>
            <a:endParaRPr kumimoji="1" lang="ja-JP" altLang="en-US"/>
          </a:p>
        </p:txBody>
      </p:sp>
    </p:spTree>
    <p:extLst>
      <p:ext uri="{BB962C8B-B14F-4D97-AF65-F5344CB8AC3E}">
        <p14:creationId xmlns:p14="http://schemas.microsoft.com/office/powerpoint/2010/main" val="1531326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1E0CFE-3481-7282-5100-EFB68FC4C88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C9BE2A1-C5F3-FB67-2FA2-287A585E4885}"/>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8761885-D5B1-5921-54EE-369086C8CDDF}"/>
              </a:ext>
            </a:extLst>
          </p:cNvPr>
          <p:cNvSpPr>
            <a:spLocks noGrp="1"/>
          </p:cNvSpPr>
          <p:nvPr>
            <p:ph type="dt" sz="half" idx="10"/>
          </p:nvPr>
        </p:nvSpPr>
        <p:spPr/>
        <p:txBody>
          <a:bodyPr/>
          <a:lstStyle/>
          <a:p>
            <a:fld id="{766ED0D3-DE60-40B5-ADEA-B5070E231616}" type="datetimeFigureOut">
              <a:rPr kumimoji="1" lang="ja-JP" altLang="en-US" smtClean="0"/>
              <a:t>2026/1/27</a:t>
            </a:fld>
            <a:endParaRPr kumimoji="1" lang="ja-JP" altLang="en-US"/>
          </a:p>
        </p:txBody>
      </p:sp>
      <p:sp>
        <p:nvSpPr>
          <p:cNvPr id="5" name="フッター プレースホルダー 4">
            <a:extLst>
              <a:ext uri="{FF2B5EF4-FFF2-40B4-BE49-F238E27FC236}">
                <a16:creationId xmlns:a16="http://schemas.microsoft.com/office/drawing/2014/main" id="{277E83D0-2D90-192C-F368-C2D403328A6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FBFAF22-836E-4E54-EEF6-AC7C27E64CE6}"/>
              </a:ext>
            </a:extLst>
          </p:cNvPr>
          <p:cNvSpPr>
            <a:spLocks noGrp="1"/>
          </p:cNvSpPr>
          <p:nvPr>
            <p:ph type="sldNum" sz="quarter" idx="12"/>
          </p:nvPr>
        </p:nvSpPr>
        <p:spPr/>
        <p:txBody>
          <a:bodyPr/>
          <a:lstStyle/>
          <a:p>
            <a:fld id="{28BE68D3-CF27-4058-8EF8-DAE96F6B6DFD}" type="slidenum">
              <a:rPr kumimoji="1" lang="ja-JP" altLang="en-US" smtClean="0"/>
              <a:t>‹#›</a:t>
            </a:fld>
            <a:endParaRPr kumimoji="1" lang="ja-JP" altLang="en-US"/>
          </a:p>
        </p:txBody>
      </p:sp>
    </p:spTree>
    <p:extLst>
      <p:ext uri="{BB962C8B-B14F-4D97-AF65-F5344CB8AC3E}">
        <p14:creationId xmlns:p14="http://schemas.microsoft.com/office/powerpoint/2010/main" val="3809043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45882B8-57C2-6618-611D-1A4202C5CC7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087AD2C-E01F-B3E6-BE46-2F4AD1D28681}"/>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7280488-2A71-2841-8E95-41398E026C60}"/>
              </a:ext>
            </a:extLst>
          </p:cNvPr>
          <p:cNvSpPr>
            <a:spLocks noGrp="1"/>
          </p:cNvSpPr>
          <p:nvPr>
            <p:ph type="dt" sz="half" idx="10"/>
          </p:nvPr>
        </p:nvSpPr>
        <p:spPr/>
        <p:txBody>
          <a:bodyPr/>
          <a:lstStyle/>
          <a:p>
            <a:fld id="{766ED0D3-DE60-40B5-ADEA-B5070E231616}" type="datetimeFigureOut">
              <a:rPr kumimoji="1" lang="ja-JP" altLang="en-US" smtClean="0"/>
              <a:t>2026/1/27</a:t>
            </a:fld>
            <a:endParaRPr kumimoji="1" lang="ja-JP" altLang="en-US"/>
          </a:p>
        </p:txBody>
      </p:sp>
      <p:sp>
        <p:nvSpPr>
          <p:cNvPr id="5" name="フッター プレースホルダー 4">
            <a:extLst>
              <a:ext uri="{FF2B5EF4-FFF2-40B4-BE49-F238E27FC236}">
                <a16:creationId xmlns:a16="http://schemas.microsoft.com/office/drawing/2014/main" id="{881E6480-C7F7-088A-D49C-936D9F09793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0E8A9E5-3767-B62B-24AA-E8ED7445D9BB}"/>
              </a:ext>
            </a:extLst>
          </p:cNvPr>
          <p:cNvSpPr>
            <a:spLocks noGrp="1"/>
          </p:cNvSpPr>
          <p:nvPr>
            <p:ph type="sldNum" sz="quarter" idx="12"/>
          </p:nvPr>
        </p:nvSpPr>
        <p:spPr/>
        <p:txBody>
          <a:bodyPr/>
          <a:lstStyle/>
          <a:p>
            <a:fld id="{28BE68D3-CF27-4058-8EF8-DAE96F6B6DFD}" type="slidenum">
              <a:rPr kumimoji="1" lang="ja-JP" altLang="en-US" smtClean="0"/>
              <a:t>‹#›</a:t>
            </a:fld>
            <a:endParaRPr kumimoji="1" lang="ja-JP" altLang="en-US"/>
          </a:p>
        </p:txBody>
      </p:sp>
    </p:spTree>
    <p:extLst>
      <p:ext uri="{BB962C8B-B14F-4D97-AF65-F5344CB8AC3E}">
        <p14:creationId xmlns:p14="http://schemas.microsoft.com/office/powerpoint/2010/main" val="1688974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E16062C8-6439-0632-A6DD-BC99A2AF31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4440B78-4BBD-8192-60B6-580384546E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FDC9DE6-CEAF-1232-3D56-650F5093BA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6ED0D3-DE60-40B5-ADEA-B5070E231616}" type="datetimeFigureOut">
              <a:rPr kumimoji="1" lang="ja-JP" altLang="en-US" smtClean="0"/>
              <a:t>2026/1/27</a:t>
            </a:fld>
            <a:endParaRPr kumimoji="1" lang="ja-JP" altLang="en-US"/>
          </a:p>
        </p:txBody>
      </p:sp>
      <p:sp>
        <p:nvSpPr>
          <p:cNvPr id="5" name="フッター プレースホルダー 4">
            <a:extLst>
              <a:ext uri="{FF2B5EF4-FFF2-40B4-BE49-F238E27FC236}">
                <a16:creationId xmlns:a16="http://schemas.microsoft.com/office/drawing/2014/main" id="{1FCC5071-7032-335D-E4FD-40EC6C27FD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00E7765E-187B-76E1-E215-772BD4CFAA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8BE68D3-CF27-4058-8EF8-DAE96F6B6DFD}" type="slidenum">
              <a:rPr kumimoji="1" lang="ja-JP" altLang="en-US" smtClean="0"/>
              <a:t>‹#›</a:t>
            </a:fld>
            <a:endParaRPr kumimoji="1" lang="ja-JP" altLang="en-US"/>
          </a:p>
        </p:txBody>
      </p:sp>
    </p:spTree>
    <p:extLst>
      <p:ext uri="{BB962C8B-B14F-4D97-AF65-F5344CB8AC3E}">
        <p14:creationId xmlns:p14="http://schemas.microsoft.com/office/powerpoint/2010/main" val="37072301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diagramLayout" Target="../diagrams/layout2.xml"/><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11" Type="http://schemas.openxmlformats.org/officeDocument/2006/relationships/image" Target="../media/image12.png"/><Relationship Id="rId5" Type="http://schemas.openxmlformats.org/officeDocument/2006/relationships/diagramColors" Target="../diagrams/colors2.xml"/><Relationship Id="rId10" Type="http://schemas.openxmlformats.org/officeDocument/2006/relationships/image" Target="../media/image11.svg"/><Relationship Id="rId4" Type="http://schemas.openxmlformats.org/officeDocument/2006/relationships/diagramQuickStyle" Target="../diagrams/quickStyle2.xml"/><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svg"/><Relationship Id="rId18" Type="http://schemas.openxmlformats.org/officeDocument/2006/relationships/image" Target="../media/image31.png"/><Relationship Id="rId3" Type="http://schemas.openxmlformats.org/officeDocument/2006/relationships/diagramData" Target="../diagrams/data3.xml"/><Relationship Id="rId21" Type="http://schemas.openxmlformats.org/officeDocument/2006/relationships/image" Target="../media/image34.svg"/><Relationship Id="rId7" Type="http://schemas.microsoft.com/office/2007/relationships/diagramDrawing" Target="../diagrams/drawing3.xml"/><Relationship Id="rId12" Type="http://schemas.openxmlformats.org/officeDocument/2006/relationships/image" Target="../media/image25.png"/><Relationship Id="rId17" Type="http://schemas.openxmlformats.org/officeDocument/2006/relationships/image" Target="../media/image30.svg"/><Relationship Id="rId2" Type="http://schemas.openxmlformats.org/officeDocument/2006/relationships/notesSlide" Target="../notesSlides/notesSlide1.xml"/><Relationship Id="rId16" Type="http://schemas.openxmlformats.org/officeDocument/2006/relationships/image" Target="../media/image29.png"/><Relationship Id="rId20"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image" Target="../media/image24.svg"/><Relationship Id="rId5" Type="http://schemas.openxmlformats.org/officeDocument/2006/relationships/diagramQuickStyle" Target="../diagrams/quickStyle3.xml"/><Relationship Id="rId15" Type="http://schemas.openxmlformats.org/officeDocument/2006/relationships/image" Target="../media/image28.svg"/><Relationship Id="rId10" Type="http://schemas.openxmlformats.org/officeDocument/2006/relationships/image" Target="../media/image23.png"/><Relationship Id="rId19" Type="http://schemas.openxmlformats.org/officeDocument/2006/relationships/image" Target="../media/image32.svg"/><Relationship Id="rId4" Type="http://schemas.openxmlformats.org/officeDocument/2006/relationships/diagramLayout" Target="../diagrams/layout3.xml"/><Relationship Id="rId9" Type="http://schemas.openxmlformats.org/officeDocument/2006/relationships/image" Target="../media/image22.png"/><Relationship Id="rId14" Type="http://schemas.openxmlformats.org/officeDocument/2006/relationships/image" Target="../media/image27.png"/></Relationships>
</file>

<file path=ppt/slides/_rels/slide8.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svg"/><Relationship Id="rId3" Type="http://schemas.openxmlformats.org/officeDocument/2006/relationships/diagramData" Target="../diagrams/data4.xml"/><Relationship Id="rId7" Type="http://schemas.microsoft.com/office/2007/relationships/diagramDrawing" Target="../diagrams/drawing4.xml"/><Relationship Id="rId12" Type="http://schemas.openxmlformats.org/officeDocument/2006/relationships/image" Target="../media/image39.png"/><Relationship Id="rId17" Type="http://schemas.openxmlformats.org/officeDocument/2006/relationships/image" Target="../media/image44.svg"/><Relationship Id="rId2" Type="http://schemas.openxmlformats.org/officeDocument/2006/relationships/notesSlide" Target="../notesSlides/notesSlide2.xml"/><Relationship Id="rId16"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diagramColors" Target="../diagrams/colors4.xml"/><Relationship Id="rId11" Type="http://schemas.openxmlformats.org/officeDocument/2006/relationships/image" Target="../media/image38.svg"/><Relationship Id="rId5" Type="http://schemas.openxmlformats.org/officeDocument/2006/relationships/diagramQuickStyle" Target="../diagrams/quickStyle4.xml"/><Relationship Id="rId15" Type="http://schemas.openxmlformats.org/officeDocument/2006/relationships/image" Target="../media/image42.svg"/><Relationship Id="rId10" Type="http://schemas.openxmlformats.org/officeDocument/2006/relationships/image" Target="../media/image37.png"/><Relationship Id="rId4" Type="http://schemas.openxmlformats.org/officeDocument/2006/relationships/diagramLayout" Target="../diagrams/layout4.xml"/><Relationship Id="rId9" Type="http://schemas.openxmlformats.org/officeDocument/2006/relationships/image" Target="../media/image36.svg"/><Relationship Id="rId14" Type="http://schemas.openxmlformats.org/officeDocument/2006/relationships/image" Target="../media/image41.png"/></Relationships>
</file>

<file path=ppt/slides/_rels/slide9.xml.rels><?xml version="1.0" encoding="UTF-8" standalone="yes"?>
<Relationships xmlns="http://schemas.openxmlformats.org/package/2006/relationships"><Relationship Id="rId3" Type="http://schemas.openxmlformats.org/officeDocument/2006/relationships/image" Target="../media/image46.svg"/><Relationship Id="rId7" Type="http://schemas.openxmlformats.org/officeDocument/2006/relationships/image" Target="../media/image50.sv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png"/></Relationships>
</file>

<file path=ppt/slides/_rels/slide1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chart" Target="../charts/chart1.xml"/><Relationship Id="rId1" Type="http://schemas.openxmlformats.org/officeDocument/2006/relationships/slideLayout" Target="../slideLayouts/slideLayout2.xml"/><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52.svg"/></Relationships>
</file>

<file path=ppt/slides/_rels/slide11.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chart" Target="../charts/chart2.xml"/><Relationship Id="rId1" Type="http://schemas.openxmlformats.org/officeDocument/2006/relationships/slideLayout" Target="../slideLayouts/slideLayout5.xml"/><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56.svg"/></Relationships>
</file>

<file path=ppt/slides/_rels/slide1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8" Type="http://schemas.openxmlformats.org/officeDocument/2006/relationships/image" Target="../media/image66.svg"/><Relationship Id="rId13" Type="http://schemas.openxmlformats.org/officeDocument/2006/relationships/image" Target="../media/image70.svg"/><Relationship Id="rId18" Type="http://schemas.openxmlformats.org/officeDocument/2006/relationships/image" Target="../media/image75.png"/><Relationship Id="rId3" Type="http://schemas.openxmlformats.org/officeDocument/2006/relationships/chart" Target="../charts/chart3.xml"/><Relationship Id="rId7" Type="http://schemas.openxmlformats.org/officeDocument/2006/relationships/image" Target="../media/image65.png"/><Relationship Id="rId12" Type="http://schemas.openxmlformats.org/officeDocument/2006/relationships/image" Target="../media/image69.png"/><Relationship Id="rId17" Type="http://schemas.openxmlformats.org/officeDocument/2006/relationships/image" Target="../media/image74.svg"/><Relationship Id="rId2" Type="http://schemas.openxmlformats.org/officeDocument/2006/relationships/notesSlide" Target="../notesSlides/notesSlide3.xml"/><Relationship Id="rId16" Type="http://schemas.openxmlformats.org/officeDocument/2006/relationships/image" Target="../media/image73.png"/><Relationship Id="rId1" Type="http://schemas.openxmlformats.org/officeDocument/2006/relationships/slideLayout" Target="../slideLayouts/slideLayout5.xml"/><Relationship Id="rId6" Type="http://schemas.openxmlformats.org/officeDocument/2006/relationships/image" Target="../media/image64.svg"/><Relationship Id="rId11" Type="http://schemas.openxmlformats.org/officeDocument/2006/relationships/image" Target="../media/image68.svg"/><Relationship Id="rId5" Type="http://schemas.openxmlformats.org/officeDocument/2006/relationships/image" Target="../media/image63.png"/><Relationship Id="rId15" Type="http://schemas.openxmlformats.org/officeDocument/2006/relationships/image" Target="../media/image72.svg"/><Relationship Id="rId10" Type="http://schemas.openxmlformats.org/officeDocument/2006/relationships/image" Target="../media/image67.png"/><Relationship Id="rId4" Type="http://schemas.openxmlformats.org/officeDocument/2006/relationships/chart" Target="../charts/chart4.xml"/><Relationship Id="rId9" Type="http://schemas.openxmlformats.org/officeDocument/2006/relationships/chart" Target="../charts/chart5.xml"/><Relationship Id="rId14" Type="http://schemas.openxmlformats.org/officeDocument/2006/relationships/image" Target="../media/image71.png"/></Relationships>
</file>

<file path=ppt/slides/_rels/slide14.xml.rels><?xml version="1.0" encoding="UTF-8" standalone="yes"?>
<Relationships xmlns="http://schemas.openxmlformats.org/package/2006/relationships"><Relationship Id="rId3" Type="http://schemas.openxmlformats.org/officeDocument/2006/relationships/image" Target="../media/image76.png"/><Relationship Id="rId7" Type="http://schemas.openxmlformats.org/officeDocument/2006/relationships/image" Target="../media/image80.sv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79.png"/><Relationship Id="rId5" Type="http://schemas.openxmlformats.org/officeDocument/2006/relationships/image" Target="../media/image78.svg"/><Relationship Id="rId4" Type="http://schemas.openxmlformats.org/officeDocument/2006/relationships/image" Target="../media/image77.png"/></Relationships>
</file>

<file path=ppt/slides/_rels/slide15.xml.rels><?xml version="1.0" encoding="UTF-8" standalone="yes"?>
<Relationships xmlns="http://schemas.openxmlformats.org/package/2006/relationships"><Relationship Id="rId3" Type="http://schemas.openxmlformats.org/officeDocument/2006/relationships/image" Target="../media/image82.svg"/><Relationship Id="rId7" Type="http://schemas.openxmlformats.org/officeDocument/2006/relationships/image" Target="../media/image86.svg"/><Relationship Id="rId2" Type="http://schemas.openxmlformats.org/officeDocument/2006/relationships/image" Target="../media/image81.png"/><Relationship Id="rId1" Type="http://schemas.openxmlformats.org/officeDocument/2006/relationships/slideLayout" Target="../slideLayouts/slideLayout2.xml"/><Relationship Id="rId6" Type="http://schemas.openxmlformats.org/officeDocument/2006/relationships/image" Target="../media/image85.png"/><Relationship Id="rId5" Type="http://schemas.openxmlformats.org/officeDocument/2006/relationships/image" Target="../media/image84.svg"/><Relationship Id="rId4" Type="http://schemas.openxmlformats.org/officeDocument/2006/relationships/image" Target="../media/image83.png"/></Relationships>
</file>

<file path=ppt/slides/_rels/slide16.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88.svg"/><Relationship Id="rId7" Type="http://schemas.openxmlformats.org/officeDocument/2006/relationships/image" Target="../media/image92.svg"/><Relationship Id="rId2"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90.svg"/><Relationship Id="rId4" Type="http://schemas.openxmlformats.org/officeDocument/2006/relationships/image" Target="../media/image89.png"/><Relationship Id="rId9" Type="http://schemas.openxmlformats.org/officeDocument/2006/relationships/image" Target="../media/image94.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0262E669-7774-4EAE-BBCE-F9FFE664D5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48">
            <a:extLst>
              <a:ext uri="{FF2B5EF4-FFF2-40B4-BE49-F238E27FC236}">
                <a16:creationId xmlns:a16="http://schemas.microsoft.com/office/drawing/2014/main" id="{0CD485ED-328F-4350-AB3E-F6EA45149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7484" y="837483"/>
            <a:ext cx="10500646" cy="4843095"/>
          </a:xfrm>
          <a:custGeom>
            <a:avLst/>
            <a:gdLst>
              <a:gd name="connsiteX0" fmla="*/ 0 w 10052180"/>
              <a:gd name="connsiteY0" fmla="*/ 0 h 4650769"/>
              <a:gd name="connsiteX1" fmla="*/ 10052180 w 10052180"/>
              <a:gd name="connsiteY1" fmla="*/ 0 h 4650769"/>
              <a:gd name="connsiteX2" fmla="*/ 10052180 w 10052180"/>
              <a:gd name="connsiteY2" fmla="*/ 4571218 h 4650769"/>
              <a:gd name="connsiteX3" fmla="*/ 10050702 w 10052180"/>
              <a:gd name="connsiteY3" fmla="*/ 4571562 h 4650769"/>
              <a:gd name="connsiteX4" fmla="*/ 10001878 w 10052180"/>
              <a:gd name="connsiteY4" fmla="*/ 4572066 h 4650769"/>
              <a:gd name="connsiteX5" fmla="*/ 9969638 w 10052180"/>
              <a:gd name="connsiteY5" fmla="*/ 4575824 h 4650769"/>
              <a:gd name="connsiteX6" fmla="*/ 9864299 w 10052180"/>
              <a:gd name="connsiteY6" fmla="*/ 4580290 h 4650769"/>
              <a:gd name="connsiteX7" fmla="*/ 9796089 w 10052180"/>
              <a:gd name="connsiteY7" fmla="*/ 4591897 h 4650769"/>
              <a:gd name="connsiteX8" fmla="*/ 9658617 w 10052180"/>
              <a:gd name="connsiteY8" fmla="*/ 4628572 h 4650769"/>
              <a:gd name="connsiteX9" fmla="*/ 9605787 w 10052180"/>
              <a:gd name="connsiteY9" fmla="*/ 4633374 h 4650769"/>
              <a:gd name="connsiteX10" fmla="*/ 9408928 w 10052180"/>
              <a:gd name="connsiteY10" fmla="*/ 4634030 h 4650769"/>
              <a:gd name="connsiteX11" fmla="*/ 9290980 w 10052180"/>
              <a:gd name="connsiteY11" fmla="*/ 4628234 h 4650769"/>
              <a:gd name="connsiteX12" fmla="*/ 9195937 w 10052180"/>
              <a:gd name="connsiteY12" fmla="*/ 4629562 h 4650769"/>
              <a:gd name="connsiteX13" fmla="*/ 9091821 w 10052180"/>
              <a:gd name="connsiteY13" fmla="*/ 4619955 h 4650769"/>
              <a:gd name="connsiteX14" fmla="*/ 9005324 w 10052180"/>
              <a:gd name="connsiteY14" fmla="*/ 4627981 h 4650769"/>
              <a:gd name="connsiteX15" fmla="*/ 8911383 w 10052180"/>
              <a:gd name="connsiteY15" fmla="*/ 4634700 h 4650769"/>
              <a:gd name="connsiteX16" fmla="*/ 8853295 w 10052180"/>
              <a:gd name="connsiteY16" fmla="*/ 4644792 h 4650769"/>
              <a:gd name="connsiteX17" fmla="*/ 8813991 w 10052180"/>
              <a:gd name="connsiteY17" fmla="*/ 4634596 h 4650769"/>
              <a:gd name="connsiteX18" fmla="*/ 8687179 w 10052180"/>
              <a:gd name="connsiteY18" fmla="*/ 4588065 h 4650769"/>
              <a:gd name="connsiteX19" fmla="*/ 8623955 w 10052180"/>
              <a:gd name="connsiteY19" fmla="*/ 4578046 h 4650769"/>
              <a:gd name="connsiteX20" fmla="*/ 8622786 w 10052180"/>
              <a:gd name="connsiteY20" fmla="*/ 4577305 h 4650769"/>
              <a:gd name="connsiteX21" fmla="*/ 8600904 w 10052180"/>
              <a:gd name="connsiteY21" fmla="*/ 4582918 h 4650769"/>
              <a:gd name="connsiteX22" fmla="*/ 8433071 w 10052180"/>
              <a:gd name="connsiteY22" fmla="*/ 4606234 h 4650769"/>
              <a:gd name="connsiteX23" fmla="*/ 8318071 w 10052180"/>
              <a:gd name="connsiteY23" fmla="*/ 4586590 h 4650769"/>
              <a:gd name="connsiteX24" fmla="*/ 8242424 w 10052180"/>
              <a:gd name="connsiteY24" fmla="*/ 4566486 h 4650769"/>
              <a:gd name="connsiteX25" fmla="*/ 8193517 w 10052180"/>
              <a:gd name="connsiteY25" fmla="*/ 4551756 h 4650769"/>
              <a:gd name="connsiteX26" fmla="*/ 8156253 w 10052180"/>
              <a:gd name="connsiteY26" fmla="*/ 4539485 h 4650769"/>
              <a:gd name="connsiteX27" fmla="*/ 8105237 w 10052180"/>
              <a:gd name="connsiteY27" fmla="*/ 4530754 h 4650769"/>
              <a:gd name="connsiteX28" fmla="*/ 8012182 w 10052180"/>
              <a:gd name="connsiteY28" fmla="*/ 4569955 h 4650769"/>
              <a:gd name="connsiteX29" fmla="*/ 7873023 w 10052180"/>
              <a:gd name="connsiteY29" fmla="*/ 4594395 h 4650769"/>
              <a:gd name="connsiteX30" fmla="*/ 7766598 w 10052180"/>
              <a:gd name="connsiteY30" fmla="*/ 4583182 h 4650769"/>
              <a:gd name="connsiteX31" fmla="*/ 7739745 w 10052180"/>
              <a:gd name="connsiteY31" fmla="*/ 4588115 h 4650769"/>
              <a:gd name="connsiteX32" fmla="*/ 7616434 w 10052180"/>
              <a:gd name="connsiteY32" fmla="*/ 4564808 h 4650769"/>
              <a:gd name="connsiteX33" fmla="*/ 7431215 w 10052180"/>
              <a:gd name="connsiteY33" fmla="*/ 4552516 h 4650769"/>
              <a:gd name="connsiteX34" fmla="*/ 7237422 w 10052180"/>
              <a:gd name="connsiteY34" fmla="*/ 4498285 h 4650769"/>
              <a:gd name="connsiteX35" fmla="*/ 7011658 w 10052180"/>
              <a:gd name="connsiteY35" fmla="*/ 4451218 h 4650769"/>
              <a:gd name="connsiteX36" fmla="*/ 6867111 w 10052180"/>
              <a:gd name="connsiteY36" fmla="*/ 4419048 h 4650769"/>
              <a:gd name="connsiteX37" fmla="*/ 6712288 w 10052180"/>
              <a:gd name="connsiteY37" fmla="*/ 4430721 h 4650769"/>
              <a:gd name="connsiteX38" fmla="*/ 6543149 w 10052180"/>
              <a:gd name="connsiteY38" fmla="*/ 4429858 h 4650769"/>
              <a:gd name="connsiteX39" fmla="*/ 6393064 w 10052180"/>
              <a:gd name="connsiteY39" fmla="*/ 4406561 h 4650769"/>
              <a:gd name="connsiteX40" fmla="*/ 6303049 w 10052180"/>
              <a:gd name="connsiteY40" fmla="*/ 4399385 h 4650769"/>
              <a:gd name="connsiteX41" fmla="*/ 6268511 w 10052180"/>
              <a:gd name="connsiteY41" fmla="*/ 4407283 h 4650769"/>
              <a:gd name="connsiteX42" fmla="*/ 6220512 w 10052180"/>
              <a:gd name="connsiteY42" fmla="*/ 4411171 h 4650769"/>
              <a:gd name="connsiteX43" fmla="*/ 6135538 w 10052180"/>
              <a:gd name="connsiteY43" fmla="*/ 4426253 h 4650769"/>
              <a:gd name="connsiteX44" fmla="*/ 6031127 w 10052180"/>
              <a:gd name="connsiteY44" fmla="*/ 4420204 h 4650769"/>
              <a:gd name="connsiteX45" fmla="*/ 5969808 w 10052180"/>
              <a:gd name="connsiteY45" fmla="*/ 4408049 h 4650769"/>
              <a:gd name="connsiteX46" fmla="*/ 5944950 w 10052180"/>
              <a:gd name="connsiteY46" fmla="*/ 4393767 h 4650769"/>
              <a:gd name="connsiteX47" fmla="*/ 5509282 w 10052180"/>
              <a:gd name="connsiteY47" fmla="*/ 4393767 h 4650769"/>
              <a:gd name="connsiteX48" fmla="*/ 5488183 w 10052180"/>
              <a:gd name="connsiteY48" fmla="*/ 4398554 h 4650769"/>
              <a:gd name="connsiteX49" fmla="*/ 5481447 w 10052180"/>
              <a:gd name="connsiteY49" fmla="*/ 4395975 h 4650769"/>
              <a:gd name="connsiteX50" fmla="*/ 5473864 w 10052180"/>
              <a:gd name="connsiteY50" fmla="*/ 4393767 h 4650769"/>
              <a:gd name="connsiteX51" fmla="*/ 5441368 w 10052180"/>
              <a:gd name="connsiteY51" fmla="*/ 4393767 h 4650769"/>
              <a:gd name="connsiteX52" fmla="*/ 5427734 w 10052180"/>
              <a:gd name="connsiteY52" fmla="*/ 4401537 h 4650769"/>
              <a:gd name="connsiteX53" fmla="*/ 5412372 w 10052180"/>
              <a:gd name="connsiteY53" fmla="*/ 4394628 h 4650769"/>
              <a:gd name="connsiteX54" fmla="*/ 5412559 w 10052180"/>
              <a:gd name="connsiteY54" fmla="*/ 4393767 h 4650769"/>
              <a:gd name="connsiteX55" fmla="*/ 5182205 w 10052180"/>
              <a:gd name="connsiteY55" fmla="*/ 4393767 h 4650769"/>
              <a:gd name="connsiteX56" fmla="*/ 5167180 w 10052180"/>
              <a:gd name="connsiteY56" fmla="*/ 4401547 h 4650769"/>
              <a:gd name="connsiteX57" fmla="*/ 5116191 w 10052180"/>
              <a:gd name="connsiteY57" fmla="*/ 4410857 h 4650769"/>
              <a:gd name="connsiteX58" fmla="*/ 4978049 w 10052180"/>
              <a:gd name="connsiteY58" fmla="*/ 4444099 h 4650769"/>
              <a:gd name="connsiteX59" fmla="*/ 4918199 w 10052180"/>
              <a:gd name="connsiteY59" fmla="*/ 4475969 h 4650769"/>
              <a:gd name="connsiteX60" fmla="*/ 4819404 w 10052180"/>
              <a:gd name="connsiteY60" fmla="*/ 4498170 h 4650769"/>
              <a:gd name="connsiteX61" fmla="*/ 4748850 w 10052180"/>
              <a:gd name="connsiteY61" fmla="*/ 4510039 h 4650769"/>
              <a:gd name="connsiteX62" fmla="*/ 4728909 w 10052180"/>
              <a:gd name="connsiteY62" fmla="*/ 4533669 h 4650769"/>
              <a:gd name="connsiteX63" fmla="*/ 4728624 w 10052180"/>
              <a:gd name="connsiteY63" fmla="*/ 4534109 h 4650769"/>
              <a:gd name="connsiteX64" fmla="*/ 4685733 w 10052180"/>
              <a:gd name="connsiteY64" fmla="*/ 4537269 h 4650769"/>
              <a:gd name="connsiteX65" fmla="*/ 4591811 w 10052180"/>
              <a:gd name="connsiteY65" fmla="*/ 4562739 h 4650769"/>
              <a:gd name="connsiteX66" fmla="*/ 4562217 w 10052180"/>
              <a:gd name="connsiteY66" fmla="*/ 4569392 h 4650769"/>
              <a:gd name="connsiteX67" fmla="*/ 4546453 w 10052180"/>
              <a:gd name="connsiteY67" fmla="*/ 4575327 h 4650769"/>
              <a:gd name="connsiteX68" fmla="*/ 4522757 w 10052180"/>
              <a:gd name="connsiteY68" fmla="*/ 4559783 h 4650769"/>
              <a:gd name="connsiteX69" fmla="*/ 4493193 w 10052180"/>
              <a:gd name="connsiteY69" fmla="*/ 4566418 h 4650769"/>
              <a:gd name="connsiteX70" fmla="*/ 4486309 w 10052180"/>
              <a:gd name="connsiteY70" fmla="*/ 4568571 h 4650769"/>
              <a:gd name="connsiteX71" fmla="*/ 4434522 w 10052180"/>
              <a:gd name="connsiteY71" fmla="*/ 4553363 h 4650769"/>
              <a:gd name="connsiteX72" fmla="*/ 4429460 w 10052180"/>
              <a:gd name="connsiteY72" fmla="*/ 4547302 h 4650769"/>
              <a:gd name="connsiteX73" fmla="*/ 4403505 w 10052180"/>
              <a:gd name="connsiteY73" fmla="*/ 4544604 h 4650769"/>
              <a:gd name="connsiteX74" fmla="*/ 4400557 w 10052180"/>
              <a:gd name="connsiteY74" fmla="*/ 4546201 h 4650769"/>
              <a:gd name="connsiteX75" fmla="*/ 4379030 w 10052180"/>
              <a:gd name="connsiteY75" fmla="*/ 4536886 h 4650769"/>
              <a:gd name="connsiteX76" fmla="*/ 4292758 w 10052180"/>
              <a:gd name="connsiteY76" fmla="*/ 4520332 h 4650769"/>
              <a:gd name="connsiteX77" fmla="*/ 4126934 w 10052180"/>
              <a:gd name="connsiteY77" fmla="*/ 4511325 h 4650769"/>
              <a:gd name="connsiteX78" fmla="*/ 3954199 w 10052180"/>
              <a:gd name="connsiteY78" fmla="*/ 4486409 h 4650769"/>
              <a:gd name="connsiteX79" fmla="*/ 3790501 w 10052180"/>
              <a:gd name="connsiteY79" fmla="*/ 4495445 h 4650769"/>
              <a:gd name="connsiteX80" fmla="*/ 3492963 w 10052180"/>
              <a:gd name="connsiteY80" fmla="*/ 4468480 h 4650769"/>
              <a:gd name="connsiteX81" fmla="*/ 3390904 w 10052180"/>
              <a:gd name="connsiteY81" fmla="*/ 4465867 h 4650769"/>
              <a:gd name="connsiteX82" fmla="*/ 3322528 w 10052180"/>
              <a:gd name="connsiteY82" fmla="*/ 4464799 h 4650769"/>
              <a:gd name="connsiteX83" fmla="*/ 3317795 w 10052180"/>
              <a:gd name="connsiteY83" fmla="*/ 4467272 h 4650769"/>
              <a:gd name="connsiteX84" fmla="*/ 3298702 w 10052180"/>
              <a:gd name="connsiteY84" fmla="*/ 4468689 h 4650769"/>
              <a:gd name="connsiteX85" fmla="*/ 3293503 w 10052180"/>
              <a:gd name="connsiteY85" fmla="*/ 4479690 h 4650769"/>
              <a:gd name="connsiteX86" fmla="*/ 3229705 w 10052180"/>
              <a:gd name="connsiteY86" fmla="*/ 4489069 h 4650769"/>
              <a:gd name="connsiteX87" fmla="*/ 3076109 w 10052180"/>
              <a:gd name="connsiteY87" fmla="*/ 4492987 h 4650769"/>
              <a:gd name="connsiteX88" fmla="*/ 2962379 w 10052180"/>
              <a:gd name="connsiteY88" fmla="*/ 4474229 h 4650769"/>
              <a:gd name="connsiteX89" fmla="*/ 2924375 w 10052180"/>
              <a:gd name="connsiteY89" fmla="*/ 4484334 h 4650769"/>
              <a:gd name="connsiteX90" fmla="*/ 2871297 w 10052180"/>
              <a:gd name="connsiteY90" fmla="*/ 4491313 h 4650769"/>
              <a:gd name="connsiteX91" fmla="*/ 2700663 w 10052180"/>
              <a:gd name="connsiteY91" fmla="*/ 4485036 h 4650769"/>
              <a:gd name="connsiteX92" fmla="*/ 2560084 w 10052180"/>
              <a:gd name="connsiteY92" fmla="*/ 4489523 h 4650769"/>
              <a:gd name="connsiteX93" fmla="*/ 2479658 w 10052180"/>
              <a:gd name="connsiteY93" fmla="*/ 4499250 h 4650769"/>
              <a:gd name="connsiteX94" fmla="*/ 2309526 w 10052180"/>
              <a:gd name="connsiteY94" fmla="*/ 4471569 h 4650769"/>
              <a:gd name="connsiteX95" fmla="*/ 2143849 w 10052180"/>
              <a:gd name="connsiteY95" fmla="*/ 4458678 h 4650769"/>
              <a:gd name="connsiteX96" fmla="*/ 2054460 w 10052180"/>
              <a:gd name="connsiteY96" fmla="*/ 4444435 h 4650769"/>
              <a:gd name="connsiteX97" fmla="*/ 1875690 w 10052180"/>
              <a:gd name="connsiteY97" fmla="*/ 4462877 h 4650769"/>
              <a:gd name="connsiteX98" fmla="*/ 1829588 w 10052180"/>
              <a:gd name="connsiteY98" fmla="*/ 4463680 h 4650769"/>
              <a:gd name="connsiteX99" fmla="*/ 1729685 w 10052180"/>
              <a:gd name="connsiteY99" fmla="*/ 4483196 h 4650769"/>
              <a:gd name="connsiteX100" fmla="*/ 1672107 w 10052180"/>
              <a:gd name="connsiteY100" fmla="*/ 4487209 h 4650769"/>
              <a:gd name="connsiteX101" fmla="*/ 1514794 w 10052180"/>
              <a:gd name="connsiteY101" fmla="*/ 4506035 h 4650769"/>
              <a:gd name="connsiteX102" fmla="*/ 1375355 w 10052180"/>
              <a:gd name="connsiteY102" fmla="*/ 4535286 h 4650769"/>
              <a:gd name="connsiteX103" fmla="*/ 1281723 w 10052180"/>
              <a:gd name="connsiteY103" fmla="*/ 4557767 h 4650769"/>
              <a:gd name="connsiteX104" fmla="*/ 1152251 w 10052180"/>
              <a:gd name="connsiteY104" fmla="*/ 4596280 h 4650769"/>
              <a:gd name="connsiteX105" fmla="*/ 1112386 w 10052180"/>
              <a:gd name="connsiteY105" fmla="*/ 4603999 h 4650769"/>
              <a:gd name="connsiteX106" fmla="*/ 1055042 w 10052180"/>
              <a:gd name="connsiteY106" fmla="*/ 4590297 h 4650769"/>
              <a:gd name="connsiteX107" fmla="*/ 961705 w 10052180"/>
              <a:gd name="connsiteY107" fmla="*/ 4577719 h 4650769"/>
              <a:gd name="connsiteX108" fmla="*/ 875879 w 10052180"/>
              <a:gd name="connsiteY108" fmla="*/ 4564303 h 4650769"/>
              <a:gd name="connsiteX109" fmla="*/ 771366 w 10052180"/>
              <a:gd name="connsiteY109" fmla="*/ 4567383 h 4650769"/>
              <a:gd name="connsiteX110" fmla="*/ 676592 w 10052180"/>
              <a:gd name="connsiteY110" fmla="*/ 4560117 h 4650769"/>
              <a:gd name="connsiteX111" fmla="*/ 558512 w 10052180"/>
              <a:gd name="connsiteY111" fmla="*/ 4558530 h 4650769"/>
              <a:gd name="connsiteX112" fmla="*/ 362079 w 10052180"/>
              <a:gd name="connsiteY112" fmla="*/ 4545572 h 4650769"/>
              <a:gd name="connsiteX113" fmla="*/ 309653 w 10052180"/>
              <a:gd name="connsiteY113" fmla="*/ 4537476 h 4650769"/>
              <a:gd name="connsiteX114" fmla="*/ 174742 w 10052180"/>
              <a:gd name="connsiteY114" fmla="*/ 4492281 h 4650769"/>
              <a:gd name="connsiteX115" fmla="*/ 107390 w 10052180"/>
              <a:gd name="connsiteY115" fmla="*/ 4476433 h 4650769"/>
              <a:gd name="connsiteX116" fmla="*/ 2537 w 10052180"/>
              <a:gd name="connsiteY116" fmla="*/ 4465393 h 4650769"/>
              <a:gd name="connsiteX117" fmla="*/ 0 w 10052180"/>
              <a:gd name="connsiteY117" fmla="*/ 4463105 h 4650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0052180" h="4650769">
                <a:moveTo>
                  <a:pt x="0" y="0"/>
                </a:moveTo>
                <a:lnTo>
                  <a:pt x="10052180" y="0"/>
                </a:lnTo>
                <a:lnTo>
                  <a:pt x="10052180" y="4571218"/>
                </a:lnTo>
                <a:lnTo>
                  <a:pt x="10050702" y="4571562"/>
                </a:lnTo>
                <a:cubicBezTo>
                  <a:pt x="10033695" y="4573943"/>
                  <a:pt x="10017259" y="4574375"/>
                  <a:pt x="10001878" y="4572066"/>
                </a:cubicBezTo>
                <a:cubicBezTo>
                  <a:pt x="9987347" y="4562370"/>
                  <a:pt x="9978539" y="4560848"/>
                  <a:pt x="9969638" y="4575824"/>
                </a:cubicBezTo>
                <a:cubicBezTo>
                  <a:pt x="9931111" y="4571506"/>
                  <a:pt x="9885705" y="4604598"/>
                  <a:pt x="9864299" y="4580290"/>
                </a:cubicBezTo>
                <a:cubicBezTo>
                  <a:pt x="9860644" y="4614890"/>
                  <a:pt x="9811449" y="4560843"/>
                  <a:pt x="9796089" y="4591897"/>
                </a:cubicBezTo>
                <a:cubicBezTo>
                  <a:pt x="9744340" y="4604414"/>
                  <a:pt x="9702353" y="4613016"/>
                  <a:pt x="9658617" y="4628572"/>
                </a:cubicBezTo>
                <a:cubicBezTo>
                  <a:pt x="9625107" y="4639733"/>
                  <a:pt x="9621223" y="4635658"/>
                  <a:pt x="9605787" y="4633374"/>
                </a:cubicBezTo>
                <a:cubicBezTo>
                  <a:pt x="9564172" y="4634284"/>
                  <a:pt x="9459602" y="4639135"/>
                  <a:pt x="9408928" y="4634030"/>
                </a:cubicBezTo>
                <a:cubicBezTo>
                  <a:pt x="9373936" y="4630911"/>
                  <a:pt x="9320962" y="4677031"/>
                  <a:pt x="9290980" y="4628234"/>
                </a:cubicBezTo>
                <a:cubicBezTo>
                  <a:pt x="9269062" y="4638218"/>
                  <a:pt x="9223761" y="4630232"/>
                  <a:pt x="9195937" y="4629562"/>
                </a:cubicBezTo>
                <a:cubicBezTo>
                  <a:pt x="9143088" y="4610116"/>
                  <a:pt x="9133223" y="4633821"/>
                  <a:pt x="9091821" y="4619955"/>
                </a:cubicBezTo>
                <a:cubicBezTo>
                  <a:pt x="9032935" y="4627891"/>
                  <a:pt x="9027183" y="4624471"/>
                  <a:pt x="9005324" y="4627981"/>
                </a:cubicBezTo>
                <a:cubicBezTo>
                  <a:pt x="8967164" y="4640966"/>
                  <a:pt x="8953005" y="4638659"/>
                  <a:pt x="8911383" y="4634700"/>
                </a:cubicBezTo>
                <a:cubicBezTo>
                  <a:pt x="8910140" y="4622209"/>
                  <a:pt x="8861731" y="4642891"/>
                  <a:pt x="8853295" y="4644792"/>
                </a:cubicBezTo>
                <a:cubicBezTo>
                  <a:pt x="8855383" y="4637166"/>
                  <a:pt x="8821677" y="4629387"/>
                  <a:pt x="8813991" y="4634596"/>
                </a:cubicBezTo>
                <a:cubicBezTo>
                  <a:pt x="8714011" y="4640974"/>
                  <a:pt x="8735462" y="4587278"/>
                  <a:pt x="8687179" y="4588065"/>
                </a:cubicBezTo>
                <a:cubicBezTo>
                  <a:pt x="8647941" y="4587885"/>
                  <a:pt x="8644846" y="4590573"/>
                  <a:pt x="8623955" y="4578046"/>
                </a:cubicBezTo>
                <a:lnTo>
                  <a:pt x="8622786" y="4577305"/>
                </a:lnTo>
                <a:lnTo>
                  <a:pt x="8600904" y="4582918"/>
                </a:lnTo>
                <a:cubicBezTo>
                  <a:pt x="8551179" y="4589770"/>
                  <a:pt x="8503007" y="4582778"/>
                  <a:pt x="8433071" y="4606234"/>
                </a:cubicBezTo>
                <a:cubicBezTo>
                  <a:pt x="8391517" y="4597543"/>
                  <a:pt x="8356812" y="4603351"/>
                  <a:pt x="8318071" y="4586590"/>
                </a:cubicBezTo>
                <a:cubicBezTo>
                  <a:pt x="8301780" y="4574528"/>
                  <a:pt x="8258966" y="4594748"/>
                  <a:pt x="8242424" y="4566486"/>
                </a:cubicBezTo>
                <a:cubicBezTo>
                  <a:pt x="8237603" y="4584126"/>
                  <a:pt x="8200783" y="4561583"/>
                  <a:pt x="8193517" y="4551756"/>
                </a:cubicBezTo>
                <a:cubicBezTo>
                  <a:pt x="8181915" y="4557821"/>
                  <a:pt x="8167403" y="4540618"/>
                  <a:pt x="8156253" y="4539485"/>
                </a:cubicBezTo>
                <a:cubicBezTo>
                  <a:pt x="8141597" y="4496572"/>
                  <a:pt x="8127998" y="4557617"/>
                  <a:pt x="8105237" y="4530754"/>
                </a:cubicBezTo>
                <a:cubicBezTo>
                  <a:pt x="8091039" y="4542025"/>
                  <a:pt x="8045973" y="4563365"/>
                  <a:pt x="8012182" y="4569955"/>
                </a:cubicBezTo>
                <a:cubicBezTo>
                  <a:pt x="7945237" y="4585532"/>
                  <a:pt x="7935255" y="4616038"/>
                  <a:pt x="7873023" y="4594395"/>
                </a:cubicBezTo>
                <a:cubicBezTo>
                  <a:pt x="7859384" y="4618199"/>
                  <a:pt x="7761094" y="4535441"/>
                  <a:pt x="7766598" y="4583182"/>
                </a:cubicBezTo>
                <a:cubicBezTo>
                  <a:pt x="7745587" y="4577284"/>
                  <a:pt x="7733182" y="4556528"/>
                  <a:pt x="7739745" y="4588115"/>
                </a:cubicBezTo>
                <a:lnTo>
                  <a:pt x="7616434" y="4564808"/>
                </a:lnTo>
                <a:cubicBezTo>
                  <a:pt x="7546376" y="4561257"/>
                  <a:pt x="7499612" y="4575632"/>
                  <a:pt x="7431215" y="4552516"/>
                </a:cubicBezTo>
                <a:cubicBezTo>
                  <a:pt x="7362500" y="4539342"/>
                  <a:pt x="7331229" y="4514002"/>
                  <a:pt x="7237422" y="4498285"/>
                </a:cubicBezTo>
                <a:cubicBezTo>
                  <a:pt x="7171877" y="4484375"/>
                  <a:pt x="7080174" y="4453116"/>
                  <a:pt x="7011658" y="4451218"/>
                </a:cubicBezTo>
                <a:cubicBezTo>
                  <a:pt x="6935893" y="4414558"/>
                  <a:pt x="6950516" y="4446303"/>
                  <a:pt x="6867111" y="4419048"/>
                </a:cubicBezTo>
                <a:cubicBezTo>
                  <a:pt x="6820640" y="4462144"/>
                  <a:pt x="6759791" y="4426229"/>
                  <a:pt x="6712288" y="4430721"/>
                </a:cubicBezTo>
                <a:cubicBezTo>
                  <a:pt x="6658294" y="4432523"/>
                  <a:pt x="6596353" y="4433885"/>
                  <a:pt x="6543149" y="4429858"/>
                </a:cubicBezTo>
                <a:cubicBezTo>
                  <a:pt x="6505785" y="4400413"/>
                  <a:pt x="6438998" y="4445436"/>
                  <a:pt x="6393064" y="4406561"/>
                </a:cubicBezTo>
                <a:cubicBezTo>
                  <a:pt x="6375470" y="4396073"/>
                  <a:pt x="6316748" y="4386920"/>
                  <a:pt x="6303049" y="4399385"/>
                </a:cubicBezTo>
                <a:cubicBezTo>
                  <a:pt x="6290271" y="4400402"/>
                  <a:pt x="6276955" y="4392864"/>
                  <a:pt x="6268511" y="4407283"/>
                </a:cubicBezTo>
                <a:cubicBezTo>
                  <a:pt x="6255819" y="4424201"/>
                  <a:pt x="6218422" y="4388280"/>
                  <a:pt x="6220512" y="4411171"/>
                </a:cubicBezTo>
                <a:cubicBezTo>
                  <a:pt x="6193829" y="4386375"/>
                  <a:pt x="6162713" y="4421037"/>
                  <a:pt x="6135538" y="4426253"/>
                </a:cubicBezTo>
                <a:cubicBezTo>
                  <a:pt x="6115250" y="4402715"/>
                  <a:pt x="6087532" y="4424859"/>
                  <a:pt x="6031127" y="4420204"/>
                </a:cubicBezTo>
                <a:cubicBezTo>
                  <a:pt x="6014546" y="4399963"/>
                  <a:pt x="5996210" y="4415252"/>
                  <a:pt x="5969808" y="4408049"/>
                </a:cubicBezTo>
                <a:lnTo>
                  <a:pt x="5944950" y="4393767"/>
                </a:lnTo>
                <a:lnTo>
                  <a:pt x="5509282" y="4393767"/>
                </a:lnTo>
                <a:lnTo>
                  <a:pt x="5488183" y="4398554"/>
                </a:lnTo>
                <a:lnTo>
                  <a:pt x="5481447" y="4395975"/>
                </a:lnTo>
                <a:lnTo>
                  <a:pt x="5473864" y="4393767"/>
                </a:lnTo>
                <a:lnTo>
                  <a:pt x="5441368" y="4393767"/>
                </a:lnTo>
                <a:lnTo>
                  <a:pt x="5427734" y="4401537"/>
                </a:lnTo>
                <a:cubicBezTo>
                  <a:pt x="5424659" y="4397308"/>
                  <a:pt x="5420116" y="4394509"/>
                  <a:pt x="5412372" y="4394628"/>
                </a:cubicBezTo>
                <a:lnTo>
                  <a:pt x="5412559" y="4393767"/>
                </a:lnTo>
                <a:lnTo>
                  <a:pt x="5182205" y="4393767"/>
                </a:lnTo>
                <a:lnTo>
                  <a:pt x="5167180" y="4401547"/>
                </a:lnTo>
                <a:cubicBezTo>
                  <a:pt x="5145322" y="4388995"/>
                  <a:pt x="5130136" y="4396666"/>
                  <a:pt x="5116191" y="4410857"/>
                </a:cubicBezTo>
                <a:cubicBezTo>
                  <a:pt x="5069121" y="4410132"/>
                  <a:pt x="5029330" y="4432817"/>
                  <a:pt x="4978049" y="4444099"/>
                </a:cubicBezTo>
                <a:cubicBezTo>
                  <a:pt x="4921746" y="4464946"/>
                  <a:pt x="4952787" y="4460274"/>
                  <a:pt x="4918199" y="4475969"/>
                </a:cubicBezTo>
                <a:lnTo>
                  <a:pt x="4819404" y="4498170"/>
                </a:lnTo>
                <a:lnTo>
                  <a:pt x="4748850" y="4510039"/>
                </a:lnTo>
                <a:lnTo>
                  <a:pt x="4728909" y="4533669"/>
                </a:lnTo>
                <a:lnTo>
                  <a:pt x="4728624" y="4534109"/>
                </a:lnTo>
                <a:lnTo>
                  <a:pt x="4685733" y="4537269"/>
                </a:lnTo>
                <a:cubicBezTo>
                  <a:pt x="4662932" y="4542040"/>
                  <a:pt x="4617689" y="4556675"/>
                  <a:pt x="4591811" y="4562739"/>
                </a:cubicBezTo>
                <a:cubicBezTo>
                  <a:pt x="4568298" y="4558219"/>
                  <a:pt x="4553786" y="4538337"/>
                  <a:pt x="4562217" y="4569392"/>
                </a:cubicBezTo>
                <a:cubicBezTo>
                  <a:pt x="4554496" y="4568788"/>
                  <a:pt x="4549787" y="4571298"/>
                  <a:pt x="4546453" y="4575327"/>
                </a:cubicBezTo>
                <a:lnTo>
                  <a:pt x="4522757" y="4559783"/>
                </a:lnTo>
                <a:lnTo>
                  <a:pt x="4493193" y="4566418"/>
                </a:lnTo>
                <a:lnTo>
                  <a:pt x="4486309" y="4568571"/>
                </a:lnTo>
                <a:lnTo>
                  <a:pt x="4434522" y="4553363"/>
                </a:lnTo>
                <a:lnTo>
                  <a:pt x="4429460" y="4547302"/>
                </a:lnTo>
                <a:cubicBezTo>
                  <a:pt x="4424037" y="4543565"/>
                  <a:pt x="4416331" y="4541821"/>
                  <a:pt x="4403505" y="4544604"/>
                </a:cubicBezTo>
                <a:lnTo>
                  <a:pt x="4400557" y="4546201"/>
                </a:lnTo>
                <a:lnTo>
                  <a:pt x="4379030" y="4536886"/>
                </a:lnTo>
                <a:cubicBezTo>
                  <a:pt x="4372078" y="4532654"/>
                  <a:pt x="4297808" y="4527155"/>
                  <a:pt x="4292758" y="4520332"/>
                </a:cubicBezTo>
                <a:cubicBezTo>
                  <a:pt x="4211493" y="4536974"/>
                  <a:pt x="4205812" y="4507045"/>
                  <a:pt x="4126934" y="4511325"/>
                </a:cubicBezTo>
                <a:cubicBezTo>
                  <a:pt x="4058483" y="4465563"/>
                  <a:pt x="4015465" y="4493211"/>
                  <a:pt x="3954199" y="4486409"/>
                </a:cubicBezTo>
                <a:cubicBezTo>
                  <a:pt x="3895850" y="4481584"/>
                  <a:pt x="3868881" y="4496263"/>
                  <a:pt x="3790501" y="4495445"/>
                </a:cubicBezTo>
                <a:cubicBezTo>
                  <a:pt x="3707431" y="4485284"/>
                  <a:pt x="3586435" y="4490248"/>
                  <a:pt x="3492963" y="4468480"/>
                </a:cubicBezTo>
                <a:cubicBezTo>
                  <a:pt x="3419549" y="4461359"/>
                  <a:pt x="3419311" y="4466480"/>
                  <a:pt x="3390904" y="4465867"/>
                </a:cubicBezTo>
                <a:cubicBezTo>
                  <a:pt x="3381467" y="4468795"/>
                  <a:pt x="3331557" y="4460030"/>
                  <a:pt x="3322528" y="4464799"/>
                </a:cubicBezTo>
                <a:lnTo>
                  <a:pt x="3317795" y="4467272"/>
                </a:lnTo>
                <a:lnTo>
                  <a:pt x="3298702" y="4468689"/>
                </a:lnTo>
                <a:lnTo>
                  <a:pt x="3293503" y="4479690"/>
                </a:lnTo>
                <a:lnTo>
                  <a:pt x="3229705" y="4489069"/>
                </a:lnTo>
                <a:cubicBezTo>
                  <a:pt x="3187202" y="4462144"/>
                  <a:pt x="3151062" y="4494035"/>
                  <a:pt x="3076109" y="4492987"/>
                </a:cubicBezTo>
                <a:cubicBezTo>
                  <a:pt x="3056222" y="4483674"/>
                  <a:pt x="2977114" y="4460921"/>
                  <a:pt x="2962379" y="4474229"/>
                </a:cubicBezTo>
                <a:cubicBezTo>
                  <a:pt x="2948249" y="4476071"/>
                  <a:pt x="2933210" y="4469418"/>
                  <a:pt x="2924375" y="4484334"/>
                </a:cubicBezTo>
                <a:cubicBezTo>
                  <a:pt x="2910921" y="4502015"/>
                  <a:pt x="2868144" y="4468636"/>
                  <a:pt x="2871297" y="4491313"/>
                </a:cubicBezTo>
                <a:cubicBezTo>
                  <a:pt x="2834012" y="4491430"/>
                  <a:pt x="2752532" y="4485335"/>
                  <a:pt x="2700663" y="4485036"/>
                </a:cubicBezTo>
                <a:cubicBezTo>
                  <a:pt x="2675164" y="4459571"/>
                  <a:pt x="2600340" y="4494322"/>
                  <a:pt x="2560084" y="4489523"/>
                </a:cubicBezTo>
                <a:cubicBezTo>
                  <a:pt x="2524760" y="4491171"/>
                  <a:pt x="2521424" y="4504416"/>
                  <a:pt x="2479658" y="4499250"/>
                </a:cubicBezTo>
                <a:cubicBezTo>
                  <a:pt x="2405210" y="4494755"/>
                  <a:pt x="2378207" y="4484444"/>
                  <a:pt x="2309526" y="4471569"/>
                </a:cubicBezTo>
                <a:cubicBezTo>
                  <a:pt x="2231692" y="4461873"/>
                  <a:pt x="2230867" y="4475023"/>
                  <a:pt x="2143849" y="4458678"/>
                </a:cubicBezTo>
                <a:cubicBezTo>
                  <a:pt x="2123776" y="4453795"/>
                  <a:pt x="2075082" y="4453878"/>
                  <a:pt x="2054460" y="4444435"/>
                </a:cubicBezTo>
                <a:cubicBezTo>
                  <a:pt x="2025665" y="4449526"/>
                  <a:pt x="1907402" y="4455434"/>
                  <a:pt x="1875690" y="4462877"/>
                </a:cubicBezTo>
                <a:cubicBezTo>
                  <a:pt x="1830650" y="4467513"/>
                  <a:pt x="1869806" y="4459610"/>
                  <a:pt x="1829588" y="4463680"/>
                </a:cubicBezTo>
                <a:cubicBezTo>
                  <a:pt x="1791050" y="4448543"/>
                  <a:pt x="1782985" y="4472982"/>
                  <a:pt x="1729685" y="4483196"/>
                </a:cubicBezTo>
                <a:cubicBezTo>
                  <a:pt x="1707743" y="4468503"/>
                  <a:pt x="1689784" y="4474556"/>
                  <a:pt x="1672107" y="4487209"/>
                </a:cubicBezTo>
                <a:cubicBezTo>
                  <a:pt x="1620500" y="4481667"/>
                  <a:pt x="1573015" y="4500097"/>
                  <a:pt x="1514794" y="4506035"/>
                </a:cubicBezTo>
                <a:cubicBezTo>
                  <a:pt x="1452269" y="4488005"/>
                  <a:pt x="1437575" y="4529096"/>
                  <a:pt x="1375355" y="4535286"/>
                </a:cubicBezTo>
                <a:cubicBezTo>
                  <a:pt x="1321736" y="4564899"/>
                  <a:pt x="1333953" y="4560797"/>
                  <a:pt x="1281723" y="4557767"/>
                </a:cubicBezTo>
                <a:cubicBezTo>
                  <a:pt x="1233584" y="4553963"/>
                  <a:pt x="1251636" y="4608894"/>
                  <a:pt x="1152251" y="4596280"/>
                </a:cubicBezTo>
                <a:cubicBezTo>
                  <a:pt x="1144905" y="4590601"/>
                  <a:pt x="1110779" y="4596258"/>
                  <a:pt x="1112386" y="4603999"/>
                </a:cubicBezTo>
                <a:cubicBezTo>
                  <a:pt x="1104086" y="4601575"/>
                  <a:pt x="1057064" y="4577908"/>
                  <a:pt x="1055042" y="4590297"/>
                </a:cubicBezTo>
                <a:cubicBezTo>
                  <a:pt x="1013255" y="4591647"/>
                  <a:pt x="998979" y="4593064"/>
                  <a:pt x="961705" y="4577719"/>
                </a:cubicBezTo>
                <a:cubicBezTo>
                  <a:pt x="940108" y="4572850"/>
                  <a:pt x="934154" y="4575904"/>
                  <a:pt x="875879" y="4564303"/>
                </a:cubicBezTo>
                <a:cubicBezTo>
                  <a:pt x="833691" y="4575554"/>
                  <a:pt x="825327" y="4551279"/>
                  <a:pt x="771366" y="4567383"/>
                </a:cubicBezTo>
                <a:cubicBezTo>
                  <a:pt x="743555" y="4566313"/>
                  <a:pt x="697843" y="4571452"/>
                  <a:pt x="676592" y="4560117"/>
                </a:cubicBezTo>
                <a:cubicBezTo>
                  <a:pt x="643619" y="4606945"/>
                  <a:pt x="593631" y="4557605"/>
                  <a:pt x="558512" y="4558530"/>
                </a:cubicBezTo>
                <a:cubicBezTo>
                  <a:pt x="507618" y="4560458"/>
                  <a:pt x="403556" y="4549081"/>
                  <a:pt x="362079" y="4545572"/>
                </a:cubicBezTo>
                <a:cubicBezTo>
                  <a:pt x="346531" y="4546886"/>
                  <a:pt x="342400" y="4550710"/>
                  <a:pt x="309653" y="4537476"/>
                </a:cubicBezTo>
                <a:cubicBezTo>
                  <a:pt x="266974" y="4519218"/>
                  <a:pt x="225607" y="4508008"/>
                  <a:pt x="174742" y="4492281"/>
                </a:cubicBezTo>
                <a:cubicBezTo>
                  <a:pt x="161353" y="4460328"/>
                  <a:pt x="108876" y="4511194"/>
                  <a:pt x="107390" y="4476433"/>
                </a:cubicBezTo>
                <a:cubicBezTo>
                  <a:pt x="84507" y="4499356"/>
                  <a:pt x="41258" y="4463491"/>
                  <a:pt x="2537" y="4465393"/>
                </a:cubicBezTo>
                <a:lnTo>
                  <a:pt x="0" y="4463105"/>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タイトル 1">
            <a:extLst>
              <a:ext uri="{FF2B5EF4-FFF2-40B4-BE49-F238E27FC236}">
                <a16:creationId xmlns:a16="http://schemas.microsoft.com/office/drawing/2014/main" id="{111F9474-1D5C-115D-29DB-72C8DD366DEA}"/>
              </a:ext>
            </a:extLst>
          </p:cNvPr>
          <p:cNvSpPr>
            <a:spLocks noGrp="1"/>
          </p:cNvSpPr>
          <p:nvPr>
            <p:ph type="ctrTitle"/>
          </p:nvPr>
        </p:nvSpPr>
        <p:spPr>
          <a:xfrm>
            <a:off x="2532376" y="1729408"/>
            <a:ext cx="7127248" cy="2105613"/>
          </a:xfrm>
        </p:spPr>
        <p:txBody>
          <a:bodyPr vert="horz" lIns="91440" tIns="45720" rIns="91440" bIns="45720" rtlCol="0" anchor="b">
            <a:normAutofit fontScale="90000"/>
          </a:bodyPr>
          <a:lstStyle/>
          <a:p>
            <a:r>
              <a:rPr lang="ja-JP" altLang="ja-JP" b="1" dirty="0"/>
              <a:t>広告施策が需要予測に与える影響分析</a:t>
            </a:r>
            <a:br>
              <a:rPr lang="ja-JP" altLang="en-US" sz="4100" b="1" kern="1200" dirty="0">
                <a:solidFill>
                  <a:schemeClr val="tx1">
                    <a:lumMod val="85000"/>
                    <a:lumOff val="15000"/>
                  </a:schemeClr>
                </a:solidFill>
                <a:latin typeface="+mj-lt"/>
                <a:ea typeface="+mj-ea"/>
                <a:cs typeface="+mj-cs"/>
              </a:rPr>
            </a:br>
            <a:endParaRPr kumimoji="1" lang="en-US" altLang="ja-JP" sz="4100" b="1" kern="1200" dirty="0">
              <a:solidFill>
                <a:schemeClr val="tx1">
                  <a:lumMod val="85000"/>
                  <a:lumOff val="15000"/>
                </a:schemeClr>
              </a:solidFill>
              <a:latin typeface="+mj-lt"/>
              <a:ea typeface="+mj-ea"/>
              <a:cs typeface="+mj-cs"/>
            </a:endParaRPr>
          </a:p>
        </p:txBody>
      </p:sp>
      <p:sp>
        <p:nvSpPr>
          <p:cNvPr id="3" name="字幕 2">
            <a:extLst>
              <a:ext uri="{FF2B5EF4-FFF2-40B4-BE49-F238E27FC236}">
                <a16:creationId xmlns:a16="http://schemas.microsoft.com/office/drawing/2014/main" id="{6AB97861-BBD6-0599-D512-0FC13CF5D11A}"/>
              </a:ext>
            </a:extLst>
          </p:cNvPr>
          <p:cNvSpPr>
            <a:spLocks noGrp="1"/>
          </p:cNvSpPr>
          <p:nvPr>
            <p:ph type="subTitle" idx="1"/>
          </p:nvPr>
        </p:nvSpPr>
        <p:spPr>
          <a:xfrm>
            <a:off x="2532376" y="4195065"/>
            <a:ext cx="7127248" cy="1125469"/>
          </a:xfrm>
        </p:spPr>
        <p:txBody>
          <a:bodyPr vert="horz" lIns="91440" tIns="45720" rIns="91440" bIns="45720" rtlCol="0">
            <a:normAutofit lnSpcReduction="10000"/>
          </a:bodyPr>
          <a:lstStyle/>
          <a:p>
            <a:r>
              <a:rPr lang="en-US" altLang="ja-JP" sz="1500" b="1" dirty="0">
                <a:solidFill>
                  <a:schemeClr val="tx1">
                    <a:lumMod val="85000"/>
                    <a:lumOff val="15000"/>
                  </a:schemeClr>
                </a:solidFill>
              </a:rPr>
              <a:t>― BERT</a:t>
            </a:r>
            <a:r>
              <a:rPr lang="ja-JP" altLang="en-US" sz="1500" b="1" dirty="0">
                <a:solidFill>
                  <a:schemeClr val="tx1">
                    <a:lumMod val="85000"/>
                    <a:lumOff val="15000"/>
                  </a:schemeClr>
                </a:solidFill>
              </a:rPr>
              <a:t>特徴量とディープラーニングを用いた小売需要予測モデルの構築 </a:t>
            </a:r>
            <a:r>
              <a:rPr lang="en-US" altLang="ja-JP" sz="1500" b="1" dirty="0">
                <a:solidFill>
                  <a:schemeClr val="tx1">
                    <a:lumMod val="85000"/>
                    <a:lumOff val="15000"/>
                  </a:schemeClr>
                </a:solidFill>
              </a:rPr>
              <a:t>―</a:t>
            </a:r>
            <a:br>
              <a:rPr lang="en-US" altLang="ja-JP" sz="1500" b="1" dirty="0">
                <a:solidFill>
                  <a:schemeClr val="tx1">
                    <a:lumMod val="85000"/>
                    <a:lumOff val="15000"/>
                  </a:schemeClr>
                </a:solidFill>
              </a:rPr>
            </a:br>
            <a:endParaRPr lang="en-US" altLang="ja-JP" sz="1500" b="1" dirty="0">
              <a:solidFill>
                <a:schemeClr val="tx1">
                  <a:lumMod val="85000"/>
                  <a:lumOff val="15000"/>
                </a:schemeClr>
              </a:solidFill>
            </a:endParaRPr>
          </a:p>
          <a:p>
            <a:r>
              <a:rPr lang="zh-TW" altLang="en-US" sz="1500" dirty="0">
                <a:solidFill>
                  <a:schemeClr val="tx1">
                    <a:lumMod val="85000"/>
                    <a:lumOff val="15000"/>
                  </a:schemeClr>
                </a:solidFill>
              </a:rPr>
              <a:t>発表者 </a:t>
            </a:r>
            <a:r>
              <a:rPr lang="zh-TW" altLang="en-US" sz="1500" b="1" dirty="0">
                <a:solidFill>
                  <a:schemeClr val="tx1">
                    <a:lumMod val="85000"/>
                    <a:lumOff val="15000"/>
                  </a:schemeClr>
                </a:solidFill>
              </a:rPr>
              <a:t>青柳 匠真 </a:t>
            </a:r>
            <a:r>
              <a:rPr lang="ja-JP" altLang="en-US" sz="1500" b="1" dirty="0">
                <a:solidFill>
                  <a:schemeClr val="tx1">
                    <a:lumMod val="85000"/>
                    <a:lumOff val="15000"/>
                  </a:schemeClr>
                </a:solidFill>
                <a:latin typeface="PMingLiU" panose="02020500000000000000" pitchFamily="18" charset="-120"/>
                <a:ea typeface="PMingLiU" panose="02020500000000000000" pitchFamily="18" charset="-120"/>
              </a:rPr>
              <a:t>　山本 未来　前澤 佳月　李仁鵬</a:t>
            </a:r>
            <a:endParaRPr lang="en-US" altLang="zh-TW" sz="1500" b="1" dirty="0">
              <a:solidFill>
                <a:schemeClr val="tx1">
                  <a:lumMod val="85000"/>
                  <a:lumOff val="15000"/>
                </a:schemeClr>
              </a:solidFill>
              <a:latin typeface="PMingLiU" panose="02020500000000000000" pitchFamily="18" charset="-120"/>
              <a:ea typeface="PMingLiU" panose="02020500000000000000" pitchFamily="18" charset="-120"/>
            </a:endParaRPr>
          </a:p>
          <a:p>
            <a:r>
              <a:rPr lang="zh-TW" altLang="en-US" sz="1500" dirty="0">
                <a:solidFill>
                  <a:schemeClr val="tx1">
                    <a:lumMod val="85000"/>
                    <a:lumOff val="15000"/>
                  </a:schemeClr>
                </a:solidFill>
              </a:rPr>
              <a:t>指導教員 </a:t>
            </a:r>
            <a:r>
              <a:rPr lang="zh-TW" altLang="en-US" sz="1500" b="1" dirty="0">
                <a:solidFill>
                  <a:schemeClr val="tx1">
                    <a:lumMod val="85000"/>
                    <a:lumOff val="15000"/>
                  </a:schemeClr>
                </a:solidFill>
              </a:rPr>
              <a:t>劉 慶豊</a:t>
            </a:r>
          </a:p>
        </p:txBody>
      </p:sp>
      <p:sp>
        <p:nvSpPr>
          <p:cNvPr id="51" name="Rectangle 6">
            <a:extLst>
              <a:ext uri="{FF2B5EF4-FFF2-40B4-BE49-F238E27FC236}">
                <a16:creationId xmlns:a16="http://schemas.microsoft.com/office/drawing/2014/main" id="{5353D259-DA18-451D-9A95-02198BF55E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546282"/>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677170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A6B7A1B-CF8A-086E-C644-0CDE90F37CA2}"/>
              </a:ext>
            </a:extLst>
          </p:cNvPr>
          <p:cNvSpPr>
            <a:spLocks noGrp="1"/>
          </p:cNvSpPr>
          <p:nvPr>
            <p:ph type="title"/>
          </p:nvPr>
        </p:nvSpPr>
        <p:spPr/>
        <p:txBody>
          <a:bodyPr/>
          <a:lstStyle/>
          <a:p>
            <a:r>
              <a:rPr kumimoji="1" lang="ja-JP" altLang="en-US" b="1" dirty="0"/>
              <a:t>目次</a:t>
            </a:r>
          </a:p>
        </p:txBody>
      </p:sp>
      <p:sp>
        <p:nvSpPr>
          <p:cNvPr id="3" name="コンテンツ プレースホルダー 2">
            <a:extLst>
              <a:ext uri="{FF2B5EF4-FFF2-40B4-BE49-F238E27FC236}">
                <a16:creationId xmlns:a16="http://schemas.microsoft.com/office/drawing/2014/main" id="{770D0B4C-95B5-A617-DD0E-67454D90F931}"/>
              </a:ext>
            </a:extLst>
          </p:cNvPr>
          <p:cNvSpPr>
            <a:spLocks noGrp="1"/>
          </p:cNvSpPr>
          <p:nvPr>
            <p:ph idx="1"/>
          </p:nvPr>
        </p:nvSpPr>
        <p:spPr/>
        <p:txBody>
          <a:bodyPr>
            <a:normAutofit fontScale="92500" lnSpcReduction="20000"/>
          </a:bodyPr>
          <a:lstStyle/>
          <a:p>
            <a:pPr marL="0" indent="0">
              <a:buNone/>
            </a:pPr>
            <a:r>
              <a:rPr lang="en-US" altLang="ja-JP" b="1" dirty="0">
                <a:solidFill>
                  <a:schemeClr val="bg2">
                    <a:lumMod val="90000"/>
                  </a:schemeClr>
                </a:solidFill>
              </a:rPr>
              <a:t>01</a:t>
            </a:r>
            <a:r>
              <a:rPr lang="en-US" altLang="ja-JP" b="1" dirty="0"/>
              <a:t>   </a:t>
            </a:r>
            <a:r>
              <a:rPr lang="ja-JP" altLang="en-US" b="1" dirty="0"/>
              <a:t>研究背景・目的</a:t>
            </a:r>
            <a:r>
              <a:rPr lang="en-US" altLang="ja-JP" b="1" dirty="0"/>
              <a:t>		 </a:t>
            </a:r>
            <a:r>
              <a:rPr lang="en-US" altLang="ja-JP" b="1" dirty="0">
                <a:solidFill>
                  <a:schemeClr val="bg2">
                    <a:lumMod val="90000"/>
                  </a:schemeClr>
                </a:solidFill>
              </a:rPr>
              <a:t>----------------------------- 3-4P</a:t>
            </a:r>
          </a:p>
          <a:p>
            <a:pPr marL="0" indent="0">
              <a:buNone/>
            </a:pPr>
            <a:r>
              <a:rPr lang="en-US" altLang="ja-JP" b="1" dirty="0">
                <a:solidFill>
                  <a:schemeClr val="bg2">
                    <a:lumMod val="90000"/>
                  </a:schemeClr>
                </a:solidFill>
              </a:rPr>
              <a:t>02</a:t>
            </a:r>
            <a:r>
              <a:rPr lang="en-US" altLang="ja-JP" b="1" dirty="0"/>
              <a:t>   </a:t>
            </a:r>
            <a:r>
              <a:rPr lang="ja-JP" altLang="en-US" b="1" dirty="0"/>
              <a:t>方法論・モデル構成</a:t>
            </a:r>
            <a:r>
              <a:rPr lang="en-US" altLang="ja-JP" b="1" dirty="0"/>
              <a:t>		 </a:t>
            </a:r>
            <a:r>
              <a:rPr lang="en-US" altLang="ja-JP" b="1" dirty="0">
                <a:solidFill>
                  <a:schemeClr val="bg2">
                    <a:lumMod val="90000"/>
                  </a:schemeClr>
                </a:solidFill>
              </a:rPr>
              <a:t>----------------------------- 5P</a:t>
            </a:r>
          </a:p>
          <a:p>
            <a:pPr marL="0" indent="0">
              <a:buNone/>
            </a:pPr>
            <a:r>
              <a:rPr lang="en-US" altLang="ja-JP" b="1" dirty="0">
                <a:solidFill>
                  <a:schemeClr val="bg2">
                    <a:lumMod val="90000"/>
                  </a:schemeClr>
                </a:solidFill>
              </a:rPr>
              <a:t>03</a:t>
            </a:r>
            <a:r>
              <a:rPr lang="en-US" altLang="ja-JP" b="1" dirty="0"/>
              <a:t>   </a:t>
            </a:r>
            <a:r>
              <a:rPr lang="ja-JP" altLang="en-US" b="1" dirty="0"/>
              <a:t>データセットの説明</a:t>
            </a:r>
            <a:r>
              <a:rPr lang="en-US" altLang="ja-JP" b="1" dirty="0"/>
              <a:t>		 </a:t>
            </a:r>
            <a:r>
              <a:rPr lang="en-US" altLang="ja-JP" b="1" dirty="0">
                <a:solidFill>
                  <a:schemeClr val="bg2">
                    <a:lumMod val="90000"/>
                  </a:schemeClr>
                </a:solidFill>
              </a:rPr>
              <a:t>----------------------------- 6P</a:t>
            </a:r>
          </a:p>
          <a:p>
            <a:pPr marL="0" indent="0">
              <a:buNone/>
            </a:pPr>
            <a:r>
              <a:rPr lang="en-US" altLang="ja-JP" b="1" dirty="0">
                <a:solidFill>
                  <a:schemeClr val="bg2">
                    <a:lumMod val="90000"/>
                  </a:schemeClr>
                </a:solidFill>
              </a:rPr>
              <a:t>04</a:t>
            </a:r>
            <a:r>
              <a:rPr lang="en-US" altLang="ja-JP" b="1" dirty="0"/>
              <a:t>   </a:t>
            </a:r>
            <a:r>
              <a:rPr lang="ja-JP" altLang="en-US" b="1" dirty="0"/>
              <a:t>特徴量エンジニアリング</a:t>
            </a:r>
            <a:r>
              <a:rPr lang="en-US" altLang="ja-JP" b="1" dirty="0"/>
              <a:t>	 </a:t>
            </a:r>
            <a:r>
              <a:rPr lang="en-US" altLang="ja-JP" b="1" dirty="0">
                <a:solidFill>
                  <a:schemeClr val="bg2">
                    <a:lumMod val="90000"/>
                  </a:schemeClr>
                </a:solidFill>
              </a:rPr>
              <a:t>----------------------------- 7P</a:t>
            </a:r>
          </a:p>
          <a:p>
            <a:pPr marL="0" indent="0">
              <a:buNone/>
            </a:pPr>
            <a:r>
              <a:rPr lang="en-US" altLang="ja-JP" b="1" dirty="0">
                <a:solidFill>
                  <a:schemeClr val="bg2">
                    <a:lumMod val="90000"/>
                  </a:schemeClr>
                </a:solidFill>
              </a:rPr>
              <a:t>05</a:t>
            </a:r>
            <a:r>
              <a:rPr lang="en-US" altLang="ja-JP" b="1" dirty="0"/>
              <a:t>   </a:t>
            </a:r>
            <a:r>
              <a:rPr lang="ja-JP" altLang="en-US" b="1" dirty="0"/>
              <a:t>反復的最適化プロセス</a:t>
            </a:r>
            <a:r>
              <a:rPr lang="en-US" altLang="ja-JP" b="1" dirty="0"/>
              <a:t>	 </a:t>
            </a:r>
            <a:r>
              <a:rPr lang="en-US" altLang="ja-JP" b="1" dirty="0">
                <a:solidFill>
                  <a:schemeClr val="bg2">
                    <a:lumMod val="90000"/>
                  </a:schemeClr>
                </a:solidFill>
              </a:rPr>
              <a:t>----------------------------- 8P</a:t>
            </a:r>
          </a:p>
          <a:p>
            <a:pPr marL="0" indent="0">
              <a:buNone/>
            </a:pPr>
            <a:r>
              <a:rPr lang="en-US" altLang="ja-JP" b="1" dirty="0">
                <a:solidFill>
                  <a:schemeClr val="bg2">
                    <a:lumMod val="90000"/>
                  </a:schemeClr>
                </a:solidFill>
              </a:rPr>
              <a:t>06</a:t>
            </a:r>
            <a:r>
              <a:rPr lang="en-US" altLang="ja-JP" b="1" dirty="0"/>
              <a:t>   </a:t>
            </a:r>
            <a:r>
              <a:rPr lang="ja-JP" altLang="en-US" b="1" dirty="0"/>
              <a:t>最終モデル構造</a:t>
            </a:r>
            <a:r>
              <a:rPr lang="en-US" altLang="ja-JP" b="1" dirty="0"/>
              <a:t>		 </a:t>
            </a:r>
            <a:r>
              <a:rPr lang="en-US" altLang="ja-JP" b="1" dirty="0">
                <a:solidFill>
                  <a:schemeClr val="bg2">
                    <a:lumMod val="90000"/>
                  </a:schemeClr>
                </a:solidFill>
              </a:rPr>
              <a:t>----------------------------- 9P</a:t>
            </a:r>
          </a:p>
          <a:p>
            <a:pPr marL="0" indent="0">
              <a:buNone/>
            </a:pPr>
            <a:r>
              <a:rPr lang="en-US" altLang="ja-JP" b="1" dirty="0">
                <a:solidFill>
                  <a:schemeClr val="bg2">
                    <a:lumMod val="90000"/>
                  </a:schemeClr>
                </a:solidFill>
              </a:rPr>
              <a:t>07</a:t>
            </a:r>
            <a:r>
              <a:rPr lang="en-US" altLang="ja-JP" b="1" dirty="0"/>
              <a:t>   </a:t>
            </a:r>
            <a:r>
              <a:rPr lang="ja-JP" altLang="en-US" b="1" dirty="0"/>
              <a:t>結果</a:t>
            </a:r>
            <a:r>
              <a:rPr lang="en-US" altLang="ja-JP" b="1" dirty="0"/>
              <a:t>				 </a:t>
            </a:r>
            <a:r>
              <a:rPr lang="en-US" altLang="ja-JP" b="1" dirty="0">
                <a:solidFill>
                  <a:schemeClr val="bg2">
                    <a:lumMod val="90000"/>
                  </a:schemeClr>
                </a:solidFill>
              </a:rPr>
              <a:t>----------------------------- 10P</a:t>
            </a:r>
          </a:p>
          <a:p>
            <a:pPr marL="0" indent="0">
              <a:buNone/>
            </a:pPr>
            <a:r>
              <a:rPr lang="en-US" altLang="ja-JP" b="1" dirty="0">
                <a:solidFill>
                  <a:schemeClr val="bg2">
                    <a:lumMod val="90000"/>
                  </a:schemeClr>
                </a:solidFill>
              </a:rPr>
              <a:t>08</a:t>
            </a:r>
            <a:r>
              <a:rPr lang="en-US" altLang="ja-JP" b="1" dirty="0"/>
              <a:t>   </a:t>
            </a:r>
            <a:r>
              <a:rPr lang="ja-JP" altLang="en-US" b="1" dirty="0"/>
              <a:t>考察</a:t>
            </a:r>
            <a:r>
              <a:rPr lang="en-US" altLang="ja-JP" b="1" dirty="0"/>
              <a:t>				 </a:t>
            </a:r>
            <a:r>
              <a:rPr lang="en-US" altLang="ja-JP" b="1" dirty="0">
                <a:solidFill>
                  <a:schemeClr val="bg2">
                    <a:lumMod val="90000"/>
                  </a:schemeClr>
                </a:solidFill>
              </a:rPr>
              <a:t>----------------------------- 11-14P</a:t>
            </a:r>
          </a:p>
          <a:p>
            <a:pPr marL="0" indent="0">
              <a:buNone/>
            </a:pPr>
            <a:r>
              <a:rPr lang="en-US" altLang="ja-JP" b="1" dirty="0">
                <a:solidFill>
                  <a:schemeClr val="bg2">
                    <a:lumMod val="90000"/>
                  </a:schemeClr>
                </a:solidFill>
              </a:rPr>
              <a:t>09</a:t>
            </a:r>
            <a:r>
              <a:rPr lang="en-US" altLang="ja-JP" b="1" dirty="0"/>
              <a:t>   </a:t>
            </a:r>
            <a:r>
              <a:rPr lang="ja-JP" altLang="en-US" b="1" dirty="0"/>
              <a:t>結論</a:t>
            </a:r>
            <a:r>
              <a:rPr lang="en-US" altLang="ja-JP" b="1" dirty="0"/>
              <a:t>				 </a:t>
            </a:r>
            <a:r>
              <a:rPr lang="en-US" altLang="ja-JP" b="1" dirty="0">
                <a:solidFill>
                  <a:schemeClr val="bg2">
                    <a:lumMod val="90000"/>
                  </a:schemeClr>
                </a:solidFill>
              </a:rPr>
              <a:t>----------------------------- 15P</a:t>
            </a:r>
          </a:p>
          <a:p>
            <a:pPr marL="0" indent="0">
              <a:buNone/>
            </a:pPr>
            <a:r>
              <a:rPr lang="en-US" altLang="ja-JP" b="1" dirty="0">
                <a:solidFill>
                  <a:schemeClr val="bg2">
                    <a:lumMod val="90000"/>
                  </a:schemeClr>
                </a:solidFill>
              </a:rPr>
              <a:t>10</a:t>
            </a:r>
            <a:r>
              <a:rPr lang="en-US" altLang="ja-JP" b="1" dirty="0"/>
              <a:t>   </a:t>
            </a:r>
            <a:r>
              <a:rPr lang="ja-JP" altLang="en-US" b="1" dirty="0"/>
              <a:t>今後の展望</a:t>
            </a:r>
            <a:r>
              <a:rPr lang="en-US" altLang="ja-JP" b="1" dirty="0"/>
              <a:t>			 </a:t>
            </a:r>
            <a:r>
              <a:rPr lang="en-US" altLang="ja-JP" b="1" dirty="0">
                <a:solidFill>
                  <a:schemeClr val="bg2">
                    <a:lumMod val="90000"/>
                  </a:schemeClr>
                </a:solidFill>
              </a:rPr>
              <a:t>----------------------------- 16P</a:t>
            </a:r>
          </a:p>
          <a:p>
            <a:endParaRPr lang="en-US" altLang="ja-JP" b="1" dirty="0"/>
          </a:p>
          <a:p>
            <a:endParaRPr kumimoji="1" lang="ja-JP" altLang="en-US" dirty="0"/>
          </a:p>
        </p:txBody>
      </p:sp>
      <p:cxnSp>
        <p:nvCxnSpPr>
          <p:cNvPr id="5" name="直線コネクタ 4">
            <a:extLst>
              <a:ext uri="{FF2B5EF4-FFF2-40B4-BE49-F238E27FC236}">
                <a16:creationId xmlns:a16="http://schemas.microsoft.com/office/drawing/2014/main" id="{A438EA98-9F6C-5476-71C6-466C88D41C06}"/>
              </a:ext>
            </a:extLst>
          </p:cNvPr>
          <p:cNvCxnSpPr/>
          <p:nvPr/>
        </p:nvCxnSpPr>
        <p:spPr>
          <a:xfrm>
            <a:off x="838200" y="648589"/>
            <a:ext cx="0" cy="677291"/>
          </a:xfrm>
          <a:prstGeom prst="line">
            <a:avLst/>
          </a:prstGeom>
          <a:ln w="76200">
            <a:solidFill>
              <a:schemeClr val="accent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14295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45D609-37E6-098C-8934-3038307F7309}"/>
              </a:ext>
            </a:extLst>
          </p:cNvPr>
          <p:cNvSpPr>
            <a:spLocks noGrp="1"/>
          </p:cNvSpPr>
          <p:nvPr>
            <p:ph type="title"/>
          </p:nvPr>
        </p:nvSpPr>
        <p:spPr/>
        <p:txBody>
          <a:bodyPr/>
          <a:lstStyle/>
          <a:p>
            <a:r>
              <a:rPr lang="ja-JP" altLang="en-US" b="1" dirty="0"/>
              <a:t>研究背景</a:t>
            </a:r>
            <a:endParaRPr kumimoji="1" lang="ja-JP" altLang="en-US" dirty="0"/>
          </a:p>
        </p:txBody>
      </p:sp>
      <p:sp>
        <p:nvSpPr>
          <p:cNvPr id="3" name="コンテンツ プレースホルダー 2">
            <a:extLst>
              <a:ext uri="{FF2B5EF4-FFF2-40B4-BE49-F238E27FC236}">
                <a16:creationId xmlns:a16="http://schemas.microsoft.com/office/drawing/2014/main" id="{F4968A5E-FD35-A8A0-4688-C8A3E9CECD8A}"/>
              </a:ext>
            </a:extLst>
          </p:cNvPr>
          <p:cNvSpPr>
            <a:spLocks noGrp="1"/>
          </p:cNvSpPr>
          <p:nvPr>
            <p:ph idx="1"/>
          </p:nvPr>
        </p:nvSpPr>
        <p:spPr>
          <a:xfrm>
            <a:off x="219456" y="1825624"/>
            <a:ext cx="5559552" cy="4667251"/>
          </a:xfrm>
        </p:spPr>
        <p:txBody>
          <a:bodyPr>
            <a:normAutofit fontScale="92500" lnSpcReduction="10000"/>
          </a:bodyPr>
          <a:lstStyle/>
          <a:p>
            <a:r>
              <a:rPr lang="ja-JP" altLang="en-US" b="1" dirty="0"/>
              <a:t>需要予測の課題</a:t>
            </a:r>
            <a:br>
              <a:rPr lang="en-US" altLang="ja-JP" b="1" dirty="0"/>
            </a:br>
            <a:br>
              <a:rPr lang="en-US" altLang="ja-JP" b="1" dirty="0"/>
            </a:br>
            <a:br>
              <a:rPr lang="en-US" altLang="ja-JP" b="1" dirty="0"/>
            </a:br>
            <a:br>
              <a:rPr lang="en-US" altLang="ja-JP" b="1" dirty="0"/>
            </a:br>
            <a:br>
              <a:rPr lang="en-US" altLang="ja-JP" b="1" dirty="0"/>
            </a:br>
            <a:br>
              <a:rPr lang="en-US" altLang="ja-JP" b="1" dirty="0"/>
            </a:br>
            <a:br>
              <a:rPr lang="en-US" altLang="ja-JP" b="1" dirty="0"/>
            </a:br>
            <a:br>
              <a:rPr lang="en-US" altLang="ja-JP" b="1" dirty="0"/>
            </a:br>
            <a:endParaRPr lang="en-US" altLang="ja-JP" b="1" dirty="0"/>
          </a:p>
          <a:p>
            <a:r>
              <a:rPr lang="ja-JP" altLang="en-US" b="1" dirty="0"/>
              <a:t>本研究のアプローチ</a:t>
            </a:r>
            <a:br>
              <a:rPr lang="en-US" altLang="ja-JP" b="1" dirty="0"/>
            </a:br>
            <a:br>
              <a:rPr lang="en-US" altLang="ja-JP" b="1" dirty="0"/>
            </a:br>
            <a:r>
              <a:rPr lang="ja-JP" altLang="en-US" sz="2200" dirty="0"/>
              <a:t>商品の</a:t>
            </a:r>
            <a:r>
              <a:rPr lang="ja-JP" altLang="en-US" sz="2200" b="1" dirty="0">
                <a:solidFill>
                  <a:srgbClr val="0070C0"/>
                </a:solidFill>
              </a:rPr>
              <a:t>「意味的特徴（</a:t>
            </a:r>
            <a:r>
              <a:rPr lang="en-US" altLang="ja-JP" sz="2200" b="1" dirty="0">
                <a:solidFill>
                  <a:srgbClr val="0070C0"/>
                </a:solidFill>
              </a:rPr>
              <a:t>BERT</a:t>
            </a:r>
            <a:r>
              <a:rPr lang="ja-JP" altLang="en-US" sz="2200" b="1" dirty="0">
                <a:solidFill>
                  <a:srgbClr val="0070C0"/>
                </a:solidFill>
              </a:rPr>
              <a:t>）」</a:t>
            </a:r>
            <a:r>
              <a:rPr lang="ja-JP" altLang="en-US" sz="2200" dirty="0"/>
              <a:t>と</a:t>
            </a:r>
            <a:r>
              <a:rPr lang="ja-JP" altLang="en-US" sz="2200" b="1" dirty="0">
                <a:solidFill>
                  <a:srgbClr val="0070C0"/>
                </a:solidFill>
              </a:rPr>
              <a:t>「広告効果」</a:t>
            </a:r>
            <a:r>
              <a:rPr lang="ja-JP" altLang="en-US" sz="2200" dirty="0"/>
              <a:t>をディープラーニングで統合し、複雑な需要構造を解明する。</a:t>
            </a:r>
            <a:endParaRPr lang="ja-JP" altLang="en-US" b="1" dirty="0"/>
          </a:p>
        </p:txBody>
      </p:sp>
      <p:sp>
        <p:nvSpPr>
          <p:cNvPr id="4" name="正方形/長方形 3">
            <a:extLst>
              <a:ext uri="{FF2B5EF4-FFF2-40B4-BE49-F238E27FC236}">
                <a16:creationId xmlns:a16="http://schemas.microsoft.com/office/drawing/2014/main" id="{196D3B46-53C8-E09F-FACC-A32E9F323C93}"/>
              </a:ext>
            </a:extLst>
          </p:cNvPr>
          <p:cNvSpPr/>
          <p:nvPr/>
        </p:nvSpPr>
        <p:spPr>
          <a:xfrm>
            <a:off x="219456" y="2286000"/>
            <a:ext cx="5276088" cy="1901952"/>
          </a:xfrm>
          <a:prstGeom prst="rect">
            <a:avLst/>
          </a:prstGeom>
          <a:solidFill>
            <a:srgbClr val="FFF3EB"/>
          </a:solidFill>
        </p:spPr>
        <p:style>
          <a:lnRef idx="1">
            <a:schemeClr val="accent2"/>
          </a:lnRef>
          <a:fillRef idx="2">
            <a:schemeClr val="accent2"/>
          </a:fillRef>
          <a:effectRef idx="1">
            <a:schemeClr val="accent2"/>
          </a:effectRef>
          <a:fontRef idx="minor">
            <a:schemeClr val="dk1"/>
          </a:fontRef>
        </p:style>
        <p:txBody>
          <a:bodyPr rtlCol="0" anchor="ctr"/>
          <a:lstStyle/>
          <a:p>
            <a:pPr marL="285750" indent="-285750">
              <a:buFont typeface="Wingdings" panose="05000000000000000000" pitchFamily="2" charset="2"/>
              <a:buChar char="p"/>
            </a:pPr>
            <a:r>
              <a:rPr lang="ja-JP" altLang="en-US" sz="2000" dirty="0"/>
              <a:t>広告施策（</a:t>
            </a:r>
            <a:r>
              <a:rPr lang="en-US" altLang="ja-JP" sz="2000" dirty="0"/>
              <a:t>SNS</a:t>
            </a:r>
            <a:r>
              <a:rPr lang="ja-JP" altLang="en-US" sz="2000" dirty="0"/>
              <a:t>、</a:t>
            </a:r>
            <a:r>
              <a:rPr lang="en-US" altLang="ja-JP" sz="2000" dirty="0"/>
              <a:t>TV</a:t>
            </a:r>
            <a:r>
              <a:rPr lang="ja-JP" altLang="en-US" sz="2000" dirty="0"/>
              <a:t>放映）による</a:t>
            </a:r>
            <a:r>
              <a:rPr lang="ja-JP" altLang="en-US" sz="2000" b="1" dirty="0"/>
              <a:t>急激な需要増加</a:t>
            </a:r>
            <a:r>
              <a:rPr lang="ja-JP" altLang="en-US" sz="2000" dirty="0"/>
              <a:t>を捉えきれず、機会損失や廃棄ロスが発生</a:t>
            </a:r>
            <a:endParaRPr lang="en-US" altLang="ja-JP" sz="2000" dirty="0"/>
          </a:p>
          <a:p>
            <a:pPr marL="285750" indent="-285750">
              <a:buFont typeface="Wingdings" panose="05000000000000000000" pitchFamily="2" charset="2"/>
              <a:buChar char="p"/>
            </a:pPr>
            <a:r>
              <a:rPr lang="ja-JP" altLang="en-US" sz="2000" dirty="0"/>
              <a:t>従来の需要予測モデルにおいて広告要素を含めたモデル構築は希少</a:t>
            </a:r>
            <a:endParaRPr kumimoji="1" lang="ja-JP" altLang="en-US" sz="2000" dirty="0"/>
          </a:p>
        </p:txBody>
      </p:sp>
      <p:cxnSp>
        <p:nvCxnSpPr>
          <p:cNvPr id="6" name="直線コネクタ 5">
            <a:extLst>
              <a:ext uri="{FF2B5EF4-FFF2-40B4-BE49-F238E27FC236}">
                <a16:creationId xmlns:a16="http://schemas.microsoft.com/office/drawing/2014/main" id="{7810719D-F40E-E5A4-6403-A0ACC3E617CC}"/>
              </a:ext>
            </a:extLst>
          </p:cNvPr>
          <p:cNvCxnSpPr>
            <a:cxnSpLocks/>
          </p:cNvCxnSpPr>
          <p:nvPr/>
        </p:nvCxnSpPr>
        <p:spPr>
          <a:xfrm>
            <a:off x="219456" y="2286000"/>
            <a:ext cx="0" cy="1901952"/>
          </a:xfrm>
          <a:prstGeom prst="line">
            <a:avLst/>
          </a:prstGeom>
          <a:ln w="57150"/>
        </p:spPr>
        <p:style>
          <a:lnRef idx="1">
            <a:schemeClr val="accent2"/>
          </a:lnRef>
          <a:fillRef idx="0">
            <a:schemeClr val="accent2"/>
          </a:fillRef>
          <a:effectRef idx="0">
            <a:schemeClr val="accent2"/>
          </a:effectRef>
          <a:fontRef idx="minor">
            <a:schemeClr val="tx1"/>
          </a:fontRef>
        </p:style>
      </p:cxnSp>
      <p:sp>
        <p:nvSpPr>
          <p:cNvPr id="9" name="フローチャート: 代替処理 8">
            <a:extLst>
              <a:ext uri="{FF2B5EF4-FFF2-40B4-BE49-F238E27FC236}">
                <a16:creationId xmlns:a16="http://schemas.microsoft.com/office/drawing/2014/main" id="{7B342058-03BE-A315-9794-39942FAE36C2}"/>
              </a:ext>
            </a:extLst>
          </p:cNvPr>
          <p:cNvSpPr/>
          <p:nvPr/>
        </p:nvSpPr>
        <p:spPr>
          <a:xfrm>
            <a:off x="5971032" y="1690688"/>
            <a:ext cx="5559552" cy="4802187"/>
          </a:xfrm>
          <a:prstGeom prst="flowChartAlternateProcess">
            <a:avLst/>
          </a:prstGeom>
          <a:solidFill>
            <a:schemeClr val="tx2">
              <a:lumMod val="10000"/>
              <a:lumOff val="9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ja-JP" altLang="en-US" sz="2000" b="1" dirty="0"/>
              <a:t>分析対象：都市型ライフスタイルショップ</a:t>
            </a:r>
            <a:endParaRPr kumimoji="1" lang="en-US" altLang="ja-JP" sz="2000" dirty="0"/>
          </a:p>
          <a:p>
            <a:pPr algn="ctr"/>
            <a:endParaRPr lang="en-US" altLang="ja-JP" dirty="0"/>
          </a:p>
          <a:p>
            <a:pPr algn="ctr"/>
            <a:endParaRPr lang="en-US" altLang="ja-JP" dirty="0"/>
          </a:p>
          <a:p>
            <a:pPr algn="ctr"/>
            <a:endParaRPr lang="en-US" altLang="ja-JP" dirty="0"/>
          </a:p>
          <a:p>
            <a:pPr algn="ctr"/>
            <a:endParaRPr lang="en-US" altLang="ja-JP" dirty="0"/>
          </a:p>
          <a:p>
            <a:pPr algn="ctr"/>
            <a:endParaRPr lang="en-US" altLang="ja-JP" dirty="0"/>
          </a:p>
          <a:p>
            <a:pPr algn="ctr"/>
            <a:endParaRPr lang="en-US" altLang="ja-JP" dirty="0"/>
          </a:p>
          <a:p>
            <a:pPr algn="ctr"/>
            <a:endParaRPr lang="en-US" altLang="ja-JP" dirty="0"/>
          </a:p>
          <a:p>
            <a:r>
              <a:rPr lang="en-US" altLang="ja-JP" b="1" dirty="0"/>
              <a:t>	</a:t>
            </a:r>
            <a:r>
              <a:rPr lang="ja-JP" altLang="en-US" b="1" dirty="0"/>
              <a:t>多様な客層と高い客単価</a:t>
            </a:r>
          </a:p>
          <a:p>
            <a:r>
              <a:rPr lang="en-US" altLang="ja-JP" dirty="0"/>
              <a:t>	</a:t>
            </a:r>
            <a:r>
              <a:rPr lang="ja-JP" altLang="en-US" dirty="0"/>
              <a:t>日常消耗品からギフトまで幅広いニー</a:t>
            </a:r>
            <a:r>
              <a:rPr lang="en-US" altLang="ja-JP" dirty="0"/>
              <a:t>	</a:t>
            </a:r>
            <a:r>
              <a:rPr lang="ja-JP" altLang="en-US" dirty="0"/>
              <a:t>ズに対応。</a:t>
            </a:r>
            <a:endParaRPr lang="en-US" altLang="ja-JP" dirty="0"/>
          </a:p>
          <a:p>
            <a:endParaRPr lang="ja-JP" altLang="en-US" dirty="0"/>
          </a:p>
          <a:p>
            <a:r>
              <a:rPr lang="en-US" altLang="ja-JP" b="1" dirty="0"/>
              <a:t>	</a:t>
            </a:r>
            <a:r>
              <a:rPr lang="ja-JP" altLang="en-US" b="1" dirty="0"/>
              <a:t>マグネット商品としての食品</a:t>
            </a:r>
          </a:p>
          <a:p>
            <a:r>
              <a:rPr lang="en-US" altLang="ja-JP" dirty="0"/>
              <a:t>	</a:t>
            </a:r>
            <a:r>
              <a:rPr lang="ja-JP" altLang="en-US" dirty="0"/>
              <a:t>特にレトルトカレー等は広告頻度が高</a:t>
            </a:r>
            <a:r>
              <a:rPr lang="en-US" altLang="ja-JP" dirty="0"/>
              <a:t>	</a:t>
            </a:r>
            <a:r>
              <a:rPr lang="ja-JP" altLang="en-US" dirty="0"/>
              <a:t>く、商品名に「辛さ」「素材」等の情</a:t>
            </a:r>
            <a:r>
              <a:rPr lang="en-US" altLang="ja-JP" dirty="0"/>
              <a:t>	</a:t>
            </a:r>
            <a:r>
              <a:rPr lang="ja-JP" altLang="en-US" dirty="0"/>
              <a:t>報が豊富。</a:t>
            </a:r>
            <a:endParaRPr kumimoji="1" lang="ja-JP" altLang="en-US" dirty="0"/>
          </a:p>
        </p:txBody>
      </p:sp>
      <p:sp>
        <p:nvSpPr>
          <p:cNvPr id="10" name="正方形/長方形 9">
            <a:extLst>
              <a:ext uri="{FF2B5EF4-FFF2-40B4-BE49-F238E27FC236}">
                <a16:creationId xmlns:a16="http://schemas.microsoft.com/office/drawing/2014/main" id="{2B71D28A-8A60-7DBB-6C7D-1B92225FB149}"/>
              </a:ext>
            </a:extLst>
          </p:cNvPr>
          <p:cNvSpPr/>
          <p:nvPr/>
        </p:nvSpPr>
        <p:spPr>
          <a:xfrm>
            <a:off x="6312408" y="2523744"/>
            <a:ext cx="2286000" cy="1143000"/>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r>
              <a:rPr lang="zh-TW" altLang="en-US" dirty="0"/>
              <a:t>年間</a:t>
            </a:r>
            <a:r>
              <a:rPr lang="ja-JP" altLang="en-US" dirty="0"/>
              <a:t>売上高</a:t>
            </a:r>
            <a:endParaRPr lang="en-US" altLang="ja-JP" dirty="0"/>
          </a:p>
          <a:p>
            <a:pPr algn="ctr"/>
            <a:r>
              <a:rPr lang="ja-JP" altLang="en-US" sz="3200" b="1" dirty="0">
                <a:solidFill>
                  <a:schemeClr val="accent1"/>
                </a:solidFill>
              </a:rPr>
              <a:t>約</a:t>
            </a:r>
            <a:r>
              <a:rPr lang="en-US" altLang="zh-TW" sz="3200" b="1" dirty="0">
                <a:solidFill>
                  <a:schemeClr val="accent1"/>
                </a:solidFill>
              </a:rPr>
              <a:t>17</a:t>
            </a:r>
            <a:r>
              <a:rPr lang="ja-JP" altLang="en-US" dirty="0">
                <a:solidFill>
                  <a:schemeClr val="tx1"/>
                </a:solidFill>
              </a:rPr>
              <a:t>億円</a:t>
            </a:r>
            <a:endParaRPr lang="zh-TW" altLang="en-US" dirty="0">
              <a:solidFill>
                <a:schemeClr val="tx1"/>
              </a:solidFill>
            </a:endParaRPr>
          </a:p>
        </p:txBody>
      </p:sp>
      <p:sp>
        <p:nvSpPr>
          <p:cNvPr id="11" name="正方形/長方形 10">
            <a:extLst>
              <a:ext uri="{FF2B5EF4-FFF2-40B4-BE49-F238E27FC236}">
                <a16:creationId xmlns:a16="http://schemas.microsoft.com/office/drawing/2014/main" id="{24E1D8C5-2FAA-B8CD-B2B4-C7DC7D16F151}"/>
              </a:ext>
            </a:extLst>
          </p:cNvPr>
          <p:cNvSpPr/>
          <p:nvPr/>
        </p:nvSpPr>
        <p:spPr>
          <a:xfrm>
            <a:off x="8939784" y="2523744"/>
            <a:ext cx="2286000" cy="1143000"/>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r>
              <a:rPr lang="zh-TW" altLang="en-US" dirty="0"/>
              <a:t>食品構成比</a:t>
            </a:r>
          </a:p>
          <a:p>
            <a:pPr algn="ctr"/>
            <a:r>
              <a:rPr lang="ja-JP" altLang="en-US" sz="3200" b="1" dirty="0">
                <a:solidFill>
                  <a:schemeClr val="accent1"/>
                </a:solidFill>
              </a:rPr>
              <a:t>約</a:t>
            </a:r>
            <a:r>
              <a:rPr lang="en-US" altLang="zh-TW" sz="3200" b="1" dirty="0">
                <a:solidFill>
                  <a:schemeClr val="accent1"/>
                </a:solidFill>
              </a:rPr>
              <a:t>30</a:t>
            </a:r>
            <a:r>
              <a:rPr lang="en-US" altLang="zh-TW" dirty="0"/>
              <a:t>%</a:t>
            </a:r>
            <a:endParaRPr lang="zh-TW" altLang="en-US" b="1" dirty="0"/>
          </a:p>
        </p:txBody>
      </p:sp>
      <p:pic>
        <p:nvPicPr>
          <p:cNvPr id="7" name="グラフィックス 6" descr="男性の集団 単色塗りつぶし">
            <a:extLst>
              <a:ext uri="{FF2B5EF4-FFF2-40B4-BE49-F238E27FC236}">
                <a16:creationId xmlns:a16="http://schemas.microsoft.com/office/drawing/2014/main" id="{95A46E3F-0A13-5E78-431D-B8CB77FD103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12408" y="4159249"/>
            <a:ext cx="624680" cy="624680"/>
          </a:xfrm>
          <a:prstGeom prst="rect">
            <a:avLst/>
          </a:prstGeom>
        </p:spPr>
      </p:pic>
      <p:pic>
        <p:nvPicPr>
          <p:cNvPr id="12" name="グラフィックス 11" descr="テーブル セッティング 単色塗りつぶし">
            <a:extLst>
              <a:ext uri="{FF2B5EF4-FFF2-40B4-BE49-F238E27FC236}">
                <a16:creationId xmlns:a16="http://schemas.microsoft.com/office/drawing/2014/main" id="{78FA592E-7C2A-904C-6F45-F5B5DA879BB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12408" y="5276434"/>
            <a:ext cx="624680" cy="624680"/>
          </a:xfrm>
          <a:prstGeom prst="rect">
            <a:avLst/>
          </a:prstGeom>
        </p:spPr>
      </p:pic>
      <p:cxnSp>
        <p:nvCxnSpPr>
          <p:cNvPr id="5" name="直線コネクタ 4">
            <a:extLst>
              <a:ext uri="{FF2B5EF4-FFF2-40B4-BE49-F238E27FC236}">
                <a16:creationId xmlns:a16="http://schemas.microsoft.com/office/drawing/2014/main" id="{5D386877-FB94-36F2-DF4E-1A293AA0712A}"/>
              </a:ext>
            </a:extLst>
          </p:cNvPr>
          <p:cNvCxnSpPr/>
          <p:nvPr/>
        </p:nvCxnSpPr>
        <p:spPr>
          <a:xfrm>
            <a:off x="838200" y="648589"/>
            <a:ext cx="0" cy="677291"/>
          </a:xfrm>
          <a:prstGeom prst="line">
            <a:avLst/>
          </a:prstGeom>
          <a:ln w="762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3" name="直線コネクタ 12">
            <a:extLst>
              <a:ext uri="{FF2B5EF4-FFF2-40B4-BE49-F238E27FC236}">
                <a16:creationId xmlns:a16="http://schemas.microsoft.com/office/drawing/2014/main" id="{C52E96D1-FEE4-65BE-9800-D9746E7FA363}"/>
              </a:ext>
            </a:extLst>
          </p:cNvPr>
          <p:cNvCxnSpPr/>
          <p:nvPr/>
        </p:nvCxnSpPr>
        <p:spPr>
          <a:xfrm>
            <a:off x="0" y="0"/>
            <a:ext cx="12192000" cy="0"/>
          </a:xfrm>
          <a:prstGeom prst="line">
            <a:avLst/>
          </a:prstGeom>
          <a:ln w="762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3556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552C5D-0AD8-F840-E51B-62E0C3E150FD}"/>
              </a:ext>
            </a:extLst>
          </p:cNvPr>
          <p:cNvSpPr>
            <a:spLocks noGrp="1"/>
          </p:cNvSpPr>
          <p:nvPr>
            <p:ph type="title"/>
          </p:nvPr>
        </p:nvSpPr>
        <p:spPr>
          <a:xfrm>
            <a:off x="838200" y="365125"/>
            <a:ext cx="10515600" cy="713867"/>
          </a:xfrm>
        </p:spPr>
        <p:txBody>
          <a:bodyPr/>
          <a:lstStyle/>
          <a:p>
            <a:r>
              <a:rPr lang="ja-JP" altLang="en-US" b="1" dirty="0"/>
              <a:t>研究目的</a:t>
            </a:r>
            <a:endParaRPr kumimoji="1" lang="ja-JP" altLang="en-US" dirty="0"/>
          </a:p>
        </p:txBody>
      </p:sp>
      <p:sp>
        <p:nvSpPr>
          <p:cNvPr id="3" name="コンテンツ プレースホルダー 2">
            <a:extLst>
              <a:ext uri="{FF2B5EF4-FFF2-40B4-BE49-F238E27FC236}">
                <a16:creationId xmlns:a16="http://schemas.microsoft.com/office/drawing/2014/main" id="{5CFC18B5-783B-FF65-EB18-574926B696B8}"/>
              </a:ext>
            </a:extLst>
          </p:cNvPr>
          <p:cNvSpPr>
            <a:spLocks noGrp="1"/>
          </p:cNvSpPr>
          <p:nvPr>
            <p:ph idx="1"/>
          </p:nvPr>
        </p:nvSpPr>
        <p:spPr>
          <a:xfrm>
            <a:off x="838200" y="1078992"/>
            <a:ext cx="10515600" cy="570103"/>
          </a:xfrm>
        </p:spPr>
        <p:txBody>
          <a:bodyPr>
            <a:normAutofit lnSpcReduction="10000"/>
          </a:bodyPr>
          <a:lstStyle/>
          <a:p>
            <a:pPr marL="0" indent="0">
              <a:buNone/>
            </a:pPr>
            <a:r>
              <a:rPr lang="ja-JP" altLang="en-US" sz="1800" dirty="0"/>
              <a:t>本研究の目的は、単なる予測精度の追求に留まらず、</a:t>
            </a:r>
            <a:r>
              <a:rPr lang="ja-JP" altLang="en-US" sz="1800" b="1" dirty="0"/>
              <a:t>広告施策の有無が需要に与える「増分効果」</a:t>
            </a:r>
            <a:r>
              <a:rPr lang="ja-JP" altLang="en-US" sz="1800" dirty="0"/>
              <a:t>を明らかにすることにある。具体的には、以下の</a:t>
            </a:r>
            <a:r>
              <a:rPr lang="en-US" altLang="ja-JP" sz="1800" dirty="0"/>
              <a:t>3</a:t>
            </a:r>
            <a:r>
              <a:rPr lang="ja-JP" altLang="en-US" sz="1800" dirty="0"/>
              <a:t>点を達成目標とする。</a:t>
            </a:r>
            <a:endParaRPr kumimoji="1" lang="ja-JP" altLang="en-US" sz="1800" dirty="0"/>
          </a:p>
        </p:txBody>
      </p:sp>
      <p:graphicFrame>
        <p:nvGraphicFramePr>
          <p:cNvPr id="4" name="図表 3">
            <a:extLst>
              <a:ext uri="{FF2B5EF4-FFF2-40B4-BE49-F238E27FC236}">
                <a16:creationId xmlns:a16="http://schemas.microsoft.com/office/drawing/2014/main" id="{E73A7192-5BBB-B2BC-1DE1-AFD7203B7175}"/>
              </a:ext>
            </a:extLst>
          </p:cNvPr>
          <p:cNvGraphicFramePr/>
          <p:nvPr>
            <p:extLst>
              <p:ext uri="{D42A27DB-BD31-4B8C-83A1-F6EECF244321}">
                <p14:modId xmlns:p14="http://schemas.microsoft.com/office/powerpoint/2010/main" val="3605489431"/>
              </p:ext>
            </p:extLst>
          </p:nvPr>
        </p:nvGraphicFramePr>
        <p:xfrm>
          <a:off x="838200" y="1792860"/>
          <a:ext cx="10515600" cy="50651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直線コネクタ 4">
            <a:extLst>
              <a:ext uri="{FF2B5EF4-FFF2-40B4-BE49-F238E27FC236}">
                <a16:creationId xmlns:a16="http://schemas.microsoft.com/office/drawing/2014/main" id="{46F27E2E-5369-7362-A557-3514430FD675}"/>
              </a:ext>
            </a:extLst>
          </p:cNvPr>
          <p:cNvCxnSpPr/>
          <p:nvPr/>
        </p:nvCxnSpPr>
        <p:spPr>
          <a:xfrm>
            <a:off x="839788" y="365125"/>
            <a:ext cx="0" cy="677291"/>
          </a:xfrm>
          <a:prstGeom prst="line">
            <a:avLst/>
          </a:prstGeom>
          <a:ln w="762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6" name="直線コネクタ 5">
            <a:extLst>
              <a:ext uri="{FF2B5EF4-FFF2-40B4-BE49-F238E27FC236}">
                <a16:creationId xmlns:a16="http://schemas.microsoft.com/office/drawing/2014/main" id="{FC389641-E2EC-44E1-0EC1-99A5CCFE3BCB}"/>
              </a:ext>
            </a:extLst>
          </p:cNvPr>
          <p:cNvCxnSpPr/>
          <p:nvPr/>
        </p:nvCxnSpPr>
        <p:spPr>
          <a:xfrm>
            <a:off x="0" y="0"/>
            <a:ext cx="12192000" cy="0"/>
          </a:xfrm>
          <a:prstGeom prst="line">
            <a:avLst/>
          </a:prstGeom>
          <a:ln w="762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8477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1A2C3E-E11D-8EF4-8E2D-6F72AEC42330}"/>
              </a:ext>
            </a:extLst>
          </p:cNvPr>
          <p:cNvSpPr>
            <a:spLocks noGrp="1"/>
          </p:cNvSpPr>
          <p:nvPr>
            <p:ph type="title"/>
          </p:nvPr>
        </p:nvSpPr>
        <p:spPr/>
        <p:txBody>
          <a:bodyPr/>
          <a:lstStyle/>
          <a:p>
            <a:r>
              <a:rPr lang="ja-JP" altLang="en-US" b="1" dirty="0"/>
              <a:t>方法論・モデル構成</a:t>
            </a:r>
            <a:endParaRPr kumimoji="1" lang="ja-JP" altLang="en-US" dirty="0"/>
          </a:p>
        </p:txBody>
      </p:sp>
      <p:graphicFrame>
        <p:nvGraphicFramePr>
          <p:cNvPr id="11" name="コンテンツ プレースホルダー 10">
            <a:extLst>
              <a:ext uri="{FF2B5EF4-FFF2-40B4-BE49-F238E27FC236}">
                <a16:creationId xmlns:a16="http://schemas.microsoft.com/office/drawing/2014/main" id="{8DC54048-B736-A9B0-A61E-893CAE37A045}"/>
              </a:ext>
            </a:extLst>
          </p:cNvPr>
          <p:cNvGraphicFramePr>
            <a:graphicFrameLocks noGrp="1"/>
          </p:cNvGraphicFramePr>
          <p:nvPr>
            <p:ph idx="1"/>
            <p:extLst>
              <p:ext uri="{D42A27DB-BD31-4B8C-83A1-F6EECF244321}">
                <p14:modId xmlns:p14="http://schemas.microsoft.com/office/powerpoint/2010/main" val="2106671941"/>
              </p:ext>
            </p:extLst>
          </p:nvPr>
        </p:nvGraphicFramePr>
        <p:xfrm>
          <a:off x="146304" y="1325880"/>
          <a:ext cx="11795760" cy="55321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四角形: 角を丸くする 11">
            <a:extLst>
              <a:ext uri="{FF2B5EF4-FFF2-40B4-BE49-F238E27FC236}">
                <a16:creationId xmlns:a16="http://schemas.microsoft.com/office/drawing/2014/main" id="{503051C0-0D40-0560-1D85-0EEFFD00E948}"/>
              </a:ext>
            </a:extLst>
          </p:cNvPr>
          <p:cNvSpPr/>
          <p:nvPr/>
        </p:nvSpPr>
        <p:spPr>
          <a:xfrm>
            <a:off x="3182112" y="3712464"/>
            <a:ext cx="1042416" cy="6126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dirty="0"/>
              <a:t>768dim</a:t>
            </a:r>
            <a:endParaRPr kumimoji="1" lang="ja-JP" altLang="en-US" dirty="0"/>
          </a:p>
        </p:txBody>
      </p:sp>
      <p:sp>
        <p:nvSpPr>
          <p:cNvPr id="13" name="四角形: 角を丸くする 12">
            <a:extLst>
              <a:ext uri="{FF2B5EF4-FFF2-40B4-BE49-F238E27FC236}">
                <a16:creationId xmlns:a16="http://schemas.microsoft.com/office/drawing/2014/main" id="{46098383-90D5-3C33-FE17-2BCC8B0D70E9}"/>
              </a:ext>
            </a:extLst>
          </p:cNvPr>
          <p:cNvSpPr/>
          <p:nvPr/>
        </p:nvSpPr>
        <p:spPr>
          <a:xfrm>
            <a:off x="4870704" y="3721608"/>
            <a:ext cx="1042416" cy="6126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b="1" dirty="0"/>
              <a:t>50dim</a:t>
            </a:r>
            <a:endParaRPr kumimoji="1" lang="ja-JP" altLang="en-US" b="1" dirty="0"/>
          </a:p>
        </p:txBody>
      </p:sp>
      <p:sp>
        <p:nvSpPr>
          <p:cNvPr id="15" name="四角形: 上の 2 つの角を丸める 14">
            <a:extLst>
              <a:ext uri="{FF2B5EF4-FFF2-40B4-BE49-F238E27FC236}">
                <a16:creationId xmlns:a16="http://schemas.microsoft.com/office/drawing/2014/main" id="{A64342D3-AA53-4979-5609-D24365C7E91B}"/>
              </a:ext>
            </a:extLst>
          </p:cNvPr>
          <p:cNvSpPr/>
          <p:nvPr/>
        </p:nvSpPr>
        <p:spPr>
          <a:xfrm>
            <a:off x="146304" y="4206875"/>
            <a:ext cx="2871216" cy="1609344"/>
          </a:xfrm>
          <a:prstGeom prst="round2SameRect">
            <a:avLst>
              <a:gd name="adj1" fmla="val 0"/>
              <a:gd name="adj2" fmla="val 6250"/>
            </a:avLst>
          </a:prstGeom>
          <a:solidFill>
            <a:schemeClr val="tx2">
              <a:lumMod val="10000"/>
              <a:lumOff val="90000"/>
            </a:schemeClr>
          </a:solidFill>
        </p:spPr>
        <p:style>
          <a:lnRef idx="1">
            <a:schemeClr val="accent1"/>
          </a:lnRef>
          <a:fillRef idx="2">
            <a:schemeClr val="accent1"/>
          </a:fillRef>
          <a:effectRef idx="1">
            <a:schemeClr val="accent1"/>
          </a:effectRef>
          <a:fontRef idx="minor">
            <a:schemeClr val="dk1"/>
          </a:fontRef>
        </p:style>
        <p:txBody>
          <a:bodyPr rtlCol="0" anchor="ctr"/>
          <a:lstStyle/>
          <a:p>
            <a:r>
              <a:rPr lang="ja-JP" altLang="en-US" b="1" dirty="0"/>
              <a:t>     構造化データ</a:t>
            </a:r>
          </a:p>
          <a:p>
            <a:r>
              <a:rPr lang="ja-JP" altLang="en-US" sz="1600" dirty="0"/>
              <a:t>・気象データ</a:t>
            </a:r>
          </a:p>
          <a:p>
            <a:r>
              <a:rPr lang="ja-JP" altLang="en-US" sz="1600" dirty="0"/>
              <a:t>・広告ラグ変数</a:t>
            </a:r>
          </a:p>
          <a:p>
            <a:r>
              <a:rPr lang="ja-JP" altLang="en-US" sz="1600" dirty="0"/>
              <a:t>・価格・在庫</a:t>
            </a:r>
          </a:p>
          <a:p>
            <a:pPr algn="ctr"/>
            <a:endParaRPr kumimoji="1" lang="ja-JP" altLang="en-US" dirty="0"/>
          </a:p>
        </p:txBody>
      </p:sp>
      <p:sp>
        <p:nvSpPr>
          <p:cNvPr id="14" name="矢印: 右 13">
            <a:extLst>
              <a:ext uri="{FF2B5EF4-FFF2-40B4-BE49-F238E27FC236}">
                <a16:creationId xmlns:a16="http://schemas.microsoft.com/office/drawing/2014/main" id="{9FE46BDE-EB35-0BFB-5333-83A986D57376}"/>
              </a:ext>
            </a:extLst>
          </p:cNvPr>
          <p:cNvSpPr/>
          <p:nvPr/>
        </p:nvSpPr>
        <p:spPr>
          <a:xfrm>
            <a:off x="4306824" y="3943350"/>
            <a:ext cx="484632" cy="1805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上の 2 つの角を丸める 15">
            <a:extLst>
              <a:ext uri="{FF2B5EF4-FFF2-40B4-BE49-F238E27FC236}">
                <a16:creationId xmlns:a16="http://schemas.microsoft.com/office/drawing/2014/main" id="{FCA46F61-A421-E0DD-7E0A-1D81BEFC7537}"/>
              </a:ext>
            </a:extLst>
          </p:cNvPr>
          <p:cNvSpPr/>
          <p:nvPr/>
        </p:nvSpPr>
        <p:spPr>
          <a:xfrm>
            <a:off x="146304" y="2339276"/>
            <a:ext cx="2871216" cy="1615503"/>
          </a:xfrm>
          <a:prstGeom prst="round2SameRect">
            <a:avLst>
              <a:gd name="adj1" fmla="val 9874"/>
              <a:gd name="adj2" fmla="val 0"/>
            </a:avLst>
          </a:prstGeom>
          <a:solidFill>
            <a:schemeClr val="tx2">
              <a:lumMod val="10000"/>
              <a:lumOff val="90000"/>
            </a:schemeClr>
          </a:solidFill>
        </p:spPr>
        <p:style>
          <a:lnRef idx="1">
            <a:schemeClr val="accent1"/>
          </a:lnRef>
          <a:fillRef idx="2">
            <a:schemeClr val="accent1"/>
          </a:fillRef>
          <a:effectRef idx="1">
            <a:schemeClr val="accent1"/>
          </a:effectRef>
          <a:fontRef idx="minor">
            <a:schemeClr val="dk1"/>
          </a:fontRef>
        </p:style>
        <p:txBody>
          <a:bodyPr rtlCol="0" anchor="ctr"/>
          <a:lstStyle/>
          <a:p>
            <a:pPr lvl="0">
              <a:buNone/>
            </a:pPr>
            <a:r>
              <a:rPr lang="en-US" altLang="ja-JP" b="1" i="0" dirty="0"/>
              <a:t>     BERT</a:t>
            </a:r>
            <a:r>
              <a:rPr lang="ja-JP" altLang="en-US" b="1" i="0" dirty="0"/>
              <a:t>特徴量抽出</a:t>
            </a:r>
            <a:endParaRPr lang="en-US" altLang="ja-JP" b="1" i="0" dirty="0"/>
          </a:p>
          <a:p>
            <a:pPr lvl="0">
              <a:buNone/>
            </a:pPr>
            <a:r>
              <a:rPr lang="ja-JP" altLang="en-US" sz="1600" b="1" i="0" dirty="0"/>
              <a:t>商品名テキスト</a:t>
            </a:r>
            <a:endParaRPr lang="en-US" altLang="ja-JP" sz="1600" b="1" i="0" dirty="0"/>
          </a:p>
          <a:p>
            <a:pPr lvl="0">
              <a:buNone/>
            </a:pPr>
            <a:endParaRPr lang="ja-JP" altLang="en-US" sz="1600" dirty="0"/>
          </a:p>
          <a:p>
            <a:pPr lvl="0">
              <a:buNone/>
            </a:pPr>
            <a:r>
              <a:rPr lang="ja-JP" altLang="en-US" sz="1200" dirty="0"/>
              <a:t>例：「</a:t>
            </a:r>
            <a:r>
              <a:rPr lang="en-US" altLang="ja-JP" sz="1200" dirty="0"/>
              <a:t>【2</a:t>
            </a:r>
            <a:r>
              <a:rPr lang="ja-JP" altLang="en-US" sz="1200" dirty="0"/>
              <a:t>辛</a:t>
            </a:r>
            <a:r>
              <a:rPr lang="en-US" altLang="ja-JP" sz="1200" dirty="0"/>
              <a:t>】</a:t>
            </a:r>
            <a:r>
              <a:rPr lang="ja-JP" altLang="en-US" sz="1200" dirty="0"/>
              <a:t>素材を生かした</a:t>
            </a:r>
            <a:r>
              <a:rPr lang="en-US" altLang="ja-JP" sz="1200" dirty="0"/>
              <a:t>...</a:t>
            </a:r>
            <a:r>
              <a:rPr lang="ja-JP" altLang="en-US" sz="1200" dirty="0"/>
              <a:t>」</a:t>
            </a:r>
          </a:p>
          <a:p>
            <a:pPr algn="ctr"/>
            <a:endParaRPr kumimoji="1" lang="ja-JP" altLang="en-US" dirty="0"/>
          </a:p>
        </p:txBody>
      </p:sp>
      <p:sp>
        <p:nvSpPr>
          <p:cNvPr id="17" name="フローチャート: 代替処理 16">
            <a:extLst>
              <a:ext uri="{FF2B5EF4-FFF2-40B4-BE49-F238E27FC236}">
                <a16:creationId xmlns:a16="http://schemas.microsoft.com/office/drawing/2014/main" id="{4ED7207E-9745-B151-865C-4947A7986942}"/>
              </a:ext>
            </a:extLst>
          </p:cNvPr>
          <p:cNvSpPr/>
          <p:nvPr/>
        </p:nvSpPr>
        <p:spPr>
          <a:xfrm>
            <a:off x="539496" y="3712464"/>
            <a:ext cx="2221992" cy="338328"/>
          </a:xfrm>
          <a:prstGeom prst="flowChartAlternateProcess">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i="0" dirty="0">
                <a:solidFill>
                  <a:srgbClr val="002060"/>
                </a:solidFill>
              </a:rPr>
              <a:t>768</a:t>
            </a:r>
            <a:r>
              <a:rPr lang="ja-JP" altLang="en-US" b="1" i="0" dirty="0">
                <a:solidFill>
                  <a:srgbClr val="002060"/>
                </a:solidFill>
              </a:rPr>
              <a:t>次元ベクトル化</a:t>
            </a:r>
            <a:endParaRPr lang="en-US" altLang="ja-JP" b="1" i="0" dirty="0">
              <a:solidFill>
                <a:srgbClr val="002060"/>
              </a:solidFill>
            </a:endParaRPr>
          </a:p>
        </p:txBody>
      </p:sp>
      <p:sp>
        <p:nvSpPr>
          <p:cNvPr id="18" name="フローチャート: 代替処理 17">
            <a:extLst>
              <a:ext uri="{FF2B5EF4-FFF2-40B4-BE49-F238E27FC236}">
                <a16:creationId xmlns:a16="http://schemas.microsoft.com/office/drawing/2014/main" id="{907835AB-B3B2-2C41-5D4C-5B61D901BE06}"/>
              </a:ext>
            </a:extLst>
          </p:cNvPr>
          <p:cNvSpPr/>
          <p:nvPr/>
        </p:nvSpPr>
        <p:spPr>
          <a:xfrm>
            <a:off x="6896100" y="2072371"/>
            <a:ext cx="2011680" cy="366077"/>
          </a:xfrm>
          <a:prstGeom prst="flowChartAlternateProcess">
            <a:avLst/>
          </a:prstGeom>
          <a:solidFill>
            <a:srgbClr val="00FF99"/>
          </a:solidFill>
          <a:ln>
            <a:solidFill>
              <a:schemeClr val="accent3"/>
            </a:solidFill>
          </a:ln>
        </p:spPr>
        <p:style>
          <a:lnRef idx="3">
            <a:schemeClr val="lt1"/>
          </a:lnRef>
          <a:fillRef idx="1">
            <a:schemeClr val="accent6"/>
          </a:fillRef>
          <a:effectRef idx="1">
            <a:schemeClr val="accent6"/>
          </a:effectRef>
          <a:fontRef idx="minor">
            <a:schemeClr val="lt1"/>
          </a:fontRef>
        </p:style>
        <p:txBody>
          <a:bodyPr rtlCol="0" anchor="ctr"/>
          <a:lstStyle/>
          <a:p>
            <a:pPr algn="ctr"/>
            <a:r>
              <a:rPr lang="en-US" altLang="ja-JP" b="1" dirty="0"/>
              <a:t> </a:t>
            </a:r>
            <a:r>
              <a:rPr lang="en-US" altLang="ja-JP" b="1" dirty="0" err="1"/>
              <a:t>Optuna</a:t>
            </a:r>
            <a:r>
              <a:rPr lang="ja-JP" altLang="en-US" b="1" dirty="0"/>
              <a:t>最適化</a:t>
            </a:r>
            <a:endParaRPr kumimoji="1" lang="ja-JP" altLang="en-US" dirty="0"/>
          </a:p>
        </p:txBody>
      </p:sp>
      <p:sp>
        <p:nvSpPr>
          <p:cNvPr id="19" name="フローチャート: 代替処理 18">
            <a:extLst>
              <a:ext uri="{FF2B5EF4-FFF2-40B4-BE49-F238E27FC236}">
                <a16:creationId xmlns:a16="http://schemas.microsoft.com/office/drawing/2014/main" id="{95A1D13A-D420-6F14-2C4B-EA1A79601A4C}"/>
              </a:ext>
            </a:extLst>
          </p:cNvPr>
          <p:cNvSpPr/>
          <p:nvPr/>
        </p:nvSpPr>
        <p:spPr>
          <a:xfrm>
            <a:off x="6576060" y="3552285"/>
            <a:ext cx="2331720" cy="334550"/>
          </a:xfrm>
          <a:prstGeom prst="flowChartAlternateProcess">
            <a:avLst/>
          </a:prstGeom>
          <a:solidFill>
            <a:schemeClr val="bg1">
              <a:lumMod val="95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ja-JP" altLang="en-US" sz="1600" dirty="0"/>
              <a:t>非線形相互作用の学習</a:t>
            </a:r>
          </a:p>
        </p:txBody>
      </p:sp>
      <p:sp>
        <p:nvSpPr>
          <p:cNvPr id="20" name="フローチャート: 代替処理 19">
            <a:extLst>
              <a:ext uri="{FF2B5EF4-FFF2-40B4-BE49-F238E27FC236}">
                <a16:creationId xmlns:a16="http://schemas.microsoft.com/office/drawing/2014/main" id="{DE28B793-D85B-9705-CAB6-0BBD2CAEBAAA}"/>
              </a:ext>
            </a:extLst>
          </p:cNvPr>
          <p:cNvSpPr/>
          <p:nvPr/>
        </p:nvSpPr>
        <p:spPr>
          <a:xfrm>
            <a:off x="6576060" y="3999706"/>
            <a:ext cx="2331720" cy="334550"/>
          </a:xfrm>
          <a:prstGeom prst="flowChartAlternateProcess">
            <a:avLst/>
          </a:prstGeom>
          <a:solidFill>
            <a:schemeClr val="bg1">
              <a:lumMod val="95000"/>
            </a:schemeClr>
          </a:solidFill>
        </p:spPr>
        <p:style>
          <a:lnRef idx="1">
            <a:schemeClr val="accent1"/>
          </a:lnRef>
          <a:fillRef idx="2">
            <a:schemeClr val="accent1"/>
          </a:fillRef>
          <a:effectRef idx="1">
            <a:schemeClr val="accent1"/>
          </a:effectRef>
          <a:fontRef idx="minor">
            <a:schemeClr val="dk1"/>
          </a:fontRef>
        </p:style>
        <p:txBody>
          <a:bodyPr rtlCol="0" anchor="ctr"/>
          <a:lstStyle/>
          <a:p>
            <a:pPr lvl="0">
              <a:buNone/>
            </a:pPr>
            <a:r>
              <a:rPr lang="en-US" altLang="ja-JP" sz="1600" b="0" i="0" dirty="0" err="1"/>
              <a:t>BatchNorm</a:t>
            </a:r>
            <a:r>
              <a:rPr lang="en-US" altLang="ja-JP" sz="1600" b="0" i="0" dirty="0"/>
              <a:t> / Dropout</a:t>
            </a:r>
          </a:p>
        </p:txBody>
      </p:sp>
      <p:sp>
        <p:nvSpPr>
          <p:cNvPr id="21" name="テキスト ボックス 20">
            <a:extLst>
              <a:ext uri="{FF2B5EF4-FFF2-40B4-BE49-F238E27FC236}">
                <a16:creationId xmlns:a16="http://schemas.microsoft.com/office/drawing/2014/main" id="{383C967E-7DAB-80B5-9DBA-877568B5D609}"/>
              </a:ext>
            </a:extLst>
          </p:cNvPr>
          <p:cNvSpPr txBox="1"/>
          <p:nvPr/>
        </p:nvSpPr>
        <p:spPr>
          <a:xfrm>
            <a:off x="8993124" y="3004578"/>
            <a:ext cx="3093720" cy="707886"/>
          </a:xfrm>
          <a:prstGeom prst="rect">
            <a:avLst/>
          </a:prstGeom>
          <a:noFill/>
        </p:spPr>
        <p:txBody>
          <a:bodyPr wrap="square" rtlCol="0">
            <a:spAutoFit/>
          </a:bodyPr>
          <a:lstStyle/>
          <a:p>
            <a:pPr algn="ctr"/>
            <a:r>
              <a:rPr lang="ja-JP" altLang="en-US" sz="2400" b="1" dirty="0"/>
              <a:t>需要予測</a:t>
            </a:r>
            <a:endParaRPr lang="en-US" altLang="ja-JP" sz="2400" b="1" dirty="0"/>
          </a:p>
          <a:p>
            <a:pPr algn="ctr"/>
            <a:r>
              <a:rPr lang="en-US" altLang="ja-JP" sz="1600" b="1" dirty="0"/>
              <a:t>(</a:t>
            </a:r>
            <a:r>
              <a:rPr lang="ja-JP" altLang="en-US" sz="1600" dirty="0"/>
              <a:t>売上数</a:t>
            </a:r>
            <a:r>
              <a:rPr lang="en-US" altLang="ja-JP" sz="1600" dirty="0"/>
              <a:t>)</a:t>
            </a:r>
            <a:endParaRPr lang="ja-JP" altLang="en-US" sz="1600" dirty="0"/>
          </a:p>
        </p:txBody>
      </p:sp>
      <p:sp>
        <p:nvSpPr>
          <p:cNvPr id="22" name="四角形: 角を丸くする 21">
            <a:extLst>
              <a:ext uri="{FF2B5EF4-FFF2-40B4-BE49-F238E27FC236}">
                <a16:creationId xmlns:a16="http://schemas.microsoft.com/office/drawing/2014/main" id="{80379F62-121F-92EE-0479-BA1D49F5D3A3}"/>
              </a:ext>
            </a:extLst>
          </p:cNvPr>
          <p:cNvSpPr/>
          <p:nvPr/>
        </p:nvSpPr>
        <p:spPr>
          <a:xfrm>
            <a:off x="9427464" y="3744467"/>
            <a:ext cx="2225040" cy="69494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dirty="0"/>
              <a:t>評価指数</a:t>
            </a:r>
            <a:br>
              <a:rPr kumimoji="1" lang="en-US" altLang="ja-JP" dirty="0"/>
            </a:br>
            <a:r>
              <a:rPr kumimoji="1" lang="en-US" altLang="ja-JP" b="1" dirty="0"/>
              <a:t>RMSE</a:t>
            </a:r>
            <a:endParaRPr kumimoji="1" lang="ja-JP" altLang="en-US" b="1" dirty="0"/>
          </a:p>
        </p:txBody>
      </p:sp>
      <p:sp>
        <p:nvSpPr>
          <p:cNvPr id="23" name="フローチャート: 代替処理 22">
            <a:extLst>
              <a:ext uri="{FF2B5EF4-FFF2-40B4-BE49-F238E27FC236}">
                <a16:creationId xmlns:a16="http://schemas.microsoft.com/office/drawing/2014/main" id="{AC38293E-5539-188A-6F9A-BCD6E1D61F82}"/>
              </a:ext>
            </a:extLst>
          </p:cNvPr>
          <p:cNvSpPr/>
          <p:nvPr/>
        </p:nvSpPr>
        <p:spPr>
          <a:xfrm>
            <a:off x="9427464" y="4671885"/>
            <a:ext cx="2225040" cy="1037819"/>
          </a:xfrm>
          <a:prstGeom prst="flowChartAlternateProcess">
            <a:avLst/>
          </a:prstGeom>
          <a:solidFill>
            <a:srgbClr val="CCFFCC"/>
          </a:solidFill>
        </p:spPr>
        <p:style>
          <a:lnRef idx="2">
            <a:schemeClr val="accent6"/>
          </a:lnRef>
          <a:fillRef idx="1">
            <a:schemeClr val="lt1"/>
          </a:fillRef>
          <a:effectRef idx="0">
            <a:schemeClr val="accent6"/>
          </a:effectRef>
          <a:fontRef idx="minor">
            <a:schemeClr val="dk1"/>
          </a:fontRef>
        </p:style>
        <p:txBody>
          <a:bodyPr rtlCol="0" anchor="ctr"/>
          <a:lstStyle/>
          <a:p>
            <a:pPr lvl="0" algn="ctr">
              <a:buNone/>
            </a:pPr>
            <a:r>
              <a:rPr lang="en-US" altLang="ja-JP" sz="1600" b="1" i="0" dirty="0"/>
              <a:t>Uplift</a:t>
            </a:r>
            <a:r>
              <a:rPr lang="ja-JP" altLang="en-US" sz="1600" b="1" i="0" dirty="0"/>
              <a:t>分析</a:t>
            </a:r>
            <a:br>
              <a:rPr lang="en-US" altLang="ja-JP" sz="1600" b="0" i="0" dirty="0"/>
            </a:br>
            <a:r>
              <a:rPr lang="ja-JP" altLang="en-US" sz="1600" b="0" i="0" dirty="0"/>
              <a:t>広告あり </a:t>
            </a:r>
            <a:r>
              <a:rPr lang="en-US" altLang="ja-JP" sz="1600" b="0" i="0" dirty="0"/>
              <a:t>vs </a:t>
            </a:r>
            <a:r>
              <a:rPr lang="ja-JP" altLang="en-US" sz="1600" b="0" i="0" dirty="0"/>
              <a:t>なし</a:t>
            </a:r>
            <a:endParaRPr lang="en-US" altLang="ja-JP" sz="1600" b="0" i="0" dirty="0"/>
          </a:p>
        </p:txBody>
      </p:sp>
      <p:pic>
        <p:nvPicPr>
          <p:cNvPr id="4" name="グラフィックス 3" descr="棒グラフ 単色塗りつぶし">
            <a:extLst>
              <a:ext uri="{FF2B5EF4-FFF2-40B4-BE49-F238E27FC236}">
                <a16:creationId xmlns:a16="http://schemas.microsoft.com/office/drawing/2014/main" id="{0EA15E78-D7CA-F052-339B-9C18E63F019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51065" y="2438448"/>
            <a:ext cx="577837" cy="577837"/>
          </a:xfrm>
          <a:prstGeom prst="rect">
            <a:avLst/>
          </a:prstGeom>
        </p:spPr>
      </p:pic>
      <p:pic>
        <p:nvPicPr>
          <p:cNvPr id="6" name="グラフィックス 5" descr="データベース 単色塗りつぶし">
            <a:extLst>
              <a:ext uri="{FF2B5EF4-FFF2-40B4-BE49-F238E27FC236}">
                <a16:creationId xmlns:a16="http://schemas.microsoft.com/office/drawing/2014/main" id="{E5410568-FD8C-6D51-19AE-D4EECBF20D4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6304" y="4206875"/>
            <a:ext cx="431533" cy="431533"/>
          </a:xfrm>
          <a:prstGeom prst="rect">
            <a:avLst/>
          </a:prstGeom>
        </p:spPr>
      </p:pic>
      <p:pic>
        <p:nvPicPr>
          <p:cNvPr id="8" name="グラフィックス 7" descr="チャットの吹き出し 単色塗りつぶし">
            <a:extLst>
              <a:ext uri="{FF2B5EF4-FFF2-40B4-BE49-F238E27FC236}">
                <a16:creationId xmlns:a16="http://schemas.microsoft.com/office/drawing/2014/main" id="{C68FD927-EE03-6981-22E8-03AB9771CE4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01168" y="2507399"/>
            <a:ext cx="338328" cy="338328"/>
          </a:xfrm>
          <a:prstGeom prst="rect">
            <a:avLst/>
          </a:prstGeom>
        </p:spPr>
      </p:pic>
      <p:cxnSp>
        <p:nvCxnSpPr>
          <p:cNvPr id="3" name="直線コネクタ 2">
            <a:extLst>
              <a:ext uri="{FF2B5EF4-FFF2-40B4-BE49-F238E27FC236}">
                <a16:creationId xmlns:a16="http://schemas.microsoft.com/office/drawing/2014/main" id="{24FEDA17-1492-E895-68BE-CA0E5E370413}"/>
              </a:ext>
            </a:extLst>
          </p:cNvPr>
          <p:cNvCxnSpPr/>
          <p:nvPr/>
        </p:nvCxnSpPr>
        <p:spPr>
          <a:xfrm>
            <a:off x="836740" y="648589"/>
            <a:ext cx="0" cy="677291"/>
          </a:xfrm>
          <a:prstGeom prst="line">
            <a:avLst/>
          </a:prstGeom>
          <a:ln w="762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5" name="直線コネクタ 4">
            <a:extLst>
              <a:ext uri="{FF2B5EF4-FFF2-40B4-BE49-F238E27FC236}">
                <a16:creationId xmlns:a16="http://schemas.microsoft.com/office/drawing/2014/main" id="{DEFB60BB-3266-EF45-6616-37DEC82DE726}"/>
              </a:ext>
            </a:extLst>
          </p:cNvPr>
          <p:cNvCxnSpPr/>
          <p:nvPr/>
        </p:nvCxnSpPr>
        <p:spPr>
          <a:xfrm>
            <a:off x="0" y="0"/>
            <a:ext cx="12192000" cy="0"/>
          </a:xfrm>
          <a:prstGeom prst="line">
            <a:avLst/>
          </a:prstGeom>
          <a:ln w="762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67565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8C54C8A5-3451-ED0A-E517-8E20B55F8BC6}"/>
              </a:ext>
            </a:extLst>
          </p:cNvPr>
          <p:cNvSpPr/>
          <p:nvPr/>
        </p:nvSpPr>
        <p:spPr>
          <a:xfrm>
            <a:off x="6227053" y="1096420"/>
            <a:ext cx="5852172" cy="5511709"/>
          </a:xfrm>
          <a:prstGeom prst="rect">
            <a:avLst/>
          </a:prstGeom>
          <a:solidFill>
            <a:schemeClr val="bg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CEE994F0-BD29-483B-B9D8-DD3097F41292}"/>
              </a:ext>
            </a:extLst>
          </p:cNvPr>
          <p:cNvSpPr>
            <a:spLocks noGrp="1"/>
          </p:cNvSpPr>
          <p:nvPr>
            <p:ph type="title"/>
          </p:nvPr>
        </p:nvSpPr>
        <p:spPr>
          <a:xfrm>
            <a:off x="838200" y="365126"/>
            <a:ext cx="10515600" cy="731294"/>
          </a:xfrm>
        </p:spPr>
        <p:txBody>
          <a:bodyPr/>
          <a:lstStyle/>
          <a:p>
            <a:r>
              <a:rPr lang="ja-JP" altLang="en-US" b="1" dirty="0"/>
              <a:t>データセット</a:t>
            </a:r>
            <a:endParaRPr kumimoji="1" lang="ja-JP" altLang="en-US" dirty="0"/>
          </a:p>
        </p:txBody>
      </p:sp>
      <p:graphicFrame>
        <p:nvGraphicFramePr>
          <p:cNvPr id="7" name="コンテンツ プレースホルダー 6">
            <a:extLst>
              <a:ext uri="{FF2B5EF4-FFF2-40B4-BE49-F238E27FC236}">
                <a16:creationId xmlns:a16="http://schemas.microsoft.com/office/drawing/2014/main" id="{0BD8083F-20AB-71DB-BB0F-EB227640F58B}"/>
              </a:ext>
            </a:extLst>
          </p:cNvPr>
          <p:cNvGraphicFramePr>
            <a:graphicFrameLocks noGrp="1"/>
          </p:cNvGraphicFramePr>
          <p:nvPr>
            <p:ph idx="1"/>
            <p:extLst>
              <p:ext uri="{D42A27DB-BD31-4B8C-83A1-F6EECF244321}">
                <p14:modId xmlns:p14="http://schemas.microsoft.com/office/powerpoint/2010/main" val="3466079142"/>
              </p:ext>
            </p:extLst>
          </p:nvPr>
        </p:nvGraphicFramePr>
        <p:xfrm>
          <a:off x="829056" y="1096420"/>
          <a:ext cx="5257800" cy="5511709"/>
        </p:xfrm>
        <a:graphic>
          <a:graphicData uri="http://schemas.openxmlformats.org/drawingml/2006/table">
            <a:tbl>
              <a:tblPr firstRow="1" bandRow="1">
                <a:tableStyleId>{5C22544A-7EE6-4342-B048-85BDC9FD1C3A}</a:tableStyleId>
              </a:tblPr>
              <a:tblGrid>
                <a:gridCol w="1612392">
                  <a:extLst>
                    <a:ext uri="{9D8B030D-6E8A-4147-A177-3AD203B41FA5}">
                      <a16:colId xmlns:a16="http://schemas.microsoft.com/office/drawing/2014/main" val="594926442"/>
                    </a:ext>
                  </a:extLst>
                </a:gridCol>
                <a:gridCol w="1490472">
                  <a:extLst>
                    <a:ext uri="{9D8B030D-6E8A-4147-A177-3AD203B41FA5}">
                      <a16:colId xmlns:a16="http://schemas.microsoft.com/office/drawing/2014/main" val="1768532663"/>
                    </a:ext>
                  </a:extLst>
                </a:gridCol>
                <a:gridCol w="2154936">
                  <a:extLst>
                    <a:ext uri="{9D8B030D-6E8A-4147-A177-3AD203B41FA5}">
                      <a16:colId xmlns:a16="http://schemas.microsoft.com/office/drawing/2014/main" val="161742711"/>
                    </a:ext>
                  </a:extLst>
                </a:gridCol>
              </a:tblGrid>
              <a:tr h="415656">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kern="1200" dirty="0">
                          <a:solidFill>
                            <a:srgbClr val="002060"/>
                          </a:solidFill>
                          <a:effectLst/>
                        </a:rPr>
                        <a:t>分析用データ構成</a:t>
                      </a:r>
                      <a:endParaRPr kumimoji="1" lang="ja-JP" altLang="en-US" sz="1800" b="1" i="0" kern="1200" dirty="0">
                        <a:solidFill>
                          <a:srgbClr val="002060"/>
                        </a:solidFill>
                        <a:effectLst/>
                        <a:latin typeface="+mn-lt"/>
                        <a:ea typeface="+mn-ea"/>
                        <a:cs typeface="+mn-cs"/>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solidFill>
                      <a:schemeClr val="tx2">
                        <a:lumMod val="10000"/>
                        <a:lumOff val="90000"/>
                      </a:schemeClr>
                    </a:solidFill>
                  </a:tcPr>
                </a:tc>
                <a:tc hMerge="1">
                  <a:txBody>
                    <a:bodyPr/>
                    <a:lstStyle/>
                    <a:p>
                      <a:endParaRPr kumimoji="1" lang="ja-JP" altLang="en-US" dirty="0"/>
                    </a:p>
                  </a:txBody>
                  <a:tcPr/>
                </a:tc>
                <a:tc hMerge="1">
                  <a:txBody>
                    <a:bodyPr/>
                    <a:lstStyle/>
                    <a:p>
                      <a:endParaRPr kumimoji="1" lang="ja-JP" altLang="en-US" dirty="0"/>
                    </a:p>
                  </a:txBody>
                  <a:tcPr/>
                </a:tc>
                <a:extLst>
                  <a:ext uri="{0D108BD9-81ED-4DB2-BD59-A6C34878D82A}">
                    <a16:rowId xmlns:a16="http://schemas.microsoft.com/office/drawing/2014/main" val="1638256889"/>
                  </a:ext>
                </a:extLst>
              </a:tr>
              <a:tr h="415656">
                <a:tc>
                  <a:txBody>
                    <a:bodyPr/>
                    <a:lstStyle/>
                    <a:p>
                      <a:r>
                        <a:rPr kumimoji="1" lang="ja-JP" altLang="en-US" sz="1800" b="1" kern="1200" dirty="0">
                          <a:solidFill>
                            <a:schemeClr val="dk1"/>
                          </a:solidFill>
                          <a:effectLst/>
                        </a:rPr>
                        <a:t>データ種別</a:t>
                      </a:r>
                      <a:endParaRPr kumimoji="1" lang="ja-JP" altLang="en-US" dirty="0"/>
                    </a:p>
                  </a:txBody>
                  <a:tcPr>
                    <a:lnL w="12700" cap="flat" cmpd="sng" algn="ctr">
                      <a:solidFill>
                        <a:schemeClr val="tx1"/>
                      </a:solidFill>
                      <a:prstDash val="sysDot"/>
                      <a:round/>
                      <a:headEnd type="none" w="med" len="med"/>
                      <a:tailEnd type="none" w="med" len="med"/>
                    </a:lnL>
                    <a:lnB w="6350" cap="flat" cmpd="sng" algn="ctr">
                      <a:solidFill>
                        <a:schemeClr val="tx1"/>
                      </a:solidFill>
                      <a:prstDash val="dot"/>
                      <a:round/>
                      <a:headEnd type="none" w="med" len="med"/>
                      <a:tailEnd type="none" w="med" len="med"/>
                    </a:lnB>
                    <a:solidFill>
                      <a:schemeClr val="bg2"/>
                    </a:solidFill>
                  </a:tcPr>
                </a:tc>
                <a:tc>
                  <a:txBody>
                    <a:bodyPr/>
                    <a:lstStyle/>
                    <a:p>
                      <a:r>
                        <a:rPr kumimoji="1" lang="ja-JP" altLang="en-US" sz="1800" b="1" kern="1200" dirty="0">
                          <a:solidFill>
                            <a:schemeClr val="dk1"/>
                          </a:solidFill>
                          <a:effectLst/>
                        </a:rPr>
                        <a:t>主要変数</a:t>
                      </a:r>
                      <a:endParaRPr kumimoji="1" lang="ja-JP" altLang="en-US" dirty="0"/>
                    </a:p>
                  </a:txBody>
                  <a:tcPr>
                    <a:lnB w="6350" cap="flat" cmpd="sng" algn="ctr">
                      <a:solidFill>
                        <a:schemeClr val="tx1"/>
                      </a:solidFill>
                      <a:prstDash val="dot"/>
                      <a:round/>
                      <a:headEnd type="none" w="med" len="med"/>
                      <a:tailEnd type="none" w="med" len="med"/>
                    </a:lnB>
                    <a:solidFill>
                      <a:schemeClr val="bg2"/>
                    </a:solidFill>
                  </a:tcPr>
                </a:tc>
                <a:tc>
                  <a:txBody>
                    <a:bodyPr/>
                    <a:lstStyle/>
                    <a:p>
                      <a:r>
                        <a:rPr kumimoji="1" lang="ja-JP" altLang="en-US" sz="1800" b="1" kern="1200" dirty="0">
                          <a:solidFill>
                            <a:schemeClr val="dk1"/>
                          </a:solidFill>
                          <a:effectLst/>
                        </a:rPr>
                        <a:t>概要・備考</a:t>
                      </a:r>
                      <a:endParaRPr kumimoji="1" lang="ja-JP" altLang="en-US" dirty="0"/>
                    </a:p>
                  </a:txBody>
                  <a:tcPr>
                    <a:lnR w="12700" cap="flat" cmpd="sng" algn="ctr">
                      <a:solidFill>
                        <a:schemeClr val="tx1"/>
                      </a:solidFill>
                      <a:prstDash val="sysDot"/>
                      <a:round/>
                      <a:headEnd type="none" w="med" len="med"/>
                      <a:tailEnd type="none" w="med" len="med"/>
                    </a:lnR>
                    <a:lnB w="6350" cap="flat" cmpd="sng" algn="ctr">
                      <a:solidFill>
                        <a:schemeClr val="tx1"/>
                      </a:solidFill>
                      <a:prstDash val="dot"/>
                      <a:round/>
                      <a:headEnd type="none" w="med" len="med"/>
                      <a:tailEnd type="none" w="med" len="med"/>
                    </a:lnB>
                    <a:solidFill>
                      <a:schemeClr val="bg2"/>
                    </a:solidFill>
                  </a:tcPr>
                </a:tc>
                <a:extLst>
                  <a:ext uri="{0D108BD9-81ED-4DB2-BD59-A6C34878D82A}">
                    <a16:rowId xmlns:a16="http://schemas.microsoft.com/office/drawing/2014/main" val="2745996181"/>
                  </a:ext>
                </a:extLst>
              </a:tr>
              <a:tr h="1469030">
                <a:tc>
                  <a:txBody>
                    <a:bodyPr/>
                    <a:lstStyle/>
                    <a:p>
                      <a:r>
                        <a:rPr kumimoji="1" lang="ja-JP" altLang="en-US" sz="1600" b="1" kern="1200" dirty="0">
                          <a:solidFill>
                            <a:schemeClr val="dk1"/>
                          </a:solidFill>
                          <a:effectLst/>
                        </a:rPr>
                        <a:t>小売販売データ</a:t>
                      </a:r>
                      <a:endParaRPr kumimoji="1" lang="ja-JP" altLang="en-US" sz="1600" dirty="0"/>
                    </a:p>
                  </a:txBody>
                  <a:tcPr>
                    <a:lnL w="12700" cap="flat" cmpd="sng" algn="ctr">
                      <a:solidFill>
                        <a:schemeClr val="tx1"/>
                      </a:solidFill>
                      <a:prstDash val="sysDot"/>
                      <a:round/>
                      <a:headEnd type="none" w="med" len="med"/>
                      <a:tailEnd type="none" w="med" len="med"/>
                    </a:lnL>
                    <a:lnR w="6350" cap="flat" cmpd="sng" algn="ctr">
                      <a:solidFill>
                        <a:schemeClr val="tx1"/>
                      </a:solidFill>
                      <a:prstDash val="dot"/>
                      <a:round/>
                      <a:headEnd type="none" w="med" len="med"/>
                      <a:tailEnd type="none" w="med" len="med"/>
                    </a:lnR>
                    <a:lnT w="6350" cap="flat" cmpd="sng" algn="ctr">
                      <a:solidFill>
                        <a:schemeClr val="tx1"/>
                      </a:solidFill>
                      <a:prstDash val="dot"/>
                      <a:round/>
                      <a:headEnd type="none" w="med" len="med"/>
                      <a:tailEnd type="none" w="med" len="med"/>
                    </a:lnT>
                    <a:lnB w="6350" cap="flat" cmpd="sng" algn="ctr">
                      <a:solidFill>
                        <a:schemeClr val="tx1"/>
                      </a:solidFill>
                      <a:prstDash val="dot"/>
                      <a:round/>
                      <a:headEnd type="none" w="med" len="med"/>
                      <a:tailEnd type="none" w="med" len="med"/>
                    </a:lnB>
                    <a:solidFill>
                      <a:schemeClr val="bg1"/>
                    </a:solidFill>
                  </a:tcPr>
                </a:tc>
                <a:tc>
                  <a:txBody>
                    <a:bodyPr/>
                    <a:lstStyle/>
                    <a:p>
                      <a:endParaRPr kumimoji="1" lang="ja-JP" altLang="en-US" sz="1200" dirty="0"/>
                    </a:p>
                  </a:txBody>
                  <a:tcPr>
                    <a:lnL w="6350" cap="flat" cmpd="sng" algn="ctr">
                      <a:solidFill>
                        <a:schemeClr val="tx1"/>
                      </a:solidFill>
                      <a:prstDash val="dot"/>
                      <a:round/>
                      <a:headEnd type="none" w="med" len="med"/>
                      <a:tailEnd type="none" w="med" len="med"/>
                    </a:lnL>
                    <a:lnR w="6350" cap="flat" cmpd="sng" algn="ctr">
                      <a:solidFill>
                        <a:schemeClr val="tx1"/>
                      </a:solidFill>
                      <a:prstDash val="dot"/>
                      <a:round/>
                      <a:headEnd type="none" w="med" len="med"/>
                      <a:tailEnd type="none" w="med" len="med"/>
                    </a:lnR>
                    <a:lnT w="6350" cap="flat" cmpd="sng" algn="ctr">
                      <a:solidFill>
                        <a:schemeClr val="tx1"/>
                      </a:solidFill>
                      <a:prstDash val="dot"/>
                      <a:round/>
                      <a:headEnd type="none" w="med" len="med"/>
                      <a:tailEnd type="none" w="med" len="med"/>
                    </a:lnT>
                    <a:lnB w="6350" cap="flat" cmpd="sng" algn="ctr">
                      <a:solidFill>
                        <a:schemeClr val="tx1"/>
                      </a:solidFill>
                      <a:prstDash val="dot"/>
                      <a:round/>
                      <a:headEnd type="none" w="med" len="med"/>
                      <a:tailEnd type="none" w="med" len="med"/>
                    </a:lnB>
                    <a:solidFill>
                      <a:schemeClr val="bg1"/>
                    </a:solidFill>
                  </a:tcPr>
                </a:tc>
                <a:tc>
                  <a:txBody>
                    <a:bodyPr/>
                    <a:lstStyle/>
                    <a:p>
                      <a:r>
                        <a:rPr kumimoji="1" lang="ja-JP" altLang="en-US" sz="1600" b="0" kern="1200" dirty="0">
                          <a:solidFill>
                            <a:schemeClr val="dk1"/>
                          </a:solidFill>
                          <a:effectLst/>
                        </a:rPr>
                        <a:t>日別・商品別の</a:t>
                      </a:r>
                      <a:r>
                        <a:rPr kumimoji="1" lang="en-US" altLang="ja-JP" sz="1600" b="0" kern="1200" dirty="0">
                          <a:solidFill>
                            <a:schemeClr val="dk1"/>
                          </a:solidFill>
                          <a:effectLst/>
                        </a:rPr>
                        <a:t>POS</a:t>
                      </a:r>
                      <a:r>
                        <a:rPr kumimoji="1" lang="ja-JP" altLang="en-US" sz="1600" b="0" kern="1200" dirty="0">
                          <a:solidFill>
                            <a:schemeClr val="dk1"/>
                          </a:solidFill>
                          <a:effectLst/>
                        </a:rPr>
                        <a:t>データ。</a:t>
                      </a:r>
                      <a:br>
                        <a:rPr lang="ja-JP" altLang="en-US" sz="1600" dirty="0"/>
                      </a:br>
                      <a:r>
                        <a:rPr kumimoji="1" lang="ja-JP" altLang="en-US" sz="1600" b="0" kern="1200" dirty="0">
                          <a:solidFill>
                            <a:schemeClr val="dk1"/>
                          </a:solidFill>
                          <a:effectLst/>
                        </a:rPr>
                        <a:t>販促フラグ（</a:t>
                      </a:r>
                      <a:r>
                        <a:rPr kumimoji="1" lang="en-US" altLang="ja-JP" sz="1600" b="0" kern="1200" dirty="0">
                          <a:solidFill>
                            <a:schemeClr val="dk1"/>
                          </a:solidFill>
                          <a:effectLst/>
                        </a:rPr>
                        <a:t>SNS</a:t>
                      </a:r>
                      <a:r>
                        <a:rPr kumimoji="1" lang="ja-JP" altLang="en-US" sz="1600" b="0" kern="1200" dirty="0">
                          <a:solidFill>
                            <a:schemeClr val="dk1"/>
                          </a:solidFill>
                          <a:effectLst/>
                        </a:rPr>
                        <a:t>、</a:t>
                      </a:r>
                      <a:r>
                        <a:rPr kumimoji="1" lang="en-US" altLang="ja-JP" sz="1600" b="0" kern="1200" dirty="0">
                          <a:solidFill>
                            <a:schemeClr val="dk1"/>
                          </a:solidFill>
                          <a:effectLst/>
                        </a:rPr>
                        <a:t>TV</a:t>
                      </a:r>
                      <a:r>
                        <a:rPr kumimoji="1" lang="ja-JP" altLang="en-US" sz="1600" b="0" kern="1200" dirty="0">
                          <a:solidFill>
                            <a:schemeClr val="dk1"/>
                          </a:solidFill>
                          <a:effectLst/>
                        </a:rPr>
                        <a:t>、売場施策）を含む。</a:t>
                      </a:r>
                      <a:endParaRPr kumimoji="1" lang="ja-JP" altLang="en-US" sz="1600" dirty="0"/>
                    </a:p>
                  </a:txBody>
                  <a:tcPr>
                    <a:lnL w="6350" cap="flat" cmpd="sng" algn="ctr">
                      <a:solidFill>
                        <a:schemeClr val="tx1"/>
                      </a:solidFill>
                      <a:prstDash val="dot"/>
                      <a:round/>
                      <a:headEnd type="none" w="med" len="med"/>
                      <a:tailEnd type="none" w="med" len="med"/>
                    </a:lnL>
                    <a:lnR w="12700" cap="flat" cmpd="sng" algn="ctr">
                      <a:solidFill>
                        <a:schemeClr val="tx1"/>
                      </a:solidFill>
                      <a:prstDash val="sysDot"/>
                      <a:round/>
                      <a:headEnd type="none" w="med" len="med"/>
                      <a:tailEnd type="none" w="med" len="med"/>
                    </a:lnR>
                    <a:lnT w="6350" cap="flat" cmpd="sng" algn="ctr">
                      <a:solidFill>
                        <a:schemeClr val="tx1"/>
                      </a:solidFill>
                      <a:prstDash val="dot"/>
                      <a:round/>
                      <a:headEnd type="none" w="med" len="med"/>
                      <a:tailEnd type="none" w="med" len="med"/>
                    </a:lnT>
                    <a:lnB w="6350" cap="flat" cmpd="sng" algn="ctr">
                      <a:solidFill>
                        <a:schemeClr val="tx1"/>
                      </a:solidFill>
                      <a:prstDash val="dot"/>
                      <a:round/>
                      <a:headEnd type="none" w="med" len="med"/>
                      <a:tailEnd type="none" w="med" len="med"/>
                    </a:lnB>
                    <a:solidFill>
                      <a:schemeClr val="bg1"/>
                    </a:solidFill>
                  </a:tcPr>
                </a:tc>
                <a:extLst>
                  <a:ext uri="{0D108BD9-81ED-4DB2-BD59-A6C34878D82A}">
                    <a16:rowId xmlns:a16="http://schemas.microsoft.com/office/drawing/2014/main" val="74216317"/>
                  </a:ext>
                </a:extLst>
              </a:tr>
              <a:tr h="1742337">
                <a:tc>
                  <a:txBody>
                    <a:bodyPr/>
                    <a:lstStyle/>
                    <a:p>
                      <a:r>
                        <a:rPr kumimoji="1" lang="ja-JP" altLang="en-US" sz="1600" b="1" kern="1200" dirty="0">
                          <a:solidFill>
                            <a:schemeClr val="dk1"/>
                          </a:solidFill>
                          <a:effectLst/>
                        </a:rPr>
                        <a:t>気象データ</a:t>
                      </a:r>
                      <a:endParaRPr kumimoji="1" lang="ja-JP" altLang="en-US" sz="1600" dirty="0"/>
                    </a:p>
                  </a:txBody>
                  <a:tcPr>
                    <a:lnL w="12700" cap="flat" cmpd="sng" algn="ctr">
                      <a:solidFill>
                        <a:schemeClr val="tx1"/>
                      </a:solidFill>
                      <a:prstDash val="sysDot"/>
                      <a:round/>
                      <a:headEnd type="none" w="med" len="med"/>
                      <a:tailEnd type="none" w="med" len="med"/>
                    </a:lnL>
                    <a:lnR w="6350" cap="flat" cmpd="sng" algn="ctr">
                      <a:solidFill>
                        <a:schemeClr val="tx1"/>
                      </a:solidFill>
                      <a:prstDash val="dot"/>
                      <a:round/>
                      <a:headEnd type="none" w="med" len="med"/>
                      <a:tailEnd type="none" w="med" len="med"/>
                    </a:lnR>
                    <a:lnT w="6350" cap="flat" cmpd="sng" algn="ctr">
                      <a:solidFill>
                        <a:schemeClr val="tx1"/>
                      </a:solidFill>
                      <a:prstDash val="dot"/>
                      <a:round/>
                      <a:headEnd type="none" w="med" len="med"/>
                      <a:tailEnd type="none" w="med" len="med"/>
                    </a:lnT>
                    <a:lnB w="6350" cap="flat" cmpd="sng" algn="ctr">
                      <a:solidFill>
                        <a:schemeClr val="tx1"/>
                      </a:solidFill>
                      <a:prstDash val="dot"/>
                      <a:round/>
                      <a:headEnd type="none" w="med" len="med"/>
                      <a:tailEnd type="none" w="med" len="med"/>
                    </a:lnB>
                    <a:solidFill>
                      <a:schemeClr val="bg1"/>
                    </a:solidFill>
                  </a:tcPr>
                </a:tc>
                <a:tc>
                  <a:txBody>
                    <a:bodyPr/>
                    <a:lstStyle/>
                    <a:p>
                      <a:endParaRPr kumimoji="1" lang="ja-JP" altLang="en-US" sz="1200" dirty="0"/>
                    </a:p>
                  </a:txBody>
                  <a:tcPr>
                    <a:lnL w="6350" cap="flat" cmpd="sng" algn="ctr">
                      <a:solidFill>
                        <a:schemeClr val="tx1"/>
                      </a:solidFill>
                      <a:prstDash val="dot"/>
                      <a:round/>
                      <a:headEnd type="none" w="med" len="med"/>
                      <a:tailEnd type="none" w="med" len="med"/>
                    </a:lnL>
                    <a:lnR w="6350" cap="flat" cmpd="sng" algn="ctr">
                      <a:solidFill>
                        <a:schemeClr val="tx1"/>
                      </a:solidFill>
                      <a:prstDash val="dot"/>
                      <a:round/>
                      <a:headEnd type="none" w="med" len="med"/>
                      <a:tailEnd type="none" w="med" len="med"/>
                    </a:lnR>
                    <a:lnT w="6350" cap="flat" cmpd="sng" algn="ctr">
                      <a:solidFill>
                        <a:schemeClr val="tx1"/>
                      </a:solidFill>
                      <a:prstDash val="dot"/>
                      <a:round/>
                      <a:headEnd type="none" w="med" len="med"/>
                      <a:tailEnd type="none" w="med" len="med"/>
                    </a:lnT>
                    <a:lnB w="6350" cap="flat" cmpd="sng" algn="ctr">
                      <a:solidFill>
                        <a:schemeClr val="tx1"/>
                      </a:solidFill>
                      <a:prstDash val="dot"/>
                      <a:round/>
                      <a:headEnd type="none" w="med" len="med"/>
                      <a:tailEnd type="none" w="med" len="med"/>
                    </a:lnB>
                    <a:solidFill>
                      <a:schemeClr val="bg1"/>
                    </a:solidFill>
                  </a:tcPr>
                </a:tc>
                <a:tc>
                  <a:txBody>
                    <a:bodyPr/>
                    <a:lstStyle/>
                    <a:p>
                      <a:r>
                        <a:rPr kumimoji="1" lang="ja-JP" altLang="en-US" sz="1600" b="0" kern="1200" dirty="0">
                          <a:solidFill>
                            <a:schemeClr val="dk1"/>
                          </a:solidFill>
                          <a:effectLst/>
                        </a:rPr>
                        <a:t>店舗所在地（府中等）の気象官署データ。</a:t>
                      </a:r>
                      <a:br>
                        <a:rPr lang="ja-JP" altLang="en-US" sz="1600" dirty="0"/>
                      </a:br>
                      <a:r>
                        <a:rPr kumimoji="1" lang="ja-JP" altLang="en-US" sz="1600" b="0" kern="1200" dirty="0">
                          <a:solidFill>
                            <a:schemeClr val="dk1"/>
                          </a:solidFill>
                          <a:effectLst/>
                        </a:rPr>
                        <a:t>カレー需要（気温）や客数（降水）に影響。</a:t>
                      </a:r>
                      <a:endParaRPr kumimoji="1" lang="ja-JP" altLang="en-US" sz="1600" dirty="0"/>
                    </a:p>
                  </a:txBody>
                  <a:tcPr>
                    <a:lnL w="6350" cap="flat" cmpd="sng" algn="ctr">
                      <a:solidFill>
                        <a:schemeClr val="tx1"/>
                      </a:solidFill>
                      <a:prstDash val="dot"/>
                      <a:round/>
                      <a:headEnd type="none" w="med" len="med"/>
                      <a:tailEnd type="none" w="med" len="med"/>
                    </a:lnL>
                    <a:lnR w="12700" cap="flat" cmpd="sng" algn="ctr">
                      <a:solidFill>
                        <a:schemeClr val="tx1"/>
                      </a:solidFill>
                      <a:prstDash val="sysDot"/>
                      <a:round/>
                      <a:headEnd type="none" w="med" len="med"/>
                      <a:tailEnd type="none" w="med" len="med"/>
                    </a:lnR>
                    <a:lnT w="6350" cap="flat" cmpd="sng" algn="ctr">
                      <a:solidFill>
                        <a:schemeClr val="tx1"/>
                      </a:solidFill>
                      <a:prstDash val="dot"/>
                      <a:round/>
                      <a:headEnd type="none" w="med" len="med"/>
                      <a:tailEnd type="none" w="med" len="med"/>
                    </a:lnT>
                    <a:lnB w="6350" cap="flat" cmpd="sng" algn="ctr">
                      <a:solidFill>
                        <a:schemeClr val="tx1"/>
                      </a:solidFill>
                      <a:prstDash val="dot"/>
                      <a:round/>
                      <a:headEnd type="none" w="med" len="med"/>
                      <a:tailEnd type="none" w="med" len="med"/>
                    </a:lnB>
                    <a:solidFill>
                      <a:schemeClr val="bg1"/>
                    </a:solidFill>
                  </a:tcPr>
                </a:tc>
                <a:extLst>
                  <a:ext uri="{0D108BD9-81ED-4DB2-BD59-A6C34878D82A}">
                    <a16:rowId xmlns:a16="http://schemas.microsoft.com/office/drawing/2014/main" val="48179793"/>
                  </a:ext>
                </a:extLst>
              </a:tr>
              <a:tr h="1469030">
                <a:tc>
                  <a:txBody>
                    <a:bodyPr/>
                    <a:lstStyle/>
                    <a:p>
                      <a:r>
                        <a:rPr kumimoji="1" lang="ja-JP" altLang="en-US" sz="1600" b="1" kern="1200" dirty="0">
                          <a:solidFill>
                            <a:schemeClr val="dk1"/>
                          </a:solidFill>
                          <a:effectLst/>
                        </a:rPr>
                        <a:t>エンジニアリング特徴量</a:t>
                      </a:r>
                      <a:endParaRPr kumimoji="1" lang="ja-JP" altLang="en-US" sz="1600" dirty="0"/>
                    </a:p>
                  </a:txBody>
                  <a:tcPr>
                    <a:lnL w="12700" cap="flat" cmpd="sng" algn="ctr">
                      <a:solidFill>
                        <a:schemeClr val="tx1"/>
                      </a:solidFill>
                      <a:prstDash val="sysDot"/>
                      <a:round/>
                      <a:headEnd type="none" w="med" len="med"/>
                      <a:tailEnd type="none" w="med" len="med"/>
                    </a:lnL>
                    <a:lnR w="6350" cap="flat" cmpd="sng" algn="ctr">
                      <a:solidFill>
                        <a:schemeClr val="tx1"/>
                      </a:solidFill>
                      <a:prstDash val="dot"/>
                      <a:round/>
                      <a:headEnd type="none" w="med" len="med"/>
                      <a:tailEnd type="none" w="med" len="med"/>
                    </a:lnR>
                    <a:lnT w="6350" cap="flat" cmpd="sng" algn="ctr">
                      <a:solidFill>
                        <a:schemeClr val="tx1"/>
                      </a:solidFill>
                      <a:prstDash val="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endParaRPr kumimoji="1" lang="en-US" altLang="ja-JP" sz="1600" b="1" i="0" kern="1200" dirty="0">
                        <a:solidFill>
                          <a:schemeClr val="dk1"/>
                        </a:solidFill>
                        <a:effectLst/>
                        <a:latin typeface="DengXian" panose="02010600030101010101" pitchFamily="2" charset="-122"/>
                        <a:ea typeface="DengXian" panose="02010600030101010101" pitchFamily="2" charset="-122"/>
                        <a:cs typeface="+mn-cs"/>
                      </a:endParaRPr>
                    </a:p>
                  </a:txBody>
                  <a:tcPr>
                    <a:lnL w="6350" cap="flat" cmpd="sng" algn="ctr">
                      <a:solidFill>
                        <a:schemeClr val="tx1"/>
                      </a:solidFill>
                      <a:prstDash val="dot"/>
                      <a:round/>
                      <a:headEnd type="none" w="med" len="med"/>
                      <a:tailEnd type="none" w="med" len="med"/>
                    </a:lnL>
                    <a:lnR w="6350" cap="flat" cmpd="sng" algn="ctr">
                      <a:solidFill>
                        <a:schemeClr val="tx1"/>
                      </a:solidFill>
                      <a:prstDash val="dot"/>
                      <a:round/>
                      <a:headEnd type="none" w="med" len="med"/>
                      <a:tailEnd type="none" w="med" len="med"/>
                    </a:lnR>
                    <a:lnT w="6350" cap="flat" cmpd="sng" algn="ctr">
                      <a:solidFill>
                        <a:schemeClr val="tx1"/>
                      </a:solidFill>
                      <a:prstDash val="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r>
                        <a:rPr kumimoji="1" lang="ja-JP" altLang="en-US" sz="1600" b="1" kern="1200" dirty="0">
                          <a:solidFill>
                            <a:schemeClr val="dk1"/>
                          </a:solidFill>
                          <a:effectLst/>
                        </a:rPr>
                        <a:t>広告ラグ</a:t>
                      </a:r>
                      <a:r>
                        <a:rPr kumimoji="1" lang="en-US" altLang="ja-JP" sz="1600" b="1" kern="1200" dirty="0">
                          <a:solidFill>
                            <a:schemeClr val="dk1"/>
                          </a:solidFill>
                          <a:effectLst/>
                        </a:rPr>
                        <a:t>:</a:t>
                      </a:r>
                      <a:r>
                        <a:rPr kumimoji="1" lang="ja-JP" altLang="en-US" sz="1600" b="0" kern="1200" dirty="0">
                          <a:solidFill>
                            <a:schemeClr val="dk1"/>
                          </a:solidFill>
                          <a:effectLst/>
                        </a:rPr>
                        <a:t> </a:t>
                      </a:r>
                      <a:r>
                        <a:rPr kumimoji="1" lang="en-US" altLang="ja-JP" sz="1600" b="0" kern="1200" dirty="0">
                          <a:solidFill>
                            <a:schemeClr val="dk1"/>
                          </a:solidFill>
                          <a:effectLst/>
                        </a:rPr>
                        <a:t>1〜3</a:t>
                      </a:r>
                      <a:r>
                        <a:rPr kumimoji="1" lang="ja-JP" altLang="en-US" sz="1600" b="0" kern="1200" dirty="0">
                          <a:solidFill>
                            <a:schemeClr val="dk1"/>
                          </a:solidFill>
                          <a:effectLst/>
                        </a:rPr>
                        <a:t>週間前の履歴を作成。</a:t>
                      </a:r>
                      <a:br>
                        <a:rPr lang="ja-JP" altLang="en-US" sz="1600" dirty="0"/>
                      </a:br>
                      <a:r>
                        <a:rPr kumimoji="1" lang="en-US" altLang="ja-JP" sz="1600" b="1" kern="1200" dirty="0">
                          <a:solidFill>
                            <a:schemeClr val="dk1"/>
                          </a:solidFill>
                          <a:effectLst/>
                        </a:rPr>
                        <a:t>BERT:</a:t>
                      </a:r>
                      <a:r>
                        <a:rPr kumimoji="1" lang="ja-JP" altLang="en-US" sz="1600" b="0" kern="1200" dirty="0">
                          <a:solidFill>
                            <a:schemeClr val="dk1"/>
                          </a:solidFill>
                          <a:effectLst/>
                        </a:rPr>
                        <a:t> 商品名から抽出した</a:t>
                      </a:r>
                      <a:r>
                        <a:rPr kumimoji="1" lang="en-US" altLang="ja-JP" sz="1600" b="0" kern="1200" dirty="0">
                          <a:solidFill>
                            <a:schemeClr val="dk1"/>
                          </a:solidFill>
                          <a:effectLst/>
                        </a:rPr>
                        <a:t>50</a:t>
                      </a:r>
                      <a:r>
                        <a:rPr kumimoji="1" lang="ja-JP" altLang="en-US" sz="1600" b="0" kern="1200" dirty="0">
                          <a:solidFill>
                            <a:schemeClr val="dk1"/>
                          </a:solidFill>
                          <a:effectLst/>
                        </a:rPr>
                        <a:t>次元圧縮ベクトル。</a:t>
                      </a:r>
                      <a:endParaRPr kumimoji="1" lang="ja-JP" altLang="en-US" sz="1600" dirty="0"/>
                    </a:p>
                  </a:txBody>
                  <a:tcPr>
                    <a:lnL w="6350" cap="flat" cmpd="sng" algn="ctr">
                      <a:solidFill>
                        <a:schemeClr val="tx1"/>
                      </a:solidFill>
                      <a:prstDash val="dot"/>
                      <a:round/>
                      <a:headEnd type="none" w="med" len="med"/>
                      <a:tailEnd type="none" w="med" len="med"/>
                    </a:lnL>
                    <a:lnR w="12700" cap="flat" cmpd="sng" algn="ctr">
                      <a:solidFill>
                        <a:schemeClr val="tx1"/>
                      </a:solidFill>
                      <a:prstDash val="sysDot"/>
                      <a:round/>
                      <a:headEnd type="none" w="med" len="med"/>
                      <a:tailEnd type="none" w="med" len="med"/>
                    </a:lnR>
                    <a:lnT w="6350" cap="flat" cmpd="sng" algn="ctr">
                      <a:solidFill>
                        <a:schemeClr val="tx1"/>
                      </a:solidFill>
                      <a:prstDash val="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4120549189"/>
                  </a:ext>
                </a:extLst>
              </a:tr>
            </a:tbl>
          </a:graphicData>
        </a:graphic>
      </p:graphicFrame>
      <p:sp>
        <p:nvSpPr>
          <p:cNvPr id="8" name="四角形: 角を丸くする 7">
            <a:extLst>
              <a:ext uri="{FF2B5EF4-FFF2-40B4-BE49-F238E27FC236}">
                <a16:creationId xmlns:a16="http://schemas.microsoft.com/office/drawing/2014/main" id="{6B6638FE-B306-FEED-16BF-CB7432BFFCE6}"/>
              </a:ext>
            </a:extLst>
          </p:cNvPr>
          <p:cNvSpPr/>
          <p:nvPr/>
        </p:nvSpPr>
        <p:spPr>
          <a:xfrm>
            <a:off x="2473452" y="2439970"/>
            <a:ext cx="690372" cy="325215"/>
          </a:xfrm>
          <a:prstGeom prst="roundRect">
            <a:avLst/>
          </a:prstGeom>
          <a:solidFill>
            <a:schemeClr val="accent1">
              <a:lumMod val="20000"/>
              <a:lumOff val="80000"/>
            </a:schemeClr>
          </a:solidFill>
          <a:ln>
            <a:solidFill>
              <a:schemeClr val="tx2">
                <a:lumMod val="10000"/>
                <a:lumOff val="90000"/>
              </a:schemeClr>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ja-JP" altLang="en-US" b="1" dirty="0"/>
              <a:t>売上</a:t>
            </a:r>
          </a:p>
        </p:txBody>
      </p:sp>
      <p:sp>
        <p:nvSpPr>
          <p:cNvPr id="9" name="四角形: 角を丸くする 8">
            <a:extLst>
              <a:ext uri="{FF2B5EF4-FFF2-40B4-BE49-F238E27FC236}">
                <a16:creationId xmlns:a16="http://schemas.microsoft.com/office/drawing/2014/main" id="{A2847E6F-6CDA-75BF-9C92-9B0D18804181}"/>
              </a:ext>
            </a:extLst>
          </p:cNvPr>
          <p:cNvSpPr/>
          <p:nvPr/>
        </p:nvSpPr>
        <p:spPr>
          <a:xfrm>
            <a:off x="2473452" y="2832108"/>
            <a:ext cx="908304" cy="325216"/>
          </a:xfrm>
          <a:prstGeom prst="roundRect">
            <a:avLst/>
          </a:prstGeom>
          <a:solidFill>
            <a:schemeClr val="accent1">
              <a:lumMod val="20000"/>
              <a:lumOff val="80000"/>
            </a:schemeClr>
          </a:solidFill>
          <a:ln>
            <a:solidFill>
              <a:schemeClr val="tx2">
                <a:lumMod val="10000"/>
                <a:lumOff val="90000"/>
              </a:schemeClr>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b="1" dirty="0"/>
              <a:t>在庫数</a:t>
            </a:r>
            <a:endParaRPr lang="en-US" altLang="zh-CN" b="1" dirty="0"/>
          </a:p>
        </p:txBody>
      </p:sp>
      <p:sp>
        <p:nvSpPr>
          <p:cNvPr id="14" name="四角形: 角を丸くする 13">
            <a:extLst>
              <a:ext uri="{FF2B5EF4-FFF2-40B4-BE49-F238E27FC236}">
                <a16:creationId xmlns:a16="http://schemas.microsoft.com/office/drawing/2014/main" id="{39530A71-E75B-6215-0550-85507B1D3273}"/>
              </a:ext>
            </a:extLst>
          </p:cNvPr>
          <p:cNvSpPr/>
          <p:nvPr/>
        </p:nvSpPr>
        <p:spPr>
          <a:xfrm>
            <a:off x="2473452" y="5205506"/>
            <a:ext cx="1211580" cy="569361"/>
          </a:xfrm>
          <a:prstGeom prst="roundRect">
            <a:avLst/>
          </a:prstGeom>
          <a:solidFill>
            <a:schemeClr val="accent6">
              <a:lumMod val="20000"/>
              <a:lumOff val="80000"/>
            </a:schemeClr>
          </a:solidFill>
          <a:ln>
            <a:solidFill>
              <a:schemeClr val="tx2">
                <a:lumMod val="10000"/>
                <a:lumOff val="90000"/>
              </a:schemeClr>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r>
              <a:rPr lang="ja-JP" altLang="en-US" b="1" dirty="0">
                <a:latin typeface="DengXian" panose="02010600030101010101" pitchFamily="2" charset="-122"/>
                <a:ea typeface="DengXian" panose="02010600030101010101" pitchFamily="2" charset="-122"/>
              </a:rPr>
              <a:t>広告ラグ</a:t>
            </a:r>
            <a:endParaRPr lang="en-US" altLang="ja-JP" b="1" dirty="0">
              <a:latin typeface="DengXian" panose="02010600030101010101" pitchFamily="2" charset="-122"/>
              <a:ea typeface="DengXian" panose="02010600030101010101" pitchFamily="2" charset="-122"/>
            </a:endParaRPr>
          </a:p>
          <a:p>
            <a:r>
              <a:rPr lang="en-US" altLang="ja-JP" sz="1400" b="1" dirty="0">
                <a:latin typeface="DengXian" panose="02010600030101010101" pitchFamily="2" charset="-122"/>
                <a:ea typeface="DengXian" panose="02010600030101010101" pitchFamily="2" charset="-122"/>
              </a:rPr>
              <a:t>(lag1-3)</a:t>
            </a:r>
            <a:endParaRPr lang="ja-JP" altLang="en-US" sz="1400" dirty="0"/>
          </a:p>
        </p:txBody>
      </p:sp>
      <p:sp>
        <p:nvSpPr>
          <p:cNvPr id="15" name="四角形: 角を丸くする 14">
            <a:extLst>
              <a:ext uri="{FF2B5EF4-FFF2-40B4-BE49-F238E27FC236}">
                <a16:creationId xmlns:a16="http://schemas.microsoft.com/office/drawing/2014/main" id="{0A80A59B-9B28-3E65-5E36-9F1FE6E8E629}"/>
              </a:ext>
            </a:extLst>
          </p:cNvPr>
          <p:cNvSpPr/>
          <p:nvPr/>
        </p:nvSpPr>
        <p:spPr>
          <a:xfrm>
            <a:off x="2454785" y="5837060"/>
            <a:ext cx="1211580" cy="569362"/>
          </a:xfrm>
          <a:prstGeom prst="roundRect">
            <a:avLst/>
          </a:prstGeom>
          <a:solidFill>
            <a:schemeClr val="accent6">
              <a:lumMod val="20000"/>
              <a:lumOff val="80000"/>
            </a:schemeClr>
          </a:solidFill>
          <a:ln>
            <a:solidFill>
              <a:schemeClr val="tx2">
                <a:lumMod val="10000"/>
                <a:lumOff val="90000"/>
              </a:schemeClr>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r>
              <a:rPr lang="en-US" altLang="ja-JP" b="1" dirty="0">
                <a:latin typeface="DengXian" panose="02010600030101010101" pitchFamily="2" charset="-122"/>
                <a:ea typeface="DengXian" panose="02010600030101010101" pitchFamily="2" charset="-122"/>
              </a:rPr>
              <a:t>BERT</a:t>
            </a:r>
          </a:p>
          <a:p>
            <a:r>
              <a:rPr lang="ja-JP" altLang="en-US" b="1" dirty="0">
                <a:latin typeface="DengXian" panose="02010600030101010101" pitchFamily="2" charset="-122"/>
                <a:ea typeface="DengXian" panose="02010600030101010101" pitchFamily="2" charset="-122"/>
              </a:rPr>
              <a:t>ベクトル</a:t>
            </a:r>
            <a:endParaRPr lang="ja-JP" altLang="en-US" sz="1400" dirty="0">
              <a:latin typeface="DengXian" panose="02010600030101010101" pitchFamily="2" charset="-122"/>
              <a:ea typeface="DengXian" panose="02010600030101010101" pitchFamily="2" charset="-122"/>
            </a:endParaRPr>
          </a:p>
        </p:txBody>
      </p:sp>
      <p:pic>
        <p:nvPicPr>
          <p:cNvPr id="17" name="図 16" descr="グラフ&#10;&#10;AI 生成コンテンツは誤りを含む可能性があります。">
            <a:extLst>
              <a:ext uri="{FF2B5EF4-FFF2-40B4-BE49-F238E27FC236}">
                <a16:creationId xmlns:a16="http://schemas.microsoft.com/office/drawing/2014/main" id="{25AA411A-D455-43C1-36EC-70BAF0E395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4922" y="1096420"/>
            <a:ext cx="5662396" cy="4389129"/>
          </a:xfrm>
          <a:prstGeom prst="rect">
            <a:avLst/>
          </a:prstGeom>
        </p:spPr>
      </p:pic>
      <p:sp>
        <p:nvSpPr>
          <p:cNvPr id="18" name="四角形: 角を丸くする 17">
            <a:extLst>
              <a:ext uri="{FF2B5EF4-FFF2-40B4-BE49-F238E27FC236}">
                <a16:creationId xmlns:a16="http://schemas.microsoft.com/office/drawing/2014/main" id="{C798AA03-7E65-107C-DB03-A10229604908}"/>
              </a:ext>
            </a:extLst>
          </p:cNvPr>
          <p:cNvSpPr/>
          <p:nvPr/>
        </p:nvSpPr>
        <p:spPr>
          <a:xfrm>
            <a:off x="2473452" y="2047036"/>
            <a:ext cx="690372" cy="325215"/>
          </a:xfrm>
          <a:prstGeom prst="roundRect">
            <a:avLst/>
          </a:prstGeom>
          <a:solidFill>
            <a:schemeClr val="accent1">
              <a:lumMod val="20000"/>
              <a:lumOff val="80000"/>
            </a:schemeClr>
          </a:solidFill>
          <a:ln>
            <a:solidFill>
              <a:schemeClr val="tx2">
                <a:lumMod val="10000"/>
                <a:lumOff val="90000"/>
              </a:schemeClr>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ja-JP" altLang="en-US" b="1" dirty="0"/>
              <a:t>売上</a:t>
            </a:r>
          </a:p>
        </p:txBody>
      </p:sp>
      <p:sp>
        <p:nvSpPr>
          <p:cNvPr id="19" name="四角形: 角を丸くする 18">
            <a:extLst>
              <a:ext uri="{FF2B5EF4-FFF2-40B4-BE49-F238E27FC236}">
                <a16:creationId xmlns:a16="http://schemas.microsoft.com/office/drawing/2014/main" id="{4DBF7786-83FB-1BAC-5EFD-C8245A22D438}"/>
              </a:ext>
            </a:extLst>
          </p:cNvPr>
          <p:cNvSpPr/>
          <p:nvPr/>
        </p:nvSpPr>
        <p:spPr>
          <a:xfrm>
            <a:off x="2473452" y="2439174"/>
            <a:ext cx="908304" cy="325216"/>
          </a:xfrm>
          <a:prstGeom prst="roundRect">
            <a:avLst/>
          </a:prstGeom>
          <a:solidFill>
            <a:schemeClr val="accent1">
              <a:lumMod val="20000"/>
              <a:lumOff val="80000"/>
            </a:schemeClr>
          </a:solidFill>
          <a:ln>
            <a:solidFill>
              <a:schemeClr val="tx2">
                <a:lumMod val="10000"/>
                <a:lumOff val="90000"/>
              </a:schemeClr>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b="1" dirty="0"/>
              <a:t>在庫数</a:t>
            </a:r>
            <a:endParaRPr lang="en-US" altLang="zh-CN" b="1" dirty="0"/>
          </a:p>
        </p:txBody>
      </p:sp>
      <p:sp>
        <p:nvSpPr>
          <p:cNvPr id="20" name="四角形: 角を丸くする 19">
            <a:extLst>
              <a:ext uri="{FF2B5EF4-FFF2-40B4-BE49-F238E27FC236}">
                <a16:creationId xmlns:a16="http://schemas.microsoft.com/office/drawing/2014/main" id="{A4B21811-DF19-8E95-8911-E8C10F09DC63}"/>
              </a:ext>
            </a:extLst>
          </p:cNvPr>
          <p:cNvSpPr/>
          <p:nvPr/>
        </p:nvSpPr>
        <p:spPr>
          <a:xfrm>
            <a:off x="2473452" y="2831313"/>
            <a:ext cx="1357884" cy="325216"/>
          </a:xfrm>
          <a:prstGeom prst="roundRect">
            <a:avLst/>
          </a:prstGeom>
          <a:solidFill>
            <a:schemeClr val="accent1">
              <a:lumMod val="20000"/>
              <a:lumOff val="80000"/>
            </a:schemeClr>
          </a:solidFill>
          <a:ln>
            <a:solidFill>
              <a:schemeClr val="tx2">
                <a:lumMod val="10000"/>
                <a:lumOff val="90000"/>
              </a:schemeClr>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pPr algn="ctr"/>
            <a:r>
              <a:rPr lang="ja-JP" altLang="en-US" b="1" dirty="0"/>
              <a:t>納入予定数</a:t>
            </a:r>
            <a:endParaRPr kumimoji="1" lang="ja-JP" altLang="en-US" b="1" dirty="0"/>
          </a:p>
        </p:txBody>
      </p:sp>
      <p:sp>
        <p:nvSpPr>
          <p:cNvPr id="21" name="四角形: 角を丸くする 20">
            <a:extLst>
              <a:ext uri="{FF2B5EF4-FFF2-40B4-BE49-F238E27FC236}">
                <a16:creationId xmlns:a16="http://schemas.microsoft.com/office/drawing/2014/main" id="{0AE2AE65-9E11-323A-45DC-831D84A42C69}"/>
              </a:ext>
            </a:extLst>
          </p:cNvPr>
          <p:cNvSpPr/>
          <p:nvPr/>
        </p:nvSpPr>
        <p:spPr>
          <a:xfrm>
            <a:off x="2491742" y="3463662"/>
            <a:ext cx="1137666" cy="325216"/>
          </a:xfrm>
          <a:prstGeom prst="roundRect">
            <a:avLst/>
          </a:prstGeom>
          <a:solidFill>
            <a:schemeClr val="accent2">
              <a:lumMod val="20000"/>
              <a:lumOff val="80000"/>
            </a:schemeClr>
          </a:solidFill>
          <a:ln>
            <a:solidFill>
              <a:schemeClr val="tx2">
                <a:lumMod val="10000"/>
                <a:lumOff val="90000"/>
              </a:schemeClr>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r>
              <a:rPr lang="zh-CN" altLang="en-US" b="1" dirty="0"/>
              <a:t>平均気温</a:t>
            </a:r>
            <a:endParaRPr lang="en-US" altLang="zh-CN" b="1" dirty="0"/>
          </a:p>
        </p:txBody>
      </p:sp>
      <p:sp>
        <p:nvSpPr>
          <p:cNvPr id="22" name="四角形: 角を丸くする 21">
            <a:extLst>
              <a:ext uri="{FF2B5EF4-FFF2-40B4-BE49-F238E27FC236}">
                <a16:creationId xmlns:a16="http://schemas.microsoft.com/office/drawing/2014/main" id="{DECD7A4A-874C-1AF9-6813-F0819734662B}"/>
              </a:ext>
            </a:extLst>
          </p:cNvPr>
          <p:cNvSpPr/>
          <p:nvPr/>
        </p:nvSpPr>
        <p:spPr>
          <a:xfrm>
            <a:off x="2491742" y="3856596"/>
            <a:ext cx="901446" cy="326807"/>
          </a:xfrm>
          <a:prstGeom prst="roundRect">
            <a:avLst/>
          </a:prstGeom>
          <a:solidFill>
            <a:schemeClr val="accent2">
              <a:lumMod val="20000"/>
              <a:lumOff val="80000"/>
            </a:schemeClr>
          </a:solidFill>
          <a:ln>
            <a:solidFill>
              <a:schemeClr val="tx2">
                <a:lumMod val="10000"/>
                <a:lumOff val="90000"/>
              </a:schemeClr>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r>
              <a:rPr lang="zh-CN" altLang="en-US" b="1" dirty="0"/>
              <a:t>降水量</a:t>
            </a:r>
            <a:endParaRPr lang="en-US" altLang="zh-CN" b="1" dirty="0"/>
          </a:p>
        </p:txBody>
      </p:sp>
      <p:sp>
        <p:nvSpPr>
          <p:cNvPr id="23" name="四角形: 角を丸くする 22">
            <a:extLst>
              <a:ext uri="{FF2B5EF4-FFF2-40B4-BE49-F238E27FC236}">
                <a16:creationId xmlns:a16="http://schemas.microsoft.com/office/drawing/2014/main" id="{C54B7BA4-2EFD-AEB5-6C4C-E04E8A31F00F}"/>
              </a:ext>
            </a:extLst>
          </p:cNvPr>
          <p:cNvSpPr/>
          <p:nvPr/>
        </p:nvSpPr>
        <p:spPr>
          <a:xfrm>
            <a:off x="2491742" y="4251121"/>
            <a:ext cx="690372" cy="325216"/>
          </a:xfrm>
          <a:prstGeom prst="roundRect">
            <a:avLst/>
          </a:prstGeom>
          <a:solidFill>
            <a:schemeClr val="accent2">
              <a:lumMod val="20000"/>
              <a:lumOff val="80000"/>
            </a:schemeClr>
          </a:solidFill>
          <a:ln>
            <a:solidFill>
              <a:schemeClr val="tx2">
                <a:lumMod val="10000"/>
                <a:lumOff val="90000"/>
              </a:schemeClr>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rtlCol="0" anchor="ctr"/>
          <a:lstStyle/>
          <a:p>
            <a:r>
              <a:rPr lang="zh-CN" altLang="en-US" b="1" dirty="0"/>
              <a:t>湿度</a:t>
            </a:r>
            <a:endParaRPr lang="ja-JP" altLang="en-US" sz="1400" dirty="0"/>
          </a:p>
        </p:txBody>
      </p:sp>
      <p:sp>
        <p:nvSpPr>
          <p:cNvPr id="24" name="正方形/長方形 23">
            <a:extLst>
              <a:ext uri="{FF2B5EF4-FFF2-40B4-BE49-F238E27FC236}">
                <a16:creationId xmlns:a16="http://schemas.microsoft.com/office/drawing/2014/main" id="{E9B51E6E-9233-1A5F-3417-633EF9E524D3}"/>
              </a:ext>
            </a:extLst>
          </p:cNvPr>
          <p:cNvSpPr/>
          <p:nvPr/>
        </p:nvSpPr>
        <p:spPr>
          <a:xfrm>
            <a:off x="6725094" y="5370294"/>
            <a:ext cx="4800600" cy="1122580"/>
          </a:xfrm>
          <a:prstGeom prst="rect">
            <a:avLst/>
          </a:prstGeom>
          <a:ln>
            <a:solidFill>
              <a:schemeClr val="tx2">
                <a:lumMod val="10000"/>
                <a:lumOff val="90000"/>
              </a:schemeClr>
            </a:solidFill>
          </a:ln>
        </p:spPr>
        <p:style>
          <a:lnRef idx="2">
            <a:schemeClr val="dk1"/>
          </a:lnRef>
          <a:fillRef idx="1">
            <a:schemeClr val="lt1"/>
          </a:fillRef>
          <a:effectRef idx="0">
            <a:schemeClr val="dk1"/>
          </a:effectRef>
          <a:fontRef idx="minor">
            <a:schemeClr val="dk1"/>
          </a:fontRef>
        </p:style>
        <p:txBody>
          <a:bodyPr rtlCol="0" anchor="ctr"/>
          <a:lstStyle/>
          <a:p>
            <a:r>
              <a:rPr lang="ja-JP" altLang="en-US" sz="1400" b="1" dirty="0"/>
              <a:t>データの特性分析</a:t>
            </a:r>
            <a:r>
              <a:rPr lang="en-US" altLang="ja-JP" sz="1400" b="1" dirty="0"/>
              <a:t>:</a:t>
            </a:r>
          </a:p>
          <a:p>
            <a:r>
              <a:rPr lang="ja-JP" altLang="en-US" sz="1400" dirty="0"/>
              <a:t>広告対象となった商品は一時的に需要が数倍に膨れ上がる非線形な挙動を示す。このスパイクを予測できるかが鍵となる。</a:t>
            </a:r>
          </a:p>
        </p:txBody>
      </p:sp>
      <p:sp>
        <p:nvSpPr>
          <p:cNvPr id="25" name="四角形: 角を丸くする 24">
            <a:extLst>
              <a:ext uri="{FF2B5EF4-FFF2-40B4-BE49-F238E27FC236}">
                <a16:creationId xmlns:a16="http://schemas.microsoft.com/office/drawing/2014/main" id="{F9509561-2E3D-F751-DB4D-42A04A0541C2}"/>
              </a:ext>
            </a:extLst>
          </p:cNvPr>
          <p:cNvSpPr/>
          <p:nvPr/>
        </p:nvSpPr>
        <p:spPr>
          <a:xfrm>
            <a:off x="9092187" y="1853391"/>
            <a:ext cx="3047992" cy="2355689"/>
          </a:xfrm>
          <a:prstGeom prst="roundRect">
            <a:avLst/>
          </a:prstGeom>
          <a:ln/>
        </p:spPr>
        <p:style>
          <a:lnRef idx="2">
            <a:schemeClr val="accent4"/>
          </a:lnRef>
          <a:fillRef idx="1">
            <a:schemeClr val="lt1"/>
          </a:fillRef>
          <a:effectRef idx="0">
            <a:schemeClr val="accent4"/>
          </a:effectRef>
          <a:fontRef idx="minor">
            <a:schemeClr val="dk1"/>
          </a:fontRef>
        </p:style>
        <p:txBody>
          <a:bodyPr rtlCol="0" anchor="ctr"/>
          <a:lstStyle/>
          <a:p>
            <a:r>
              <a:rPr lang="ja-JP" altLang="en-US" b="1" dirty="0"/>
              <a:t>需要スパイク発生</a:t>
            </a:r>
          </a:p>
          <a:p>
            <a:r>
              <a:rPr lang="en-US" altLang="ja-JP" dirty="0"/>
              <a:t>TV</a:t>
            </a:r>
            <a:r>
              <a:rPr lang="ja-JP" altLang="en-US" dirty="0"/>
              <a:t>放映直後から数日</a:t>
            </a:r>
            <a:r>
              <a:rPr lang="en-US" altLang="ja-JP" dirty="0"/>
              <a:t>〜</a:t>
            </a:r>
            <a:r>
              <a:rPr lang="ja-JP" altLang="en-US" dirty="0"/>
              <a:t>数週間にわたり、特定商品（バターチキン等）の需要が急増。</a:t>
            </a:r>
            <a:br>
              <a:rPr lang="ja-JP" altLang="en-US" dirty="0"/>
            </a:br>
            <a:r>
              <a:rPr lang="ja-JP" altLang="en-US" b="1" dirty="0"/>
              <a:t>→指名買い</a:t>
            </a:r>
            <a:r>
              <a:rPr lang="ja-JP" altLang="en-US" dirty="0"/>
              <a:t>と</a:t>
            </a:r>
            <a:r>
              <a:rPr lang="ja-JP" altLang="en-US" b="1" dirty="0"/>
              <a:t>認知</a:t>
            </a:r>
            <a:r>
              <a:rPr lang="ja-JP" altLang="en-US" dirty="0"/>
              <a:t>の効果</a:t>
            </a:r>
          </a:p>
        </p:txBody>
      </p:sp>
      <p:cxnSp>
        <p:nvCxnSpPr>
          <p:cNvPr id="27" name="直線コネクタ 26">
            <a:extLst>
              <a:ext uri="{FF2B5EF4-FFF2-40B4-BE49-F238E27FC236}">
                <a16:creationId xmlns:a16="http://schemas.microsoft.com/office/drawing/2014/main" id="{4399BD7D-D9AB-55D8-1493-6BE2DBC1BB67}"/>
              </a:ext>
            </a:extLst>
          </p:cNvPr>
          <p:cNvCxnSpPr>
            <a:cxnSpLocks/>
          </p:cNvCxnSpPr>
          <p:nvPr/>
        </p:nvCxnSpPr>
        <p:spPr>
          <a:xfrm>
            <a:off x="9125394" y="2130551"/>
            <a:ext cx="0" cy="1801368"/>
          </a:xfrm>
          <a:prstGeom prst="line">
            <a:avLst/>
          </a:prstGeom>
          <a:ln w="76200"/>
        </p:spPr>
        <p:style>
          <a:lnRef idx="3">
            <a:schemeClr val="accent4"/>
          </a:lnRef>
          <a:fillRef idx="0">
            <a:schemeClr val="accent4"/>
          </a:fillRef>
          <a:effectRef idx="2">
            <a:schemeClr val="accent4"/>
          </a:effectRef>
          <a:fontRef idx="minor">
            <a:schemeClr val="tx1"/>
          </a:fontRef>
        </p:style>
      </p:cxnSp>
      <p:pic>
        <p:nvPicPr>
          <p:cNvPr id="4" name="グラフィックス 3" descr="ショッピング カート 単色塗りつぶし">
            <a:extLst>
              <a:ext uri="{FF2B5EF4-FFF2-40B4-BE49-F238E27FC236}">
                <a16:creationId xmlns:a16="http://schemas.microsoft.com/office/drawing/2014/main" id="{43B193DD-ADB9-EB25-C1DA-626F94EB10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22095" y="2516135"/>
            <a:ext cx="908304" cy="908304"/>
          </a:xfrm>
          <a:prstGeom prst="rect">
            <a:avLst/>
          </a:prstGeom>
        </p:spPr>
      </p:pic>
      <p:pic>
        <p:nvPicPr>
          <p:cNvPr id="6" name="グラフィックス 5" descr="晴れ時々曇り 単色塗りつぶし">
            <a:extLst>
              <a:ext uri="{FF2B5EF4-FFF2-40B4-BE49-F238E27FC236}">
                <a16:creationId xmlns:a16="http://schemas.microsoft.com/office/drawing/2014/main" id="{C140D39B-26C7-0D68-03C6-48BC1430024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22095" y="4251121"/>
            <a:ext cx="914400" cy="914400"/>
          </a:xfrm>
          <a:prstGeom prst="rect">
            <a:avLst/>
          </a:prstGeom>
        </p:spPr>
      </p:pic>
      <p:pic>
        <p:nvPicPr>
          <p:cNvPr id="13" name="グラフィックス 12" descr="歯車 単色塗りつぶし">
            <a:extLst>
              <a:ext uri="{FF2B5EF4-FFF2-40B4-BE49-F238E27FC236}">
                <a16:creationId xmlns:a16="http://schemas.microsoft.com/office/drawing/2014/main" id="{9E82564D-073A-E65E-0D1B-4137D8A40AE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22095" y="5693729"/>
            <a:ext cx="914400" cy="914400"/>
          </a:xfrm>
          <a:prstGeom prst="rect">
            <a:avLst/>
          </a:prstGeom>
        </p:spPr>
      </p:pic>
      <p:cxnSp>
        <p:nvCxnSpPr>
          <p:cNvPr id="3" name="直線コネクタ 2">
            <a:extLst>
              <a:ext uri="{FF2B5EF4-FFF2-40B4-BE49-F238E27FC236}">
                <a16:creationId xmlns:a16="http://schemas.microsoft.com/office/drawing/2014/main" id="{23058F56-D0F6-A253-D305-2BB974E3494A}"/>
              </a:ext>
            </a:extLst>
          </p:cNvPr>
          <p:cNvCxnSpPr/>
          <p:nvPr/>
        </p:nvCxnSpPr>
        <p:spPr>
          <a:xfrm>
            <a:off x="839788" y="365125"/>
            <a:ext cx="0" cy="677291"/>
          </a:xfrm>
          <a:prstGeom prst="line">
            <a:avLst/>
          </a:prstGeom>
          <a:ln w="762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5" name="直線コネクタ 4">
            <a:extLst>
              <a:ext uri="{FF2B5EF4-FFF2-40B4-BE49-F238E27FC236}">
                <a16:creationId xmlns:a16="http://schemas.microsoft.com/office/drawing/2014/main" id="{A8558538-437A-AB20-815A-79857CA258BE}"/>
              </a:ext>
            </a:extLst>
          </p:cNvPr>
          <p:cNvCxnSpPr/>
          <p:nvPr/>
        </p:nvCxnSpPr>
        <p:spPr>
          <a:xfrm>
            <a:off x="0" y="0"/>
            <a:ext cx="12192000" cy="0"/>
          </a:xfrm>
          <a:prstGeom prst="line">
            <a:avLst/>
          </a:prstGeom>
          <a:ln w="762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989203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フローチャート: 代替処理 22">
            <a:extLst>
              <a:ext uri="{FF2B5EF4-FFF2-40B4-BE49-F238E27FC236}">
                <a16:creationId xmlns:a16="http://schemas.microsoft.com/office/drawing/2014/main" id="{B35F1947-5174-BCD9-7FAC-9D2A93518A71}"/>
              </a:ext>
            </a:extLst>
          </p:cNvPr>
          <p:cNvSpPr/>
          <p:nvPr/>
        </p:nvSpPr>
        <p:spPr>
          <a:xfrm>
            <a:off x="6134100" y="1557867"/>
            <a:ext cx="5931408" cy="6585105"/>
          </a:xfrm>
          <a:prstGeom prst="flowChartAlternateProcess">
            <a:avLst/>
          </a:prstGeom>
          <a:ln>
            <a:solidFill>
              <a:schemeClr val="bg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4CB57397-06A3-32A3-7E6E-037FDA010365}"/>
              </a:ext>
            </a:extLst>
          </p:cNvPr>
          <p:cNvSpPr>
            <a:spLocks noGrp="1"/>
          </p:cNvSpPr>
          <p:nvPr>
            <p:ph type="title"/>
          </p:nvPr>
        </p:nvSpPr>
        <p:spPr/>
        <p:txBody>
          <a:bodyPr>
            <a:normAutofit/>
          </a:bodyPr>
          <a:lstStyle/>
          <a:p>
            <a:r>
              <a:rPr lang="ja-JP" altLang="en-US" b="1" dirty="0"/>
              <a:t>特徴量エンジニアリング</a:t>
            </a:r>
            <a:r>
              <a:rPr lang="en-US" altLang="ja-JP" b="1" dirty="0"/>
              <a:t>(PI</a:t>
            </a:r>
            <a:r>
              <a:rPr lang="ja-JP" altLang="en-US" b="1" dirty="0"/>
              <a:t>・</a:t>
            </a:r>
            <a:r>
              <a:rPr lang="en-US" altLang="ja-JP" b="1" dirty="0"/>
              <a:t>SHAP</a:t>
            </a:r>
            <a:r>
              <a:rPr lang="ja-JP" altLang="en-US" b="1" dirty="0"/>
              <a:t>分析</a:t>
            </a:r>
            <a:r>
              <a:rPr lang="en-US" altLang="ja-JP" b="1" dirty="0"/>
              <a:t>)</a:t>
            </a:r>
            <a:br>
              <a:rPr lang="en-US" altLang="ja-JP" b="1" dirty="0"/>
            </a:br>
            <a:endParaRPr kumimoji="1" lang="ja-JP" altLang="en-US" dirty="0"/>
          </a:p>
        </p:txBody>
      </p:sp>
      <p:sp>
        <p:nvSpPr>
          <p:cNvPr id="3" name="コンテンツ プレースホルダー 2">
            <a:extLst>
              <a:ext uri="{FF2B5EF4-FFF2-40B4-BE49-F238E27FC236}">
                <a16:creationId xmlns:a16="http://schemas.microsoft.com/office/drawing/2014/main" id="{A3F7A8B6-A28F-85D7-3339-6E726E457EA0}"/>
              </a:ext>
            </a:extLst>
          </p:cNvPr>
          <p:cNvSpPr>
            <a:spLocks noGrp="1"/>
          </p:cNvSpPr>
          <p:nvPr>
            <p:ph idx="1"/>
          </p:nvPr>
        </p:nvSpPr>
        <p:spPr>
          <a:xfrm>
            <a:off x="161544" y="1690688"/>
            <a:ext cx="5934456" cy="999871"/>
          </a:xfrm>
        </p:spPr>
        <p:txBody>
          <a:bodyPr>
            <a:normAutofit fontScale="92500" lnSpcReduction="20000"/>
          </a:bodyPr>
          <a:lstStyle/>
          <a:p>
            <a:pPr marL="0" indent="0">
              <a:buNone/>
            </a:pPr>
            <a:r>
              <a:rPr lang="ja-JP" altLang="en-US" b="1" dirty="0"/>
              <a:t>広告タイミングの寄与度評価</a:t>
            </a:r>
          </a:p>
          <a:p>
            <a:pPr marL="0" indent="0">
              <a:buNone/>
            </a:pPr>
            <a:r>
              <a:rPr lang="en-US" altLang="ja-JP" sz="1600" dirty="0"/>
              <a:t>Permutation Importance</a:t>
            </a:r>
            <a:r>
              <a:rPr lang="ja-JP" altLang="en-US" sz="1600" dirty="0"/>
              <a:t>（</a:t>
            </a:r>
            <a:r>
              <a:rPr lang="en-US" altLang="ja-JP" sz="1600" dirty="0"/>
              <a:t>PI</a:t>
            </a:r>
            <a:r>
              <a:rPr lang="ja-JP" altLang="en-US" sz="1600" dirty="0"/>
              <a:t>）および</a:t>
            </a:r>
            <a:r>
              <a:rPr lang="en-US" altLang="ja-JP" sz="1600" dirty="0"/>
              <a:t>SHAP</a:t>
            </a:r>
            <a:r>
              <a:rPr lang="ja-JP" altLang="en-US" sz="1600" dirty="0"/>
              <a:t>分析により、</a:t>
            </a:r>
            <a:endParaRPr lang="en-US" altLang="ja-JP" sz="1600" dirty="0"/>
          </a:p>
          <a:p>
            <a:pPr marL="0" indent="0">
              <a:buNone/>
            </a:pPr>
            <a:r>
              <a:rPr lang="ja-JP" altLang="en-US" sz="1600" dirty="0"/>
              <a:t>各ラグ変数の重要度を評価しました。</a:t>
            </a:r>
          </a:p>
          <a:p>
            <a:pPr marL="0" indent="0">
              <a:buNone/>
            </a:pPr>
            <a:endParaRPr kumimoji="1" lang="ja-JP" altLang="en-US" dirty="0"/>
          </a:p>
        </p:txBody>
      </p:sp>
      <p:sp>
        <p:nvSpPr>
          <p:cNvPr id="4" name="フローチャート: 代替処理 3">
            <a:extLst>
              <a:ext uri="{FF2B5EF4-FFF2-40B4-BE49-F238E27FC236}">
                <a16:creationId xmlns:a16="http://schemas.microsoft.com/office/drawing/2014/main" id="{BEC2DA9A-3ACA-7EFD-9173-83D8594DCA3A}"/>
              </a:ext>
            </a:extLst>
          </p:cNvPr>
          <p:cNvSpPr/>
          <p:nvPr/>
        </p:nvSpPr>
        <p:spPr>
          <a:xfrm>
            <a:off x="164592" y="2807208"/>
            <a:ext cx="5931408" cy="1755648"/>
          </a:xfrm>
          <a:prstGeom prst="flowChartAlternateProcess">
            <a:avLst/>
          </a:prstGeom>
          <a:solidFill>
            <a:srgbClr val="FFF3EB"/>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b="1" dirty="0">
                <a:solidFill>
                  <a:schemeClr val="tx1"/>
                </a:solidFill>
              </a:rPr>
              <a:t>3</a:t>
            </a:r>
            <a:r>
              <a:rPr lang="ja-JP" altLang="en-US" b="1" dirty="0">
                <a:solidFill>
                  <a:schemeClr val="tx1"/>
                </a:solidFill>
              </a:rPr>
              <a:t>週間前（</a:t>
            </a:r>
            <a:r>
              <a:rPr lang="en-US" altLang="ja-JP" b="1" dirty="0">
                <a:solidFill>
                  <a:schemeClr val="tx1"/>
                </a:solidFill>
              </a:rPr>
              <a:t>lag3</a:t>
            </a:r>
            <a:r>
              <a:rPr lang="ja-JP" altLang="en-US" b="1" dirty="0">
                <a:solidFill>
                  <a:schemeClr val="tx1"/>
                </a:solidFill>
              </a:rPr>
              <a:t>）の支配的影響</a:t>
            </a:r>
            <a:endParaRPr lang="en-US" altLang="ja-JP" b="1" dirty="0">
              <a:solidFill>
                <a:schemeClr val="tx1"/>
              </a:solidFill>
            </a:endParaRPr>
          </a:p>
          <a:p>
            <a:endParaRPr lang="ja-JP" altLang="en-US" b="1" dirty="0">
              <a:solidFill>
                <a:schemeClr val="tx1"/>
              </a:solidFill>
            </a:endParaRPr>
          </a:p>
          <a:p>
            <a:r>
              <a:rPr lang="ja-JP" altLang="en-US" dirty="0">
                <a:solidFill>
                  <a:schemeClr val="tx1"/>
                </a:solidFill>
              </a:rPr>
              <a:t>当日や直近よりも、「</a:t>
            </a:r>
            <a:r>
              <a:rPr lang="en-US" altLang="ja-JP" dirty="0">
                <a:solidFill>
                  <a:schemeClr val="tx1"/>
                </a:solidFill>
              </a:rPr>
              <a:t>3</a:t>
            </a:r>
            <a:r>
              <a:rPr lang="ja-JP" altLang="en-US" dirty="0">
                <a:solidFill>
                  <a:schemeClr val="tx1"/>
                </a:solidFill>
              </a:rPr>
              <a:t>週間前」の広告有無が売上予測に最も高い寄与度を持つことが判明。</a:t>
            </a:r>
          </a:p>
        </p:txBody>
      </p:sp>
      <p:sp>
        <p:nvSpPr>
          <p:cNvPr id="5" name="フローチャート: 代替処理 4">
            <a:extLst>
              <a:ext uri="{FF2B5EF4-FFF2-40B4-BE49-F238E27FC236}">
                <a16:creationId xmlns:a16="http://schemas.microsoft.com/office/drawing/2014/main" id="{DEEEC6B2-A782-9E67-FCAC-8C6495852D30}"/>
              </a:ext>
            </a:extLst>
          </p:cNvPr>
          <p:cNvSpPr/>
          <p:nvPr/>
        </p:nvSpPr>
        <p:spPr>
          <a:xfrm>
            <a:off x="161544" y="4715256"/>
            <a:ext cx="5931408" cy="1969008"/>
          </a:xfrm>
          <a:prstGeom prst="flowChartAlternateProcess">
            <a:avLst/>
          </a:prstGeom>
          <a:ln/>
        </p:spPr>
        <p:style>
          <a:lnRef idx="3">
            <a:schemeClr val="lt1"/>
          </a:lnRef>
          <a:fillRef idx="1">
            <a:schemeClr val="accent1"/>
          </a:fillRef>
          <a:effectRef idx="1">
            <a:schemeClr val="accent1"/>
          </a:effectRef>
          <a:fontRef idx="minor">
            <a:schemeClr val="lt1"/>
          </a:fontRef>
        </p:style>
        <p:txBody>
          <a:bodyPr rtlCol="0" anchor="ctr"/>
          <a:lstStyle/>
          <a:p>
            <a:endParaRPr lang="ja-JP" altLang="en-US" dirty="0">
              <a:solidFill>
                <a:schemeClr val="tx1"/>
              </a:solidFill>
            </a:endParaRPr>
          </a:p>
        </p:txBody>
      </p:sp>
      <p:sp>
        <p:nvSpPr>
          <p:cNvPr id="6" name="フローチャート: 代替処理 5">
            <a:extLst>
              <a:ext uri="{FF2B5EF4-FFF2-40B4-BE49-F238E27FC236}">
                <a16:creationId xmlns:a16="http://schemas.microsoft.com/office/drawing/2014/main" id="{974173F4-508B-A2C6-7398-8AF0768233A5}"/>
              </a:ext>
            </a:extLst>
          </p:cNvPr>
          <p:cNvSpPr/>
          <p:nvPr/>
        </p:nvSpPr>
        <p:spPr>
          <a:xfrm>
            <a:off x="249936" y="4737226"/>
            <a:ext cx="5843016" cy="1947037"/>
          </a:xfrm>
          <a:prstGeom prst="flowChartAlternateProcess">
            <a:avLst/>
          </a:prstGeom>
          <a:solidFill>
            <a:schemeClr val="accent1">
              <a:lumMod val="20000"/>
              <a:lumOff val="80000"/>
            </a:schemeClr>
          </a:solidFill>
          <a:ln>
            <a:solidFill>
              <a:schemeClr val="accent1">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r>
              <a:rPr lang="ja-JP" altLang="en-US" sz="2000" b="1" dirty="0">
                <a:solidFill>
                  <a:schemeClr val="tx1"/>
                </a:solidFill>
              </a:rPr>
              <a:t>解釈：消費者の行動プロセス</a:t>
            </a:r>
          </a:p>
          <a:p>
            <a:endParaRPr lang="en-US" altLang="ja-JP" sz="1600" b="1" dirty="0">
              <a:solidFill>
                <a:schemeClr val="tx1"/>
              </a:solidFill>
            </a:endParaRPr>
          </a:p>
          <a:p>
            <a:r>
              <a:rPr lang="ja-JP" altLang="en-US" sz="1600" b="1" dirty="0">
                <a:solidFill>
                  <a:schemeClr val="tx1"/>
                </a:solidFill>
              </a:rPr>
              <a:t>     認知・検討</a:t>
            </a:r>
            <a:r>
              <a:rPr lang="en-US" altLang="ja-JP" sz="1600" b="1" dirty="0">
                <a:solidFill>
                  <a:schemeClr val="tx1"/>
                </a:solidFill>
              </a:rPr>
              <a:t>:</a:t>
            </a:r>
            <a:r>
              <a:rPr lang="ja-JP" altLang="en-US" sz="1600" dirty="0">
                <a:solidFill>
                  <a:schemeClr val="tx1"/>
                </a:solidFill>
              </a:rPr>
              <a:t> </a:t>
            </a:r>
            <a:r>
              <a:rPr lang="en-US" altLang="ja-JP" sz="1600" dirty="0">
                <a:solidFill>
                  <a:schemeClr val="tx1"/>
                </a:solidFill>
              </a:rPr>
              <a:t>SNS/TV</a:t>
            </a:r>
            <a:r>
              <a:rPr lang="ja-JP" altLang="en-US" sz="1600" dirty="0">
                <a:solidFill>
                  <a:schemeClr val="tx1"/>
                </a:solidFill>
              </a:rPr>
              <a:t>で商品を認知</a:t>
            </a:r>
            <a:endParaRPr lang="en-US" altLang="ja-JP" sz="1600" dirty="0">
              <a:solidFill>
                <a:schemeClr val="tx1"/>
              </a:solidFill>
            </a:endParaRPr>
          </a:p>
          <a:p>
            <a:endParaRPr lang="ja-JP" altLang="en-US" sz="1600" dirty="0">
              <a:solidFill>
                <a:schemeClr val="tx1"/>
              </a:solidFill>
            </a:endParaRPr>
          </a:p>
          <a:p>
            <a:r>
              <a:rPr lang="ja-JP" altLang="en-US" sz="1600" b="1" dirty="0">
                <a:solidFill>
                  <a:schemeClr val="tx1"/>
                </a:solidFill>
              </a:rPr>
              <a:t>     タイムラグ</a:t>
            </a:r>
            <a:r>
              <a:rPr lang="en-US" altLang="ja-JP" sz="1600" b="1" dirty="0">
                <a:solidFill>
                  <a:schemeClr val="tx1"/>
                </a:solidFill>
              </a:rPr>
              <a:t>:</a:t>
            </a:r>
            <a:r>
              <a:rPr lang="ja-JP" altLang="en-US" sz="1600" dirty="0">
                <a:solidFill>
                  <a:schemeClr val="tx1"/>
                </a:solidFill>
              </a:rPr>
              <a:t> 次回来店までの期間</a:t>
            </a:r>
            <a:endParaRPr lang="en-US" altLang="ja-JP" sz="1600" dirty="0">
              <a:solidFill>
                <a:schemeClr val="tx1"/>
              </a:solidFill>
            </a:endParaRPr>
          </a:p>
          <a:p>
            <a:endParaRPr lang="ja-JP" altLang="en-US" sz="1600" dirty="0">
              <a:solidFill>
                <a:schemeClr val="tx1"/>
              </a:solidFill>
            </a:endParaRPr>
          </a:p>
          <a:p>
            <a:r>
              <a:rPr lang="ja-JP" altLang="en-US" sz="1600" b="1" dirty="0">
                <a:solidFill>
                  <a:schemeClr val="tx1"/>
                </a:solidFill>
              </a:rPr>
              <a:t>     購買行動</a:t>
            </a:r>
            <a:r>
              <a:rPr lang="en-US" altLang="ja-JP" sz="1600" b="1" dirty="0">
                <a:solidFill>
                  <a:schemeClr val="tx1"/>
                </a:solidFill>
              </a:rPr>
              <a:t>:</a:t>
            </a:r>
            <a:r>
              <a:rPr lang="ja-JP" altLang="en-US" sz="1600" dirty="0">
                <a:solidFill>
                  <a:schemeClr val="tx1"/>
                </a:solidFill>
              </a:rPr>
              <a:t> 約</a:t>
            </a:r>
            <a:r>
              <a:rPr lang="en-US" altLang="ja-JP" sz="1600" dirty="0">
                <a:solidFill>
                  <a:schemeClr val="tx1"/>
                </a:solidFill>
              </a:rPr>
              <a:t>3</a:t>
            </a:r>
            <a:r>
              <a:rPr lang="ja-JP" altLang="en-US" sz="1600" dirty="0">
                <a:solidFill>
                  <a:schemeClr val="tx1"/>
                </a:solidFill>
              </a:rPr>
              <a:t>週間後に実店舗で購入</a:t>
            </a:r>
          </a:p>
        </p:txBody>
      </p:sp>
      <p:graphicFrame>
        <p:nvGraphicFramePr>
          <p:cNvPr id="7" name="図表 6">
            <a:extLst>
              <a:ext uri="{FF2B5EF4-FFF2-40B4-BE49-F238E27FC236}">
                <a16:creationId xmlns:a16="http://schemas.microsoft.com/office/drawing/2014/main" id="{E82F7CFF-D087-0383-6CA5-5D6C0CC04B95}"/>
              </a:ext>
            </a:extLst>
          </p:cNvPr>
          <p:cNvGraphicFramePr/>
          <p:nvPr>
            <p:extLst>
              <p:ext uri="{D42A27DB-BD31-4B8C-83A1-F6EECF244321}">
                <p14:modId xmlns:p14="http://schemas.microsoft.com/office/powerpoint/2010/main" val="3007152573"/>
              </p:ext>
            </p:extLst>
          </p:nvPr>
        </p:nvGraphicFramePr>
        <p:xfrm>
          <a:off x="6198870" y="1690688"/>
          <a:ext cx="5801868" cy="15097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テキスト ボックス 7">
            <a:extLst>
              <a:ext uri="{FF2B5EF4-FFF2-40B4-BE49-F238E27FC236}">
                <a16:creationId xmlns:a16="http://schemas.microsoft.com/office/drawing/2014/main" id="{BF13EAA2-F664-6227-A59D-D84887A54249}"/>
              </a:ext>
            </a:extLst>
          </p:cNvPr>
          <p:cNvSpPr txBox="1"/>
          <p:nvPr/>
        </p:nvSpPr>
        <p:spPr>
          <a:xfrm>
            <a:off x="7505700" y="1777072"/>
            <a:ext cx="1320800" cy="430887"/>
          </a:xfrm>
          <a:prstGeom prst="rect">
            <a:avLst/>
          </a:prstGeom>
          <a:noFill/>
        </p:spPr>
        <p:txBody>
          <a:bodyPr wrap="square" rtlCol="0">
            <a:spAutoFit/>
          </a:bodyPr>
          <a:lstStyle/>
          <a:p>
            <a:pPr algn="ctr"/>
            <a:r>
              <a:rPr lang="en-US" altLang="ja-JP" sz="1100" dirty="0"/>
              <a:t>1</a:t>
            </a:r>
            <a:r>
              <a:rPr lang="ja-JP" altLang="en-US" sz="1100" dirty="0"/>
              <a:t>週間後</a:t>
            </a:r>
            <a:br>
              <a:rPr lang="ja-JP" altLang="en-US" sz="1100" dirty="0"/>
            </a:br>
            <a:r>
              <a:rPr lang="en-US" altLang="ja-JP" sz="1100" dirty="0"/>
              <a:t>(lag1)</a:t>
            </a:r>
            <a:endParaRPr kumimoji="1" lang="ja-JP" altLang="en-US" sz="1100" dirty="0"/>
          </a:p>
        </p:txBody>
      </p:sp>
      <p:sp>
        <p:nvSpPr>
          <p:cNvPr id="9" name="フローチャート: 結合子 8">
            <a:extLst>
              <a:ext uri="{FF2B5EF4-FFF2-40B4-BE49-F238E27FC236}">
                <a16:creationId xmlns:a16="http://schemas.microsoft.com/office/drawing/2014/main" id="{86F558FE-AD7A-C522-B38D-01BC86E71869}"/>
              </a:ext>
            </a:extLst>
          </p:cNvPr>
          <p:cNvSpPr/>
          <p:nvPr/>
        </p:nvSpPr>
        <p:spPr>
          <a:xfrm>
            <a:off x="6620932" y="2231031"/>
            <a:ext cx="423333" cy="429025"/>
          </a:xfrm>
          <a:prstGeom prst="flowChartConnector">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ja-JP" altLang="en-US" dirty="0"/>
          </a:p>
        </p:txBody>
      </p:sp>
      <p:sp>
        <p:nvSpPr>
          <p:cNvPr id="10" name="フローチャート: 結合子 9">
            <a:extLst>
              <a:ext uri="{FF2B5EF4-FFF2-40B4-BE49-F238E27FC236}">
                <a16:creationId xmlns:a16="http://schemas.microsoft.com/office/drawing/2014/main" id="{C74BEB93-BA89-3DF8-89D5-07E318D69461}"/>
              </a:ext>
            </a:extLst>
          </p:cNvPr>
          <p:cNvSpPr/>
          <p:nvPr/>
        </p:nvSpPr>
        <p:spPr>
          <a:xfrm>
            <a:off x="10566399" y="2230099"/>
            <a:ext cx="423333" cy="430888"/>
          </a:xfrm>
          <a:prstGeom prst="flowChartConnector">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pic>
        <p:nvPicPr>
          <p:cNvPr id="22" name="図 21" descr="グラフ&#10;&#10;AI 生成コンテンツは誤りを含む可能性があります。">
            <a:extLst>
              <a:ext uri="{FF2B5EF4-FFF2-40B4-BE49-F238E27FC236}">
                <a16:creationId xmlns:a16="http://schemas.microsoft.com/office/drawing/2014/main" id="{B11C6EB6-1AF3-5C11-0712-0AD85F1DE13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198008" y="2690559"/>
            <a:ext cx="5428841" cy="3459981"/>
          </a:xfrm>
          <a:prstGeom prst="rect">
            <a:avLst/>
          </a:prstGeom>
        </p:spPr>
      </p:pic>
      <p:pic>
        <p:nvPicPr>
          <p:cNvPr id="18" name="図 17" descr="テーブル&#10;&#10;AI 生成コンテンツは誤りを含む可能性があります。">
            <a:extLst>
              <a:ext uri="{FF2B5EF4-FFF2-40B4-BE49-F238E27FC236}">
                <a16:creationId xmlns:a16="http://schemas.microsoft.com/office/drawing/2014/main" id="{9A568450-55BF-9477-2D43-379C35BD83E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724900" y="3629424"/>
            <a:ext cx="3211068" cy="2994321"/>
          </a:xfrm>
          <a:prstGeom prst="rect">
            <a:avLst/>
          </a:prstGeom>
        </p:spPr>
      </p:pic>
      <p:pic>
        <p:nvPicPr>
          <p:cNvPr id="25" name="グラフィックス 24" descr="メガホン 1 枠線">
            <a:extLst>
              <a:ext uri="{FF2B5EF4-FFF2-40B4-BE49-F238E27FC236}">
                <a16:creationId xmlns:a16="http://schemas.microsoft.com/office/drawing/2014/main" id="{5D4908E0-2F02-3A75-7C5A-FE44C336722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608734" y="2217354"/>
            <a:ext cx="447728" cy="447728"/>
          </a:xfrm>
          <a:prstGeom prst="rect">
            <a:avLst/>
          </a:prstGeom>
        </p:spPr>
      </p:pic>
      <p:pic>
        <p:nvPicPr>
          <p:cNvPr id="29" name="グラフィックス 28" descr="ロック 枠線">
            <a:extLst>
              <a:ext uri="{FF2B5EF4-FFF2-40B4-BE49-F238E27FC236}">
                <a16:creationId xmlns:a16="http://schemas.microsoft.com/office/drawing/2014/main" id="{F6F059B8-7776-C2A4-D08A-C4CD8E8ED56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579868" y="2240611"/>
            <a:ext cx="409864" cy="409864"/>
          </a:xfrm>
          <a:prstGeom prst="rect">
            <a:avLst/>
          </a:prstGeom>
        </p:spPr>
      </p:pic>
      <p:pic>
        <p:nvPicPr>
          <p:cNvPr id="12" name="グラフィックス 11" descr="ショッピング カート 単色塗りつぶし">
            <a:extLst>
              <a:ext uri="{FF2B5EF4-FFF2-40B4-BE49-F238E27FC236}">
                <a16:creationId xmlns:a16="http://schemas.microsoft.com/office/drawing/2014/main" id="{9AAFB6A7-CD56-1BC3-7602-4C922F62586B}"/>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65960" y="6275671"/>
            <a:ext cx="348073" cy="348073"/>
          </a:xfrm>
          <a:prstGeom prst="rect">
            <a:avLst/>
          </a:prstGeom>
        </p:spPr>
      </p:pic>
      <p:pic>
        <p:nvPicPr>
          <p:cNvPr id="16" name="グラフィックス 15" descr="クリップボード: 混合 単色塗りつぶし">
            <a:extLst>
              <a:ext uri="{FF2B5EF4-FFF2-40B4-BE49-F238E27FC236}">
                <a16:creationId xmlns:a16="http://schemas.microsoft.com/office/drawing/2014/main" id="{7E345382-F84F-B579-9C63-FD021BFBB8EC}"/>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65260" y="5801068"/>
            <a:ext cx="349472" cy="349472"/>
          </a:xfrm>
          <a:prstGeom prst="rect">
            <a:avLst/>
          </a:prstGeom>
        </p:spPr>
      </p:pic>
      <p:pic>
        <p:nvPicPr>
          <p:cNvPr id="19" name="グラフィックス 18" descr="名案 単色塗りつぶし">
            <a:extLst>
              <a:ext uri="{FF2B5EF4-FFF2-40B4-BE49-F238E27FC236}">
                <a16:creationId xmlns:a16="http://schemas.microsoft.com/office/drawing/2014/main" id="{D9E2D59D-BD86-F5C1-200B-648A00C25C57}"/>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365260" y="5327164"/>
            <a:ext cx="348773" cy="348773"/>
          </a:xfrm>
          <a:prstGeom prst="rect">
            <a:avLst/>
          </a:prstGeom>
        </p:spPr>
      </p:pic>
      <p:sp>
        <p:nvSpPr>
          <p:cNvPr id="20" name="テキスト ボックス 19">
            <a:extLst>
              <a:ext uri="{FF2B5EF4-FFF2-40B4-BE49-F238E27FC236}">
                <a16:creationId xmlns:a16="http://schemas.microsoft.com/office/drawing/2014/main" id="{A6AC6BBD-083B-C4FE-E30D-85AC515A9589}"/>
              </a:ext>
            </a:extLst>
          </p:cNvPr>
          <p:cNvSpPr txBox="1"/>
          <p:nvPr/>
        </p:nvSpPr>
        <p:spPr>
          <a:xfrm>
            <a:off x="6131052" y="6345709"/>
            <a:ext cx="4283483" cy="338554"/>
          </a:xfrm>
          <a:prstGeom prst="rect">
            <a:avLst/>
          </a:prstGeom>
          <a:noFill/>
        </p:spPr>
        <p:txBody>
          <a:bodyPr wrap="square" rtlCol="0">
            <a:spAutoFit/>
          </a:bodyPr>
          <a:lstStyle/>
          <a:p>
            <a:r>
              <a:rPr lang="ja-JP" altLang="en-US" sz="1600" b="1" dirty="0">
                <a:solidFill>
                  <a:srgbClr val="002060"/>
                </a:solidFill>
              </a:rPr>
              <a:t>      広告ラグ変数の重要度（</a:t>
            </a:r>
            <a:r>
              <a:rPr lang="en-US" altLang="ja-JP" sz="1600" b="1" dirty="0">
                <a:solidFill>
                  <a:srgbClr val="002060"/>
                </a:solidFill>
              </a:rPr>
              <a:t>PI</a:t>
            </a:r>
            <a:r>
              <a:rPr lang="ja-JP" altLang="en-US" sz="1600" b="1" dirty="0">
                <a:solidFill>
                  <a:srgbClr val="002060"/>
                </a:solidFill>
              </a:rPr>
              <a:t>・</a:t>
            </a:r>
            <a:r>
              <a:rPr lang="en-US" altLang="ja-JP" sz="1600" b="1" dirty="0">
                <a:solidFill>
                  <a:srgbClr val="002060"/>
                </a:solidFill>
              </a:rPr>
              <a:t>SHAP</a:t>
            </a:r>
            <a:r>
              <a:rPr lang="ja-JP" altLang="en-US" sz="1600" b="1" dirty="0">
                <a:solidFill>
                  <a:srgbClr val="002060"/>
                </a:solidFill>
              </a:rPr>
              <a:t>値）</a:t>
            </a:r>
          </a:p>
        </p:txBody>
      </p:sp>
      <p:pic>
        <p:nvPicPr>
          <p:cNvPr id="24" name="グラフィックス 23" descr="棒グラフ 単色塗りつぶし">
            <a:extLst>
              <a:ext uri="{FF2B5EF4-FFF2-40B4-BE49-F238E27FC236}">
                <a16:creationId xmlns:a16="http://schemas.microsoft.com/office/drawing/2014/main" id="{3E47BF31-1904-C9BD-B381-000BAB8E7A9E}"/>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rot="5400000" flipH="1">
            <a:off x="6208976" y="6329245"/>
            <a:ext cx="327260" cy="327260"/>
          </a:xfrm>
          <a:prstGeom prst="rect">
            <a:avLst/>
          </a:prstGeom>
        </p:spPr>
      </p:pic>
      <p:cxnSp>
        <p:nvCxnSpPr>
          <p:cNvPr id="11" name="直線コネクタ 10">
            <a:extLst>
              <a:ext uri="{FF2B5EF4-FFF2-40B4-BE49-F238E27FC236}">
                <a16:creationId xmlns:a16="http://schemas.microsoft.com/office/drawing/2014/main" id="{A066B426-0CD5-E3AC-1D62-64A0E0F84CD8}"/>
              </a:ext>
            </a:extLst>
          </p:cNvPr>
          <p:cNvCxnSpPr/>
          <p:nvPr/>
        </p:nvCxnSpPr>
        <p:spPr>
          <a:xfrm>
            <a:off x="839788" y="365125"/>
            <a:ext cx="0" cy="677291"/>
          </a:xfrm>
          <a:prstGeom prst="line">
            <a:avLst/>
          </a:prstGeom>
          <a:ln w="762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3" name="直線コネクタ 12">
            <a:extLst>
              <a:ext uri="{FF2B5EF4-FFF2-40B4-BE49-F238E27FC236}">
                <a16:creationId xmlns:a16="http://schemas.microsoft.com/office/drawing/2014/main" id="{F64F5233-71CC-81C4-C7C1-D598AB8C1983}"/>
              </a:ext>
            </a:extLst>
          </p:cNvPr>
          <p:cNvCxnSpPr/>
          <p:nvPr/>
        </p:nvCxnSpPr>
        <p:spPr>
          <a:xfrm>
            <a:off x="0" y="0"/>
            <a:ext cx="12192000" cy="0"/>
          </a:xfrm>
          <a:prstGeom prst="line">
            <a:avLst/>
          </a:prstGeom>
          <a:ln w="762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7017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フローチャート: 結合子 4">
            <a:extLst>
              <a:ext uri="{FF2B5EF4-FFF2-40B4-BE49-F238E27FC236}">
                <a16:creationId xmlns:a16="http://schemas.microsoft.com/office/drawing/2014/main" id="{D9BD06D3-795F-60CA-1289-B7CA0F1F33BC}"/>
              </a:ext>
            </a:extLst>
          </p:cNvPr>
          <p:cNvSpPr/>
          <p:nvPr/>
        </p:nvSpPr>
        <p:spPr>
          <a:xfrm>
            <a:off x="3143248" y="3212571"/>
            <a:ext cx="1172635" cy="1168400"/>
          </a:xfrm>
          <a:prstGeom prst="flowChartConnector">
            <a:avLst/>
          </a:prstGeom>
          <a:ln w="57150">
            <a:solidFill>
              <a:schemeClr val="bg2"/>
            </a:solidFill>
            <a:prstDash val="dash"/>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ja-JP" sz="2400" b="1" dirty="0">
                <a:solidFill>
                  <a:schemeClr val="bg2">
                    <a:lumMod val="90000"/>
                  </a:schemeClr>
                </a:solidFill>
              </a:rPr>
              <a:t>×</a:t>
            </a:r>
            <a:r>
              <a:rPr kumimoji="1" lang="ja-JP" altLang="en-US" sz="2400" b="1" dirty="0">
                <a:solidFill>
                  <a:schemeClr val="bg2">
                    <a:lumMod val="90000"/>
                  </a:schemeClr>
                </a:solidFill>
              </a:rPr>
              <a:t>５</a:t>
            </a:r>
            <a:endParaRPr kumimoji="1" lang="en-US" altLang="ja-JP" sz="2400" b="1" dirty="0">
              <a:solidFill>
                <a:schemeClr val="bg2">
                  <a:lumMod val="90000"/>
                </a:schemeClr>
              </a:solidFill>
            </a:endParaRPr>
          </a:p>
          <a:p>
            <a:pPr algn="ctr"/>
            <a:r>
              <a:rPr lang="en-US" altLang="ja-JP" b="1" dirty="0">
                <a:solidFill>
                  <a:schemeClr val="bg2">
                    <a:lumMod val="90000"/>
                  </a:schemeClr>
                </a:solidFill>
              </a:rPr>
              <a:t>Circle</a:t>
            </a:r>
            <a:endParaRPr kumimoji="1" lang="ja-JP" altLang="en-US" b="1" dirty="0">
              <a:solidFill>
                <a:schemeClr val="bg2">
                  <a:lumMod val="90000"/>
                </a:schemeClr>
              </a:solidFill>
            </a:endParaRPr>
          </a:p>
        </p:txBody>
      </p:sp>
      <p:graphicFrame>
        <p:nvGraphicFramePr>
          <p:cNvPr id="4" name="コンテンツ プレースホルダー 3">
            <a:extLst>
              <a:ext uri="{FF2B5EF4-FFF2-40B4-BE49-F238E27FC236}">
                <a16:creationId xmlns:a16="http://schemas.microsoft.com/office/drawing/2014/main" id="{3174FD42-A7CA-E309-295C-66F74E80DB58}"/>
              </a:ext>
            </a:extLst>
          </p:cNvPr>
          <p:cNvGraphicFramePr>
            <a:graphicFrameLocks noGrp="1"/>
          </p:cNvGraphicFramePr>
          <p:nvPr>
            <p:ph idx="1"/>
            <p:extLst>
              <p:ext uri="{D42A27DB-BD31-4B8C-83A1-F6EECF244321}">
                <p14:modId xmlns:p14="http://schemas.microsoft.com/office/powerpoint/2010/main" val="255269329"/>
              </p:ext>
            </p:extLst>
          </p:nvPr>
        </p:nvGraphicFramePr>
        <p:xfrm>
          <a:off x="838200" y="1100668"/>
          <a:ext cx="5782733" cy="53922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タイトル 1">
            <a:extLst>
              <a:ext uri="{FF2B5EF4-FFF2-40B4-BE49-F238E27FC236}">
                <a16:creationId xmlns:a16="http://schemas.microsoft.com/office/drawing/2014/main" id="{B9E1B05E-2A39-6515-65A1-745B9EBA073A}"/>
              </a:ext>
            </a:extLst>
          </p:cNvPr>
          <p:cNvSpPr>
            <a:spLocks noGrp="1"/>
          </p:cNvSpPr>
          <p:nvPr>
            <p:ph type="title"/>
          </p:nvPr>
        </p:nvSpPr>
        <p:spPr>
          <a:xfrm>
            <a:off x="838200" y="365126"/>
            <a:ext cx="10515600" cy="735542"/>
          </a:xfrm>
        </p:spPr>
        <p:txBody>
          <a:bodyPr/>
          <a:lstStyle/>
          <a:p>
            <a:r>
              <a:rPr lang="ja-JP" altLang="en-US" b="1" dirty="0"/>
              <a:t>反復的最適化プロセス</a:t>
            </a:r>
            <a:endParaRPr kumimoji="1" lang="ja-JP" altLang="en-US" dirty="0"/>
          </a:p>
        </p:txBody>
      </p:sp>
      <p:sp>
        <p:nvSpPr>
          <p:cNvPr id="6" name="フローチャート: 代替処理 5">
            <a:extLst>
              <a:ext uri="{FF2B5EF4-FFF2-40B4-BE49-F238E27FC236}">
                <a16:creationId xmlns:a16="http://schemas.microsoft.com/office/drawing/2014/main" id="{0AE2DDC8-6751-1C11-E5EB-A2D4C7337F24}"/>
              </a:ext>
            </a:extLst>
          </p:cNvPr>
          <p:cNvSpPr/>
          <p:nvPr/>
        </p:nvSpPr>
        <p:spPr>
          <a:xfrm>
            <a:off x="7433733" y="1100668"/>
            <a:ext cx="3920067" cy="5392206"/>
          </a:xfrm>
          <a:prstGeom prst="flowChartAlternateProcess">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ltLang="ja-JP" sz="2400" b="1" dirty="0"/>
          </a:p>
          <a:p>
            <a:endParaRPr lang="en-US" altLang="ja-JP" sz="2400" b="1" dirty="0"/>
          </a:p>
          <a:p>
            <a:r>
              <a:rPr lang="ja-JP" altLang="en-US" sz="2400" b="1" dirty="0"/>
              <a:t>最適化の成果</a:t>
            </a:r>
            <a:endParaRPr lang="en-US" altLang="ja-JP" sz="2400" b="1" dirty="0"/>
          </a:p>
          <a:p>
            <a:endParaRPr lang="en-US" altLang="ja-JP" b="1" dirty="0"/>
          </a:p>
          <a:p>
            <a:endParaRPr lang="ja-JP" altLang="en-US" b="1" dirty="0"/>
          </a:p>
          <a:p>
            <a:r>
              <a:rPr lang="en-US" altLang="ja-JP" b="1" cap="all" dirty="0"/>
              <a:t>Input</a:t>
            </a:r>
          </a:p>
          <a:p>
            <a:endParaRPr lang="en-US" altLang="ja-JP" b="1" cap="all" dirty="0"/>
          </a:p>
          <a:p>
            <a:r>
              <a:rPr lang="ja-JP" altLang="en-US" dirty="0"/>
              <a:t>       初期の膨大な変数群</a:t>
            </a:r>
            <a:endParaRPr lang="en-US" altLang="ja-JP" dirty="0"/>
          </a:p>
          <a:p>
            <a:endParaRPr lang="en-US" altLang="ja-JP" dirty="0"/>
          </a:p>
          <a:p>
            <a:endParaRPr lang="en-US" altLang="ja-JP" dirty="0"/>
          </a:p>
          <a:p>
            <a:endParaRPr lang="ja-JP" altLang="en-US" dirty="0"/>
          </a:p>
          <a:p>
            <a:r>
              <a:rPr lang="en-US" altLang="ja-JP" b="1" cap="all" dirty="0"/>
              <a:t>Output</a:t>
            </a:r>
          </a:p>
          <a:p>
            <a:r>
              <a:rPr lang="en-US" altLang="ja-JP" sz="3600" b="1" dirty="0"/>
              <a:t>    46</a:t>
            </a:r>
            <a:r>
              <a:rPr lang="en-US" altLang="ja-JP" b="1" dirty="0"/>
              <a:t> </a:t>
            </a:r>
            <a:r>
              <a:rPr lang="ja-JP" altLang="en-US" dirty="0"/>
              <a:t>特徴量</a:t>
            </a:r>
            <a:endParaRPr lang="ja-JP" altLang="en-US" b="1" dirty="0"/>
          </a:p>
          <a:p>
            <a:r>
              <a:rPr lang="ja-JP" altLang="en-US" sz="1200" dirty="0"/>
              <a:t>真に意味のある変数のみに研ぎ澄まされ、汎化性能が最大化されたモデル構造を獲得</a:t>
            </a:r>
            <a:r>
              <a:rPr lang="ja-JP" altLang="en-US" dirty="0"/>
              <a:t>。</a:t>
            </a:r>
          </a:p>
          <a:p>
            <a:pPr algn="ctr"/>
            <a:endParaRPr kumimoji="1" lang="ja-JP" altLang="en-US" dirty="0"/>
          </a:p>
        </p:txBody>
      </p:sp>
      <p:sp>
        <p:nvSpPr>
          <p:cNvPr id="7" name="矢印: 下 6">
            <a:extLst>
              <a:ext uri="{FF2B5EF4-FFF2-40B4-BE49-F238E27FC236}">
                <a16:creationId xmlns:a16="http://schemas.microsoft.com/office/drawing/2014/main" id="{8C5FCD0B-5581-9768-8AFF-2DD7E23A74AE}"/>
              </a:ext>
            </a:extLst>
          </p:cNvPr>
          <p:cNvSpPr/>
          <p:nvPr/>
        </p:nvSpPr>
        <p:spPr>
          <a:xfrm>
            <a:off x="8542867" y="4038600"/>
            <a:ext cx="194733" cy="342371"/>
          </a:xfrm>
          <a:prstGeom prst="downArrow">
            <a:avLst>
              <a:gd name="adj1" fmla="val 34270"/>
              <a:gd name="adj2" fmla="val 44805"/>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C79BFDA0-C527-C9C5-0621-A4E3AC730959}"/>
              </a:ext>
            </a:extLst>
          </p:cNvPr>
          <p:cNvCxnSpPr/>
          <p:nvPr/>
        </p:nvCxnSpPr>
        <p:spPr>
          <a:xfrm>
            <a:off x="7721600" y="2633133"/>
            <a:ext cx="3302000"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3" name="グラフィックス 12" descr="ごみ 単色塗りつぶし">
            <a:extLst>
              <a:ext uri="{FF2B5EF4-FFF2-40B4-BE49-F238E27FC236}">
                <a16:creationId xmlns:a16="http://schemas.microsoft.com/office/drawing/2014/main" id="{EB8DAE32-0286-AD83-23FC-1C51B1532C8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45001" y="4475438"/>
            <a:ext cx="306874" cy="306874"/>
          </a:xfrm>
          <a:prstGeom prst="rect">
            <a:avLst/>
          </a:prstGeom>
        </p:spPr>
      </p:pic>
      <p:pic>
        <p:nvPicPr>
          <p:cNvPr id="8" name="グラフィックス 7" descr="リサーチ 単色塗りつぶし">
            <a:extLst>
              <a:ext uri="{FF2B5EF4-FFF2-40B4-BE49-F238E27FC236}">
                <a16:creationId xmlns:a16="http://schemas.microsoft.com/office/drawing/2014/main" id="{0CF3F2C6-1C6F-ACEF-0EBE-200C2F3598B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481714" y="1836210"/>
            <a:ext cx="338489" cy="338489"/>
          </a:xfrm>
          <a:prstGeom prst="rect">
            <a:avLst/>
          </a:prstGeom>
        </p:spPr>
      </p:pic>
      <p:pic>
        <p:nvPicPr>
          <p:cNvPr id="9" name="グラフィックス 8" descr="設定 単色塗りつぶし">
            <a:extLst>
              <a:ext uri="{FF2B5EF4-FFF2-40B4-BE49-F238E27FC236}">
                <a16:creationId xmlns:a16="http://schemas.microsoft.com/office/drawing/2014/main" id="{37808E13-E3F0-E6F5-099B-F7BAB2DF5DEB}"/>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24517" y="4475439"/>
            <a:ext cx="306874" cy="306874"/>
          </a:xfrm>
          <a:prstGeom prst="rect">
            <a:avLst/>
          </a:prstGeom>
        </p:spPr>
      </p:pic>
      <p:pic>
        <p:nvPicPr>
          <p:cNvPr id="14" name="グラフィックス 13" descr="的中 単色塗りつぶし">
            <a:extLst>
              <a:ext uri="{FF2B5EF4-FFF2-40B4-BE49-F238E27FC236}">
                <a16:creationId xmlns:a16="http://schemas.microsoft.com/office/drawing/2014/main" id="{2E9A0378-CFF9-11BA-1FB3-89D89944135F}"/>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721600" y="4939933"/>
            <a:ext cx="508000" cy="508000"/>
          </a:xfrm>
          <a:prstGeom prst="rect">
            <a:avLst/>
          </a:prstGeom>
        </p:spPr>
      </p:pic>
      <p:pic>
        <p:nvPicPr>
          <p:cNvPr id="16" name="グラフィックス 15" descr="ドキュメント 単色塗りつぶし">
            <a:extLst>
              <a:ext uri="{FF2B5EF4-FFF2-40B4-BE49-F238E27FC236}">
                <a16:creationId xmlns:a16="http://schemas.microsoft.com/office/drawing/2014/main" id="{7A64A1C0-F777-F3F5-ED72-6CAB47C2E51A}"/>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721600" y="3493012"/>
            <a:ext cx="401980" cy="401980"/>
          </a:xfrm>
          <a:prstGeom prst="rect">
            <a:avLst/>
          </a:prstGeom>
        </p:spPr>
      </p:pic>
      <p:cxnSp>
        <p:nvCxnSpPr>
          <p:cNvPr id="3" name="直線コネクタ 2">
            <a:extLst>
              <a:ext uri="{FF2B5EF4-FFF2-40B4-BE49-F238E27FC236}">
                <a16:creationId xmlns:a16="http://schemas.microsoft.com/office/drawing/2014/main" id="{EECFAA10-EB3E-337D-372F-B11F3DE77064}"/>
              </a:ext>
            </a:extLst>
          </p:cNvPr>
          <p:cNvCxnSpPr/>
          <p:nvPr/>
        </p:nvCxnSpPr>
        <p:spPr>
          <a:xfrm>
            <a:off x="839788" y="365125"/>
            <a:ext cx="0" cy="677291"/>
          </a:xfrm>
          <a:prstGeom prst="line">
            <a:avLst/>
          </a:prstGeom>
          <a:ln w="762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0" name="直線コネクタ 9">
            <a:extLst>
              <a:ext uri="{FF2B5EF4-FFF2-40B4-BE49-F238E27FC236}">
                <a16:creationId xmlns:a16="http://schemas.microsoft.com/office/drawing/2014/main" id="{67F8D11C-18A3-1B75-E724-E8B574C2DB23}"/>
              </a:ext>
            </a:extLst>
          </p:cNvPr>
          <p:cNvCxnSpPr/>
          <p:nvPr/>
        </p:nvCxnSpPr>
        <p:spPr>
          <a:xfrm>
            <a:off x="0" y="0"/>
            <a:ext cx="12192000" cy="0"/>
          </a:xfrm>
          <a:prstGeom prst="line">
            <a:avLst/>
          </a:prstGeom>
          <a:ln w="762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272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フローチャート: 代替処理 35">
            <a:extLst>
              <a:ext uri="{FF2B5EF4-FFF2-40B4-BE49-F238E27FC236}">
                <a16:creationId xmlns:a16="http://schemas.microsoft.com/office/drawing/2014/main" id="{4395A5DC-CC62-38AA-90C8-1E6D76679747}"/>
              </a:ext>
            </a:extLst>
          </p:cNvPr>
          <p:cNvSpPr/>
          <p:nvPr/>
        </p:nvSpPr>
        <p:spPr>
          <a:xfrm>
            <a:off x="2209769" y="1314979"/>
            <a:ext cx="1642532" cy="3886200"/>
          </a:xfrm>
          <a:prstGeom prst="flowChartAlternateProcess">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フローチャート: 代替処理 19">
            <a:extLst>
              <a:ext uri="{FF2B5EF4-FFF2-40B4-BE49-F238E27FC236}">
                <a16:creationId xmlns:a16="http://schemas.microsoft.com/office/drawing/2014/main" id="{986E1E2F-B98D-D7C7-4A00-3DE2B3054F0B}"/>
              </a:ext>
            </a:extLst>
          </p:cNvPr>
          <p:cNvSpPr/>
          <p:nvPr/>
        </p:nvSpPr>
        <p:spPr>
          <a:xfrm>
            <a:off x="2209770" y="1405467"/>
            <a:ext cx="1642532" cy="3886200"/>
          </a:xfrm>
          <a:prstGeom prst="flowChartAlternateProcess">
            <a:avLst/>
          </a:prstGeom>
          <a:ln>
            <a:solidFill>
              <a:schemeClr val="bg1">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ltLang="ja-JP" b="1" dirty="0"/>
          </a:p>
          <a:p>
            <a:pPr algn="ctr"/>
            <a:r>
              <a:rPr lang="en-US" altLang="ja-JP" b="1" dirty="0"/>
              <a:t>Hidden 1</a:t>
            </a:r>
            <a:endParaRPr kumimoji="1" lang="en-US" altLang="ja-JP" b="1" dirty="0"/>
          </a:p>
          <a:p>
            <a:pPr algn="ctr"/>
            <a:endParaRPr lang="en-US" altLang="ja-JP" b="1" dirty="0"/>
          </a:p>
          <a:p>
            <a:pPr algn="ctr"/>
            <a:endParaRPr kumimoji="1" lang="en-US" altLang="ja-JP" b="1" dirty="0"/>
          </a:p>
          <a:p>
            <a:pPr algn="ctr"/>
            <a:endParaRPr kumimoji="1" lang="en-US" altLang="ja-JP" b="1" dirty="0"/>
          </a:p>
          <a:p>
            <a:pPr algn="ctr"/>
            <a:endParaRPr kumimoji="1" lang="en-US" altLang="ja-JP" b="1" dirty="0"/>
          </a:p>
          <a:p>
            <a:pPr algn="ctr"/>
            <a:r>
              <a:rPr lang="en-US" altLang="ja-JP" sz="2800" b="1" dirty="0">
                <a:solidFill>
                  <a:srgbClr val="002060"/>
                </a:solidFill>
              </a:rPr>
              <a:t>336</a:t>
            </a:r>
          </a:p>
          <a:p>
            <a:pPr algn="ctr"/>
            <a:r>
              <a:rPr lang="en-US" altLang="ja-JP" sz="1200" b="1" dirty="0">
                <a:solidFill>
                  <a:schemeClr val="bg2">
                    <a:lumMod val="50000"/>
                  </a:schemeClr>
                </a:solidFill>
              </a:rPr>
              <a:t>Units</a:t>
            </a:r>
          </a:p>
          <a:p>
            <a:pPr algn="ctr"/>
            <a:endParaRPr lang="en-US" altLang="ja-JP" dirty="0"/>
          </a:p>
          <a:p>
            <a:pPr algn="ctr"/>
            <a:endParaRPr lang="en-US" altLang="ja-JP" dirty="0"/>
          </a:p>
          <a:p>
            <a:pPr algn="ctr"/>
            <a:endParaRPr lang="en-US" altLang="ja-JP" dirty="0"/>
          </a:p>
          <a:p>
            <a:pPr algn="ctr"/>
            <a:endParaRPr lang="en-US" altLang="ja-JP" dirty="0"/>
          </a:p>
          <a:p>
            <a:pPr algn="ctr"/>
            <a:endParaRPr lang="en-US" altLang="ja-JP" sz="1100" dirty="0">
              <a:solidFill>
                <a:srgbClr val="7030A0"/>
              </a:solidFill>
            </a:endParaRPr>
          </a:p>
          <a:p>
            <a:pPr algn="ctr"/>
            <a:r>
              <a:rPr lang="en-US" altLang="ja-JP" sz="1100" b="1" dirty="0">
                <a:solidFill>
                  <a:schemeClr val="bg2">
                    <a:lumMod val="50000"/>
                  </a:schemeClr>
                </a:solidFill>
              </a:rPr>
              <a:t>Drop</a:t>
            </a:r>
            <a:r>
              <a:rPr lang="en-US" altLang="ja-JP" sz="1100" dirty="0"/>
              <a:t>        </a:t>
            </a:r>
            <a:r>
              <a:rPr lang="en-US" altLang="ja-JP" sz="1100" b="1" dirty="0">
                <a:solidFill>
                  <a:schemeClr val="accent2"/>
                </a:solidFill>
              </a:rPr>
              <a:t>0.364</a:t>
            </a:r>
            <a:endParaRPr lang="en-US" altLang="ja-JP" sz="1100" dirty="0">
              <a:solidFill>
                <a:schemeClr val="accent2"/>
              </a:solidFill>
            </a:endParaRPr>
          </a:p>
          <a:p>
            <a:pPr algn="ctr"/>
            <a:endParaRPr lang="en-US" altLang="ja-JP" dirty="0"/>
          </a:p>
          <a:p>
            <a:pPr algn="ctr"/>
            <a:endParaRPr kumimoji="1" lang="ja-JP" altLang="en-US" dirty="0"/>
          </a:p>
        </p:txBody>
      </p:sp>
      <p:sp>
        <p:nvSpPr>
          <p:cNvPr id="41" name="フローチャート: 代替処理 40">
            <a:extLst>
              <a:ext uri="{FF2B5EF4-FFF2-40B4-BE49-F238E27FC236}">
                <a16:creationId xmlns:a16="http://schemas.microsoft.com/office/drawing/2014/main" id="{CC87945E-6DF3-088A-59FC-4AA8CD217716}"/>
              </a:ext>
            </a:extLst>
          </p:cNvPr>
          <p:cNvSpPr/>
          <p:nvPr/>
        </p:nvSpPr>
        <p:spPr>
          <a:xfrm>
            <a:off x="3031035" y="4741337"/>
            <a:ext cx="596869" cy="237063"/>
          </a:xfrm>
          <a:prstGeom prst="flowChartAlternateProcess">
            <a:avLst/>
          </a:prstGeom>
          <a:solidFill>
            <a:srgbClr val="FFCC99"/>
          </a:solidFill>
          <a:ln>
            <a:solidFill>
              <a:schemeClr val="accent2"/>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ja-JP" sz="1100" b="1" dirty="0">
                <a:solidFill>
                  <a:schemeClr val="accent2"/>
                </a:solidFill>
              </a:rPr>
              <a:t>0.364</a:t>
            </a:r>
            <a:endParaRPr kumimoji="1" lang="ja-JP" altLang="en-US" sz="1100" b="1" dirty="0">
              <a:solidFill>
                <a:schemeClr val="accent2"/>
              </a:solidFill>
            </a:endParaRPr>
          </a:p>
        </p:txBody>
      </p:sp>
      <p:sp>
        <p:nvSpPr>
          <p:cNvPr id="40" name="フローチャート: 代替処理 39">
            <a:extLst>
              <a:ext uri="{FF2B5EF4-FFF2-40B4-BE49-F238E27FC236}">
                <a16:creationId xmlns:a16="http://schemas.microsoft.com/office/drawing/2014/main" id="{307458FB-6200-C799-F900-57B31988D4D6}"/>
              </a:ext>
            </a:extLst>
          </p:cNvPr>
          <p:cNvSpPr/>
          <p:nvPr/>
        </p:nvSpPr>
        <p:spPr>
          <a:xfrm>
            <a:off x="10337802" y="1314979"/>
            <a:ext cx="1642532" cy="3886200"/>
          </a:xfrm>
          <a:prstGeom prst="flowChartAlternateProcess">
            <a:avLst/>
          </a:prstGeom>
          <a:solidFill>
            <a:schemeClr val="accent3">
              <a:lumMod val="40000"/>
              <a:lumOff val="60000"/>
            </a:schemeClr>
          </a:solidFill>
          <a:ln>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フローチャート: 代替処理 36">
            <a:extLst>
              <a:ext uri="{FF2B5EF4-FFF2-40B4-BE49-F238E27FC236}">
                <a16:creationId xmlns:a16="http://schemas.microsoft.com/office/drawing/2014/main" id="{B21F558A-226A-3760-E4B9-034B1AB441BE}"/>
              </a:ext>
            </a:extLst>
          </p:cNvPr>
          <p:cNvSpPr/>
          <p:nvPr/>
        </p:nvSpPr>
        <p:spPr>
          <a:xfrm>
            <a:off x="8305790" y="1314979"/>
            <a:ext cx="1642532" cy="3886200"/>
          </a:xfrm>
          <a:prstGeom prst="flowChartAlternateProcess">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フローチャート: 代替処理 37">
            <a:extLst>
              <a:ext uri="{FF2B5EF4-FFF2-40B4-BE49-F238E27FC236}">
                <a16:creationId xmlns:a16="http://schemas.microsoft.com/office/drawing/2014/main" id="{963B3BEE-980D-EA13-3913-CC4D120D6D79}"/>
              </a:ext>
            </a:extLst>
          </p:cNvPr>
          <p:cNvSpPr/>
          <p:nvPr/>
        </p:nvSpPr>
        <p:spPr>
          <a:xfrm>
            <a:off x="6273784" y="1314979"/>
            <a:ext cx="1642532" cy="3886200"/>
          </a:xfrm>
          <a:prstGeom prst="flowChartAlternateProcess">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フローチャート: 代替処理 38">
            <a:extLst>
              <a:ext uri="{FF2B5EF4-FFF2-40B4-BE49-F238E27FC236}">
                <a16:creationId xmlns:a16="http://schemas.microsoft.com/office/drawing/2014/main" id="{3AA98AD6-8EA3-A46F-06B0-6A828A63443C}"/>
              </a:ext>
            </a:extLst>
          </p:cNvPr>
          <p:cNvSpPr/>
          <p:nvPr/>
        </p:nvSpPr>
        <p:spPr>
          <a:xfrm>
            <a:off x="4241777" y="1314979"/>
            <a:ext cx="1642532" cy="3886200"/>
          </a:xfrm>
          <a:prstGeom prst="flowChartAlternateProcess">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フローチャート: 代替処理 34">
            <a:extLst>
              <a:ext uri="{FF2B5EF4-FFF2-40B4-BE49-F238E27FC236}">
                <a16:creationId xmlns:a16="http://schemas.microsoft.com/office/drawing/2014/main" id="{E9EDCCF7-6F24-5762-FA3D-A1E8CF4E2EDA}"/>
              </a:ext>
            </a:extLst>
          </p:cNvPr>
          <p:cNvSpPr/>
          <p:nvPr/>
        </p:nvSpPr>
        <p:spPr>
          <a:xfrm>
            <a:off x="211666" y="1327944"/>
            <a:ext cx="1642532" cy="3886200"/>
          </a:xfrm>
          <a:prstGeom prst="flowChartAlternateProcess">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D9762AD7-84B9-10D7-1E47-397F9B96F058}"/>
              </a:ext>
            </a:extLst>
          </p:cNvPr>
          <p:cNvSpPr>
            <a:spLocks noGrp="1"/>
          </p:cNvSpPr>
          <p:nvPr>
            <p:ph type="title"/>
          </p:nvPr>
        </p:nvSpPr>
        <p:spPr>
          <a:xfrm>
            <a:off x="838200" y="365126"/>
            <a:ext cx="10515600" cy="794808"/>
          </a:xfrm>
        </p:spPr>
        <p:txBody>
          <a:bodyPr/>
          <a:lstStyle/>
          <a:p>
            <a:r>
              <a:rPr lang="ja-JP" altLang="en-US" b="1" dirty="0"/>
              <a:t>最終モデル構造</a:t>
            </a:r>
            <a:endParaRPr kumimoji="1" lang="ja-JP" altLang="en-US" dirty="0"/>
          </a:p>
        </p:txBody>
      </p:sp>
      <p:sp>
        <p:nvSpPr>
          <p:cNvPr id="7" name="フローチャート: 代替処理 6">
            <a:extLst>
              <a:ext uri="{FF2B5EF4-FFF2-40B4-BE49-F238E27FC236}">
                <a16:creationId xmlns:a16="http://schemas.microsoft.com/office/drawing/2014/main" id="{47184682-BB8C-DD24-0B45-8CDC4385D1D1}"/>
              </a:ext>
            </a:extLst>
          </p:cNvPr>
          <p:cNvSpPr/>
          <p:nvPr/>
        </p:nvSpPr>
        <p:spPr>
          <a:xfrm>
            <a:off x="211666" y="1405467"/>
            <a:ext cx="1642532" cy="3886200"/>
          </a:xfrm>
          <a:prstGeom prst="flowChartAlternateProcess">
            <a:avLst/>
          </a:prstGeom>
          <a:ln>
            <a:solidFill>
              <a:schemeClr val="bg1">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ltLang="ja-JP" b="1" dirty="0"/>
          </a:p>
          <a:p>
            <a:pPr algn="ctr"/>
            <a:r>
              <a:rPr lang="en-US" altLang="ja-JP" b="1" dirty="0"/>
              <a:t>Input Layer</a:t>
            </a:r>
          </a:p>
          <a:p>
            <a:pPr algn="ctr"/>
            <a:endParaRPr kumimoji="1" lang="en-US" altLang="ja-JP" b="1" dirty="0"/>
          </a:p>
          <a:p>
            <a:pPr algn="ctr"/>
            <a:endParaRPr kumimoji="1" lang="en-US" altLang="ja-JP" b="1" dirty="0"/>
          </a:p>
          <a:p>
            <a:pPr algn="ctr"/>
            <a:endParaRPr kumimoji="1" lang="en-US" altLang="ja-JP" b="1" dirty="0"/>
          </a:p>
          <a:p>
            <a:pPr algn="ctr"/>
            <a:endParaRPr kumimoji="1" lang="en-US" altLang="ja-JP" b="1" dirty="0"/>
          </a:p>
          <a:p>
            <a:pPr algn="ctr"/>
            <a:r>
              <a:rPr lang="en-US" altLang="ja-JP" sz="2800" b="1" dirty="0">
                <a:solidFill>
                  <a:srgbClr val="002060"/>
                </a:solidFill>
              </a:rPr>
              <a:t>46</a:t>
            </a:r>
          </a:p>
          <a:p>
            <a:pPr algn="ctr"/>
            <a:r>
              <a:rPr lang="en-US" altLang="ja-JP" sz="1200" b="1" dirty="0">
                <a:solidFill>
                  <a:schemeClr val="bg2">
                    <a:lumMod val="50000"/>
                  </a:schemeClr>
                </a:solidFill>
              </a:rPr>
              <a:t>Features</a:t>
            </a:r>
          </a:p>
          <a:p>
            <a:pPr algn="ctr"/>
            <a:endParaRPr lang="en-US" altLang="ja-JP" dirty="0"/>
          </a:p>
          <a:p>
            <a:pPr algn="ctr"/>
            <a:endParaRPr lang="en-US" altLang="ja-JP" dirty="0"/>
          </a:p>
          <a:p>
            <a:pPr algn="ctr"/>
            <a:endParaRPr lang="en-US" altLang="ja-JP" dirty="0"/>
          </a:p>
          <a:p>
            <a:pPr algn="ctr"/>
            <a:endParaRPr lang="en-US" altLang="ja-JP" dirty="0"/>
          </a:p>
          <a:p>
            <a:pPr algn="ctr"/>
            <a:endParaRPr lang="en-US" altLang="ja-JP" sz="1100" dirty="0"/>
          </a:p>
          <a:p>
            <a:pPr algn="ctr"/>
            <a:endParaRPr lang="en-US" altLang="ja-JP" sz="1100" dirty="0"/>
          </a:p>
          <a:p>
            <a:pPr algn="ctr"/>
            <a:endParaRPr lang="en-US" altLang="ja-JP" dirty="0"/>
          </a:p>
          <a:p>
            <a:pPr algn="ctr"/>
            <a:endParaRPr kumimoji="1" lang="ja-JP" altLang="en-US" dirty="0"/>
          </a:p>
        </p:txBody>
      </p:sp>
      <p:sp>
        <p:nvSpPr>
          <p:cNvPr id="21" name="フローチャート: 代替処理 20">
            <a:extLst>
              <a:ext uri="{FF2B5EF4-FFF2-40B4-BE49-F238E27FC236}">
                <a16:creationId xmlns:a16="http://schemas.microsoft.com/office/drawing/2014/main" id="{8E8161F4-585C-AEBB-C628-F4A73B725044}"/>
              </a:ext>
            </a:extLst>
          </p:cNvPr>
          <p:cNvSpPr/>
          <p:nvPr/>
        </p:nvSpPr>
        <p:spPr>
          <a:xfrm>
            <a:off x="4241778" y="1405467"/>
            <a:ext cx="1642532" cy="3886200"/>
          </a:xfrm>
          <a:prstGeom prst="flowChartAlternateProcess">
            <a:avLst/>
          </a:prstGeom>
          <a:ln>
            <a:solidFill>
              <a:schemeClr val="bg1">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ltLang="ja-JP" b="1" dirty="0"/>
          </a:p>
          <a:p>
            <a:pPr algn="ctr"/>
            <a:r>
              <a:rPr lang="en-US" altLang="ja-JP" b="1" dirty="0"/>
              <a:t>Hidden 2</a:t>
            </a:r>
          </a:p>
          <a:p>
            <a:pPr algn="ctr"/>
            <a:endParaRPr kumimoji="1" lang="en-US" altLang="ja-JP" b="1" dirty="0"/>
          </a:p>
          <a:p>
            <a:pPr algn="ctr"/>
            <a:endParaRPr lang="en-US" altLang="ja-JP" b="1" dirty="0"/>
          </a:p>
          <a:p>
            <a:pPr algn="ctr"/>
            <a:endParaRPr kumimoji="1" lang="en-US" altLang="ja-JP" b="1" dirty="0"/>
          </a:p>
          <a:p>
            <a:pPr algn="ctr"/>
            <a:endParaRPr kumimoji="1" lang="en-US" altLang="ja-JP" b="1" dirty="0"/>
          </a:p>
          <a:p>
            <a:pPr algn="ctr"/>
            <a:r>
              <a:rPr lang="en-US" altLang="ja-JP" sz="2800" b="1" dirty="0">
                <a:solidFill>
                  <a:srgbClr val="002060"/>
                </a:solidFill>
              </a:rPr>
              <a:t>134</a:t>
            </a:r>
          </a:p>
          <a:p>
            <a:pPr algn="ctr"/>
            <a:r>
              <a:rPr lang="en-US" altLang="ja-JP" sz="1200" b="1" dirty="0">
                <a:solidFill>
                  <a:schemeClr val="bg2">
                    <a:lumMod val="50000"/>
                  </a:schemeClr>
                </a:solidFill>
              </a:rPr>
              <a:t>Units</a:t>
            </a:r>
          </a:p>
          <a:p>
            <a:pPr algn="ctr"/>
            <a:endParaRPr lang="en-US" altLang="ja-JP" dirty="0"/>
          </a:p>
          <a:p>
            <a:pPr algn="ctr"/>
            <a:endParaRPr lang="en-US" altLang="ja-JP" dirty="0"/>
          </a:p>
          <a:p>
            <a:pPr algn="ctr"/>
            <a:endParaRPr lang="en-US" altLang="ja-JP" dirty="0"/>
          </a:p>
          <a:p>
            <a:pPr algn="ctr"/>
            <a:endParaRPr lang="en-US" altLang="ja-JP" dirty="0"/>
          </a:p>
          <a:p>
            <a:pPr algn="ctr"/>
            <a:endParaRPr lang="en-US" altLang="ja-JP" sz="1100" dirty="0">
              <a:solidFill>
                <a:srgbClr val="7030A0"/>
              </a:solidFill>
            </a:endParaRPr>
          </a:p>
          <a:p>
            <a:pPr algn="ctr"/>
            <a:r>
              <a:rPr lang="en-US" altLang="ja-JP" sz="1100" b="1" dirty="0">
                <a:solidFill>
                  <a:schemeClr val="bg2">
                    <a:lumMod val="50000"/>
                  </a:schemeClr>
                </a:solidFill>
              </a:rPr>
              <a:t>Drop</a:t>
            </a:r>
            <a:r>
              <a:rPr lang="en-US" altLang="ja-JP" sz="1100" dirty="0"/>
              <a:t>        </a:t>
            </a:r>
            <a:r>
              <a:rPr lang="en-US" altLang="ja-JP" sz="1100" b="1" dirty="0">
                <a:solidFill>
                  <a:schemeClr val="accent2"/>
                </a:solidFill>
              </a:rPr>
              <a:t>0.426</a:t>
            </a:r>
            <a:endParaRPr lang="en-US" altLang="ja-JP" sz="1100" dirty="0">
              <a:solidFill>
                <a:schemeClr val="accent2"/>
              </a:solidFill>
            </a:endParaRPr>
          </a:p>
          <a:p>
            <a:pPr algn="ctr"/>
            <a:endParaRPr lang="en-US" altLang="ja-JP" dirty="0"/>
          </a:p>
          <a:p>
            <a:pPr algn="ctr"/>
            <a:endParaRPr kumimoji="1" lang="ja-JP" altLang="en-US" dirty="0"/>
          </a:p>
        </p:txBody>
      </p:sp>
      <p:sp>
        <p:nvSpPr>
          <p:cNvPr id="22" name="フローチャート: 代替処理 21">
            <a:extLst>
              <a:ext uri="{FF2B5EF4-FFF2-40B4-BE49-F238E27FC236}">
                <a16:creationId xmlns:a16="http://schemas.microsoft.com/office/drawing/2014/main" id="{E3883FD0-AC38-8416-1616-C8386C07AB8E}"/>
              </a:ext>
            </a:extLst>
          </p:cNvPr>
          <p:cNvSpPr/>
          <p:nvPr/>
        </p:nvSpPr>
        <p:spPr>
          <a:xfrm>
            <a:off x="6273786" y="1405467"/>
            <a:ext cx="1642532" cy="3886200"/>
          </a:xfrm>
          <a:prstGeom prst="flowChartAlternateProcess">
            <a:avLst/>
          </a:prstGeom>
          <a:ln>
            <a:solidFill>
              <a:schemeClr val="bg1">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ltLang="ja-JP" b="1" dirty="0"/>
          </a:p>
          <a:p>
            <a:pPr algn="ctr"/>
            <a:r>
              <a:rPr lang="en-US" altLang="ja-JP" b="1" dirty="0"/>
              <a:t>Hidden 3</a:t>
            </a:r>
          </a:p>
          <a:p>
            <a:pPr algn="ctr"/>
            <a:endParaRPr kumimoji="1" lang="en-US" altLang="ja-JP" b="1" dirty="0"/>
          </a:p>
          <a:p>
            <a:pPr algn="ctr"/>
            <a:endParaRPr lang="en-US" altLang="ja-JP" b="1" dirty="0"/>
          </a:p>
          <a:p>
            <a:pPr algn="ctr"/>
            <a:endParaRPr kumimoji="1" lang="en-US" altLang="ja-JP" b="1" dirty="0"/>
          </a:p>
          <a:p>
            <a:pPr algn="ctr"/>
            <a:endParaRPr kumimoji="1" lang="en-US" altLang="ja-JP" b="1" dirty="0"/>
          </a:p>
          <a:p>
            <a:pPr algn="ctr"/>
            <a:r>
              <a:rPr lang="en-US" altLang="ja-JP" sz="2800" b="1" dirty="0">
                <a:solidFill>
                  <a:srgbClr val="002060"/>
                </a:solidFill>
              </a:rPr>
              <a:t>68</a:t>
            </a:r>
          </a:p>
          <a:p>
            <a:pPr algn="ctr"/>
            <a:r>
              <a:rPr lang="en-US" altLang="ja-JP" sz="1200" b="1" dirty="0">
                <a:solidFill>
                  <a:schemeClr val="bg2">
                    <a:lumMod val="50000"/>
                  </a:schemeClr>
                </a:solidFill>
              </a:rPr>
              <a:t>Units</a:t>
            </a:r>
          </a:p>
          <a:p>
            <a:pPr algn="ctr"/>
            <a:endParaRPr lang="en-US" altLang="ja-JP" dirty="0"/>
          </a:p>
          <a:p>
            <a:pPr algn="ctr"/>
            <a:endParaRPr lang="en-US" altLang="ja-JP" dirty="0"/>
          </a:p>
          <a:p>
            <a:pPr algn="ctr"/>
            <a:endParaRPr lang="en-US" altLang="ja-JP" dirty="0"/>
          </a:p>
          <a:p>
            <a:pPr algn="ctr"/>
            <a:endParaRPr lang="en-US" altLang="ja-JP" dirty="0"/>
          </a:p>
          <a:p>
            <a:pPr algn="ctr"/>
            <a:endParaRPr lang="en-US" altLang="ja-JP" sz="1100" dirty="0">
              <a:solidFill>
                <a:srgbClr val="7030A0"/>
              </a:solidFill>
            </a:endParaRPr>
          </a:p>
          <a:p>
            <a:pPr algn="ctr"/>
            <a:r>
              <a:rPr lang="en-US" altLang="ja-JP" sz="1100" b="1" dirty="0">
                <a:solidFill>
                  <a:schemeClr val="bg2">
                    <a:lumMod val="50000"/>
                  </a:schemeClr>
                </a:solidFill>
              </a:rPr>
              <a:t>Drop </a:t>
            </a:r>
            <a:r>
              <a:rPr lang="en-US" altLang="ja-JP" sz="1100" dirty="0"/>
              <a:t>       </a:t>
            </a:r>
            <a:r>
              <a:rPr lang="en-US" altLang="ja-JP" sz="1100" b="1" dirty="0">
                <a:solidFill>
                  <a:schemeClr val="accent2"/>
                </a:solidFill>
              </a:rPr>
              <a:t>0.205</a:t>
            </a:r>
            <a:endParaRPr lang="en-US" altLang="ja-JP" sz="1100" dirty="0">
              <a:solidFill>
                <a:schemeClr val="accent2"/>
              </a:solidFill>
            </a:endParaRPr>
          </a:p>
          <a:p>
            <a:pPr algn="ctr"/>
            <a:endParaRPr lang="en-US" altLang="ja-JP" dirty="0"/>
          </a:p>
          <a:p>
            <a:pPr algn="ctr"/>
            <a:endParaRPr kumimoji="1" lang="ja-JP" altLang="en-US" dirty="0"/>
          </a:p>
        </p:txBody>
      </p:sp>
      <p:sp>
        <p:nvSpPr>
          <p:cNvPr id="23" name="フローチャート: 代替処理 22">
            <a:extLst>
              <a:ext uri="{FF2B5EF4-FFF2-40B4-BE49-F238E27FC236}">
                <a16:creationId xmlns:a16="http://schemas.microsoft.com/office/drawing/2014/main" id="{F4CAFFBE-93F7-AB9F-26D8-ABB1B563E664}"/>
              </a:ext>
            </a:extLst>
          </p:cNvPr>
          <p:cNvSpPr/>
          <p:nvPr/>
        </p:nvSpPr>
        <p:spPr>
          <a:xfrm>
            <a:off x="8305794" y="1405467"/>
            <a:ext cx="1642532" cy="3886200"/>
          </a:xfrm>
          <a:prstGeom prst="flowChartAlternateProcess">
            <a:avLst/>
          </a:prstGeom>
          <a:ln>
            <a:solidFill>
              <a:schemeClr val="bg1">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ltLang="ja-JP" b="1" dirty="0"/>
          </a:p>
          <a:p>
            <a:pPr algn="ctr"/>
            <a:r>
              <a:rPr lang="en-US" altLang="ja-JP" b="1" dirty="0"/>
              <a:t>Hidden 4</a:t>
            </a:r>
          </a:p>
          <a:p>
            <a:pPr algn="ctr"/>
            <a:endParaRPr kumimoji="1" lang="en-US" altLang="ja-JP" b="1" dirty="0"/>
          </a:p>
          <a:p>
            <a:pPr algn="ctr"/>
            <a:endParaRPr lang="en-US" altLang="ja-JP" b="1" dirty="0"/>
          </a:p>
          <a:p>
            <a:pPr algn="ctr"/>
            <a:endParaRPr kumimoji="1" lang="en-US" altLang="ja-JP" b="1" dirty="0"/>
          </a:p>
          <a:p>
            <a:pPr algn="ctr"/>
            <a:endParaRPr kumimoji="1" lang="en-US" altLang="ja-JP" b="1" dirty="0"/>
          </a:p>
          <a:p>
            <a:pPr algn="ctr"/>
            <a:r>
              <a:rPr lang="en-US" altLang="ja-JP" sz="2800" b="1" dirty="0">
                <a:solidFill>
                  <a:srgbClr val="002060"/>
                </a:solidFill>
              </a:rPr>
              <a:t>190</a:t>
            </a:r>
          </a:p>
          <a:p>
            <a:pPr algn="ctr"/>
            <a:r>
              <a:rPr lang="en-US" altLang="ja-JP" sz="1200" b="1" dirty="0">
                <a:solidFill>
                  <a:schemeClr val="bg2">
                    <a:lumMod val="50000"/>
                  </a:schemeClr>
                </a:solidFill>
              </a:rPr>
              <a:t>Units</a:t>
            </a:r>
          </a:p>
          <a:p>
            <a:pPr algn="ctr"/>
            <a:endParaRPr lang="en-US" altLang="ja-JP" dirty="0"/>
          </a:p>
          <a:p>
            <a:pPr algn="ctr"/>
            <a:endParaRPr lang="en-US" altLang="ja-JP" dirty="0"/>
          </a:p>
          <a:p>
            <a:pPr algn="ctr"/>
            <a:endParaRPr lang="en-US" altLang="ja-JP" dirty="0"/>
          </a:p>
          <a:p>
            <a:pPr algn="ctr"/>
            <a:endParaRPr lang="en-US" altLang="ja-JP" dirty="0"/>
          </a:p>
          <a:p>
            <a:pPr algn="ctr"/>
            <a:endParaRPr lang="en-US" altLang="ja-JP" sz="1100" dirty="0">
              <a:solidFill>
                <a:srgbClr val="7030A0"/>
              </a:solidFill>
            </a:endParaRPr>
          </a:p>
          <a:p>
            <a:pPr algn="ctr"/>
            <a:r>
              <a:rPr lang="en-US" altLang="ja-JP" sz="1100" b="1" dirty="0">
                <a:solidFill>
                  <a:schemeClr val="bg2">
                    <a:lumMod val="50000"/>
                  </a:schemeClr>
                </a:solidFill>
              </a:rPr>
              <a:t>Drop</a:t>
            </a:r>
            <a:r>
              <a:rPr lang="en-US" altLang="ja-JP" sz="1100" dirty="0"/>
              <a:t>        </a:t>
            </a:r>
            <a:r>
              <a:rPr lang="en-US" altLang="ja-JP" sz="1100" b="1" dirty="0">
                <a:solidFill>
                  <a:schemeClr val="accent2"/>
                </a:solidFill>
              </a:rPr>
              <a:t>0.147</a:t>
            </a:r>
            <a:endParaRPr lang="en-US" altLang="ja-JP" sz="1100" dirty="0">
              <a:solidFill>
                <a:schemeClr val="accent2"/>
              </a:solidFill>
            </a:endParaRPr>
          </a:p>
          <a:p>
            <a:pPr algn="ctr"/>
            <a:endParaRPr lang="en-US" altLang="ja-JP" dirty="0"/>
          </a:p>
          <a:p>
            <a:pPr algn="ctr"/>
            <a:endParaRPr kumimoji="1" lang="ja-JP" altLang="en-US" dirty="0"/>
          </a:p>
        </p:txBody>
      </p:sp>
      <p:sp>
        <p:nvSpPr>
          <p:cNvPr id="24" name="フローチャート: 代替処理 23">
            <a:extLst>
              <a:ext uri="{FF2B5EF4-FFF2-40B4-BE49-F238E27FC236}">
                <a16:creationId xmlns:a16="http://schemas.microsoft.com/office/drawing/2014/main" id="{BAA09D8E-A7F1-031B-28B4-B7A8A35D9C4F}"/>
              </a:ext>
            </a:extLst>
          </p:cNvPr>
          <p:cNvSpPr/>
          <p:nvPr/>
        </p:nvSpPr>
        <p:spPr>
          <a:xfrm>
            <a:off x="10337802" y="1405467"/>
            <a:ext cx="1642532" cy="3886200"/>
          </a:xfrm>
          <a:prstGeom prst="flowChartAlternateProcess">
            <a:avLst/>
          </a:prstGeom>
          <a:ln>
            <a:solidFill>
              <a:schemeClr val="bg1">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ltLang="ja-JP" b="1" dirty="0"/>
          </a:p>
          <a:p>
            <a:pPr algn="ctr"/>
            <a:r>
              <a:rPr lang="en-US" altLang="ja-JP" b="1" dirty="0"/>
              <a:t>Output</a:t>
            </a:r>
            <a:endParaRPr kumimoji="1" lang="en-US" altLang="ja-JP" b="1" dirty="0"/>
          </a:p>
          <a:p>
            <a:pPr algn="ctr"/>
            <a:endParaRPr kumimoji="1" lang="en-US" altLang="ja-JP" b="1" dirty="0"/>
          </a:p>
          <a:p>
            <a:pPr algn="ctr"/>
            <a:endParaRPr kumimoji="1" lang="en-US" altLang="ja-JP" b="1" dirty="0"/>
          </a:p>
          <a:p>
            <a:pPr algn="ctr"/>
            <a:endParaRPr lang="en-US" altLang="ja-JP" b="1" dirty="0"/>
          </a:p>
          <a:p>
            <a:pPr algn="ctr"/>
            <a:endParaRPr kumimoji="1" lang="en-US" altLang="ja-JP" b="1" dirty="0"/>
          </a:p>
          <a:p>
            <a:pPr algn="ctr"/>
            <a:r>
              <a:rPr lang="en-US" altLang="ja-JP" sz="2800" b="1" dirty="0">
                <a:solidFill>
                  <a:srgbClr val="002060"/>
                </a:solidFill>
              </a:rPr>
              <a:t>1</a:t>
            </a:r>
          </a:p>
          <a:p>
            <a:pPr algn="ctr"/>
            <a:r>
              <a:rPr lang="en-US" altLang="ja-JP" sz="1200" b="1" dirty="0">
                <a:solidFill>
                  <a:schemeClr val="bg2">
                    <a:lumMod val="50000"/>
                  </a:schemeClr>
                </a:solidFill>
              </a:rPr>
              <a:t>Target</a:t>
            </a:r>
            <a:endParaRPr lang="en-US" altLang="ja-JP" dirty="0"/>
          </a:p>
          <a:p>
            <a:pPr algn="ctr"/>
            <a:endParaRPr lang="en-US" altLang="ja-JP" dirty="0"/>
          </a:p>
          <a:p>
            <a:pPr algn="ctr"/>
            <a:endParaRPr lang="en-US" altLang="ja-JP" dirty="0"/>
          </a:p>
          <a:p>
            <a:pPr algn="ctr"/>
            <a:endParaRPr lang="en-US" altLang="ja-JP" sz="1100" dirty="0"/>
          </a:p>
          <a:p>
            <a:pPr algn="ctr"/>
            <a:endParaRPr lang="en-US" altLang="ja-JP" sz="1100" dirty="0"/>
          </a:p>
          <a:p>
            <a:pPr algn="ctr"/>
            <a:endParaRPr lang="en-US" altLang="ja-JP" sz="1100" dirty="0"/>
          </a:p>
          <a:p>
            <a:pPr algn="ctr"/>
            <a:endParaRPr lang="en-US" altLang="ja-JP" sz="1100" dirty="0"/>
          </a:p>
          <a:p>
            <a:pPr algn="ctr"/>
            <a:r>
              <a:rPr lang="en-US" altLang="ja-JP" sz="1100" b="1" dirty="0">
                <a:solidFill>
                  <a:schemeClr val="bg2">
                    <a:lumMod val="50000"/>
                  </a:schemeClr>
                </a:solidFill>
              </a:rPr>
              <a:t>Target</a:t>
            </a:r>
            <a:r>
              <a:rPr lang="en-US" altLang="ja-JP" sz="1100" dirty="0"/>
              <a:t>  </a:t>
            </a:r>
            <a:r>
              <a:rPr lang="ja-JP" altLang="en-US" sz="1100" dirty="0"/>
              <a:t>  </a:t>
            </a:r>
            <a:r>
              <a:rPr lang="en-US" altLang="ja-JP" sz="1100" dirty="0"/>
              <a:t>    </a:t>
            </a:r>
            <a:r>
              <a:rPr lang="en-US" altLang="ja-JP" sz="1100" b="1" dirty="0">
                <a:solidFill>
                  <a:srgbClr val="00B050"/>
                </a:solidFill>
              </a:rPr>
              <a:t>Sales</a:t>
            </a:r>
            <a:endParaRPr lang="en-US" altLang="ja-JP" sz="1100" dirty="0">
              <a:solidFill>
                <a:srgbClr val="00B050"/>
              </a:solidFill>
            </a:endParaRPr>
          </a:p>
          <a:p>
            <a:pPr algn="ctr"/>
            <a:r>
              <a:rPr lang="en-US" altLang="ja-JP" sz="1100" b="1" dirty="0">
                <a:solidFill>
                  <a:schemeClr val="bg2">
                    <a:lumMod val="50000"/>
                  </a:schemeClr>
                </a:solidFill>
              </a:rPr>
              <a:t>Loss</a:t>
            </a:r>
            <a:r>
              <a:rPr lang="en-US" altLang="ja-JP" sz="1100" dirty="0"/>
              <a:t>     </a:t>
            </a:r>
            <a:r>
              <a:rPr lang="en-US" altLang="ja-JP" sz="1100" b="1" dirty="0"/>
              <a:t>     RMSE</a:t>
            </a:r>
            <a:endParaRPr lang="en-US" altLang="ja-JP" sz="1100" dirty="0"/>
          </a:p>
          <a:p>
            <a:pPr algn="ctr"/>
            <a:endParaRPr lang="en-US" altLang="ja-JP" sz="1100" dirty="0"/>
          </a:p>
          <a:p>
            <a:pPr algn="ctr"/>
            <a:endParaRPr kumimoji="1" lang="ja-JP" altLang="en-US" dirty="0"/>
          </a:p>
        </p:txBody>
      </p:sp>
      <p:cxnSp>
        <p:nvCxnSpPr>
          <p:cNvPr id="26" name="直線コネクタ 25">
            <a:extLst>
              <a:ext uri="{FF2B5EF4-FFF2-40B4-BE49-F238E27FC236}">
                <a16:creationId xmlns:a16="http://schemas.microsoft.com/office/drawing/2014/main" id="{491D8205-2394-684E-7BAC-3F053F8684BD}"/>
              </a:ext>
            </a:extLst>
          </p:cNvPr>
          <p:cNvCxnSpPr/>
          <p:nvPr/>
        </p:nvCxnSpPr>
        <p:spPr>
          <a:xfrm>
            <a:off x="376765" y="1879600"/>
            <a:ext cx="1312333" cy="0"/>
          </a:xfrm>
          <a:prstGeom prst="line">
            <a:avLst/>
          </a:prstGeom>
          <a:ln w="28575">
            <a:solidFill>
              <a:schemeClr val="bg2"/>
            </a:solidFill>
          </a:ln>
        </p:spPr>
        <p:style>
          <a:lnRef idx="2">
            <a:schemeClr val="accent1"/>
          </a:lnRef>
          <a:fillRef idx="0">
            <a:schemeClr val="accent1"/>
          </a:fillRef>
          <a:effectRef idx="1">
            <a:schemeClr val="accent1"/>
          </a:effectRef>
          <a:fontRef idx="minor">
            <a:schemeClr val="tx1"/>
          </a:fontRef>
        </p:style>
      </p:cxnSp>
      <p:cxnSp>
        <p:nvCxnSpPr>
          <p:cNvPr id="27" name="直線コネクタ 26">
            <a:extLst>
              <a:ext uri="{FF2B5EF4-FFF2-40B4-BE49-F238E27FC236}">
                <a16:creationId xmlns:a16="http://schemas.microsoft.com/office/drawing/2014/main" id="{636E6909-F0BE-B6DC-8079-EF43B4E07899}"/>
              </a:ext>
            </a:extLst>
          </p:cNvPr>
          <p:cNvCxnSpPr/>
          <p:nvPr/>
        </p:nvCxnSpPr>
        <p:spPr>
          <a:xfrm>
            <a:off x="10502901" y="1854200"/>
            <a:ext cx="1312333" cy="0"/>
          </a:xfrm>
          <a:prstGeom prst="line">
            <a:avLst/>
          </a:prstGeom>
          <a:ln w="28575">
            <a:solidFill>
              <a:schemeClr val="bg2"/>
            </a:solidFill>
          </a:ln>
        </p:spPr>
        <p:style>
          <a:lnRef idx="2">
            <a:schemeClr val="accent1"/>
          </a:lnRef>
          <a:fillRef idx="0">
            <a:schemeClr val="accent1"/>
          </a:fillRef>
          <a:effectRef idx="1">
            <a:schemeClr val="accent1"/>
          </a:effectRef>
          <a:fontRef idx="minor">
            <a:schemeClr val="tx1"/>
          </a:fontRef>
        </p:style>
      </p:cxnSp>
      <p:cxnSp>
        <p:nvCxnSpPr>
          <p:cNvPr id="28" name="直線コネクタ 27">
            <a:extLst>
              <a:ext uri="{FF2B5EF4-FFF2-40B4-BE49-F238E27FC236}">
                <a16:creationId xmlns:a16="http://schemas.microsoft.com/office/drawing/2014/main" id="{08FC3BDA-2D87-54A6-9ED5-F73214661ADC}"/>
              </a:ext>
            </a:extLst>
          </p:cNvPr>
          <p:cNvCxnSpPr/>
          <p:nvPr/>
        </p:nvCxnSpPr>
        <p:spPr>
          <a:xfrm>
            <a:off x="8470893" y="1879600"/>
            <a:ext cx="1312333" cy="0"/>
          </a:xfrm>
          <a:prstGeom prst="line">
            <a:avLst/>
          </a:prstGeom>
          <a:ln w="28575">
            <a:solidFill>
              <a:schemeClr val="bg2"/>
            </a:solidFill>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6C022CEC-3027-DD5D-C48E-F20633ED11C5}"/>
              </a:ext>
            </a:extLst>
          </p:cNvPr>
          <p:cNvCxnSpPr/>
          <p:nvPr/>
        </p:nvCxnSpPr>
        <p:spPr>
          <a:xfrm>
            <a:off x="6438884" y="1879600"/>
            <a:ext cx="1312333" cy="0"/>
          </a:xfrm>
          <a:prstGeom prst="line">
            <a:avLst/>
          </a:prstGeom>
          <a:ln w="28575">
            <a:solidFill>
              <a:schemeClr val="bg2"/>
            </a:solidFill>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37F81ECE-31F9-2B7B-B513-F354930182BE}"/>
              </a:ext>
            </a:extLst>
          </p:cNvPr>
          <p:cNvCxnSpPr/>
          <p:nvPr/>
        </p:nvCxnSpPr>
        <p:spPr>
          <a:xfrm>
            <a:off x="4406877" y="1879600"/>
            <a:ext cx="1312333" cy="0"/>
          </a:xfrm>
          <a:prstGeom prst="line">
            <a:avLst/>
          </a:prstGeom>
          <a:ln w="28575">
            <a:solidFill>
              <a:schemeClr val="bg2"/>
            </a:solidFill>
          </a:ln>
        </p:spPr>
        <p:style>
          <a:lnRef idx="2">
            <a:schemeClr val="accent1"/>
          </a:lnRef>
          <a:fillRef idx="0">
            <a:schemeClr val="accent1"/>
          </a:fillRef>
          <a:effectRef idx="1">
            <a:schemeClr val="accent1"/>
          </a:effectRef>
          <a:fontRef idx="minor">
            <a:schemeClr val="tx1"/>
          </a:fontRef>
        </p:style>
      </p:cxnSp>
      <p:cxnSp>
        <p:nvCxnSpPr>
          <p:cNvPr id="31" name="直線コネクタ 30">
            <a:extLst>
              <a:ext uri="{FF2B5EF4-FFF2-40B4-BE49-F238E27FC236}">
                <a16:creationId xmlns:a16="http://schemas.microsoft.com/office/drawing/2014/main" id="{4E0C5E12-CCCC-D856-DB7A-854299B4C3B0}"/>
              </a:ext>
            </a:extLst>
          </p:cNvPr>
          <p:cNvCxnSpPr/>
          <p:nvPr/>
        </p:nvCxnSpPr>
        <p:spPr>
          <a:xfrm>
            <a:off x="2374869" y="1879600"/>
            <a:ext cx="1312333" cy="0"/>
          </a:xfrm>
          <a:prstGeom prst="line">
            <a:avLst/>
          </a:prstGeom>
          <a:ln w="28575">
            <a:solidFill>
              <a:schemeClr val="bg2"/>
            </a:solidFill>
          </a:ln>
        </p:spPr>
        <p:style>
          <a:lnRef idx="2">
            <a:schemeClr val="accent1"/>
          </a:lnRef>
          <a:fillRef idx="0">
            <a:schemeClr val="accent1"/>
          </a:fillRef>
          <a:effectRef idx="1">
            <a:schemeClr val="accent1"/>
          </a:effectRef>
          <a:fontRef idx="minor">
            <a:schemeClr val="tx1"/>
          </a:fontRef>
        </p:style>
      </p:cxnSp>
      <p:sp>
        <p:nvSpPr>
          <p:cNvPr id="42" name="フローチャート: 代替処理 41">
            <a:extLst>
              <a:ext uri="{FF2B5EF4-FFF2-40B4-BE49-F238E27FC236}">
                <a16:creationId xmlns:a16="http://schemas.microsoft.com/office/drawing/2014/main" id="{ED0C4CF1-C89D-133F-AC04-6E62F9E1C391}"/>
              </a:ext>
            </a:extLst>
          </p:cNvPr>
          <p:cNvSpPr/>
          <p:nvPr/>
        </p:nvSpPr>
        <p:spPr>
          <a:xfrm>
            <a:off x="5100028" y="4734647"/>
            <a:ext cx="596869" cy="237063"/>
          </a:xfrm>
          <a:prstGeom prst="flowChartAlternateProcess">
            <a:avLst/>
          </a:prstGeom>
          <a:solidFill>
            <a:srgbClr val="FFCC99"/>
          </a:solidFill>
          <a:ln>
            <a:solidFill>
              <a:schemeClr val="accent2"/>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ja-JP" sz="1100" b="1" dirty="0">
                <a:solidFill>
                  <a:schemeClr val="accent2"/>
                </a:solidFill>
              </a:rPr>
              <a:t>0.426</a:t>
            </a:r>
            <a:endParaRPr kumimoji="1" lang="ja-JP" altLang="en-US" sz="1100" b="1" dirty="0">
              <a:solidFill>
                <a:schemeClr val="accent2"/>
              </a:solidFill>
            </a:endParaRPr>
          </a:p>
        </p:txBody>
      </p:sp>
      <p:sp>
        <p:nvSpPr>
          <p:cNvPr id="43" name="フローチャート: 代替処理 42">
            <a:extLst>
              <a:ext uri="{FF2B5EF4-FFF2-40B4-BE49-F238E27FC236}">
                <a16:creationId xmlns:a16="http://schemas.microsoft.com/office/drawing/2014/main" id="{66D80F01-4161-3DA4-8D48-5FCAD918801A}"/>
              </a:ext>
            </a:extLst>
          </p:cNvPr>
          <p:cNvSpPr/>
          <p:nvPr/>
        </p:nvSpPr>
        <p:spPr>
          <a:xfrm>
            <a:off x="7154348" y="4741337"/>
            <a:ext cx="596869" cy="237063"/>
          </a:xfrm>
          <a:prstGeom prst="flowChartAlternateProcess">
            <a:avLst/>
          </a:prstGeom>
          <a:solidFill>
            <a:srgbClr val="FFCC99"/>
          </a:solidFill>
          <a:ln>
            <a:solidFill>
              <a:schemeClr val="accent2"/>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ja-JP" sz="1100" b="1" dirty="0">
                <a:solidFill>
                  <a:schemeClr val="accent2"/>
                </a:solidFill>
              </a:rPr>
              <a:t>0.205</a:t>
            </a:r>
            <a:endParaRPr kumimoji="1" lang="ja-JP" altLang="en-US" sz="1100" b="1" dirty="0">
              <a:solidFill>
                <a:schemeClr val="accent2"/>
              </a:solidFill>
            </a:endParaRPr>
          </a:p>
        </p:txBody>
      </p:sp>
      <p:sp>
        <p:nvSpPr>
          <p:cNvPr id="44" name="フローチャート: 代替処理 43">
            <a:extLst>
              <a:ext uri="{FF2B5EF4-FFF2-40B4-BE49-F238E27FC236}">
                <a16:creationId xmlns:a16="http://schemas.microsoft.com/office/drawing/2014/main" id="{0D2C835E-8602-A20B-E9D1-57F5155576CB}"/>
              </a:ext>
            </a:extLst>
          </p:cNvPr>
          <p:cNvSpPr/>
          <p:nvPr/>
        </p:nvSpPr>
        <p:spPr>
          <a:xfrm>
            <a:off x="9186357" y="4752448"/>
            <a:ext cx="596869" cy="237063"/>
          </a:xfrm>
          <a:prstGeom prst="flowChartAlternateProcess">
            <a:avLst/>
          </a:prstGeom>
          <a:solidFill>
            <a:srgbClr val="FFCC99"/>
          </a:solidFill>
          <a:ln>
            <a:solidFill>
              <a:schemeClr val="accent2"/>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ja-JP" sz="1100" b="1" dirty="0">
                <a:solidFill>
                  <a:schemeClr val="accent2"/>
                </a:solidFill>
              </a:rPr>
              <a:t>0.147</a:t>
            </a:r>
            <a:endParaRPr kumimoji="1" lang="ja-JP" altLang="en-US" sz="1100" b="1" dirty="0">
              <a:solidFill>
                <a:schemeClr val="accent2"/>
              </a:solidFill>
            </a:endParaRPr>
          </a:p>
        </p:txBody>
      </p:sp>
      <p:sp>
        <p:nvSpPr>
          <p:cNvPr id="45" name="矢印: 山形 44">
            <a:extLst>
              <a:ext uri="{FF2B5EF4-FFF2-40B4-BE49-F238E27FC236}">
                <a16:creationId xmlns:a16="http://schemas.microsoft.com/office/drawing/2014/main" id="{F9172146-0DB4-38F4-78B5-695AD936B85A}"/>
              </a:ext>
            </a:extLst>
          </p:cNvPr>
          <p:cNvSpPr/>
          <p:nvPr/>
        </p:nvSpPr>
        <p:spPr>
          <a:xfrm>
            <a:off x="1892282" y="2904067"/>
            <a:ext cx="279403" cy="794808"/>
          </a:xfrm>
          <a:prstGeom prst="chevron">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6" name="矢印: 山形 45">
            <a:extLst>
              <a:ext uri="{FF2B5EF4-FFF2-40B4-BE49-F238E27FC236}">
                <a16:creationId xmlns:a16="http://schemas.microsoft.com/office/drawing/2014/main" id="{561C436D-D948-5317-DA31-E39D58BDAFDB}"/>
              </a:ext>
            </a:extLst>
          </p:cNvPr>
          <p:cNvSpPr/>
          <p:nvPr/>
        </p:nvSpPr>
        <p:spPr>
          <a:xfrm>
            <a:off x="10003358" y="2904067"/>
            <a:ext cx="279403" cy="794808"/>
          </a:xfrm>
          <a:prstGeom prst="chevron">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7" name="矢印: 山形 46">
            <a:extLst>
              <a:ext uri="{FF2B5EF4-FFF2-40B4-BE49-F238E27FC236}">
                <a16:creationId xmlns:a16="http://schemas.microsoft.com/office/drawing/2014/main" id="{64D9731A-065C-21D9-1DD6-10574CE35510}"/>
              </a:ext>
            </a:extLst>
          </p:cNvPr>
          <p:cNvSpPr/>
          <p:nvPr/>
        </p:nvSpPr>
        <p:spPr>
          <a:xfrm>
            <a:off x="7971349" y="2904067"/>
            <a:ext cx="279403" cy="794808"/>
          </a:xfrm>
          <a:prstGeom prst="chevron">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8" name="矢印: 山形 47">
            <a:extLst>
              <a:ext uri="{FF2B5EF4-FFF2-40B4-BE49-F238E27FC236}">
                <a16:creationId xmlns:a16="http://schemas.microsoft.com/office/drawing/2014/main" id="{1F211241-DEBD-1D72-817D-9C54627CB75B}"/>
              </a:ext>
            </a:extLst>
          </p:cNvPr>
          <p:cNvSpPr/>
          <p:nvPr/>
        </p:nvSpPr>
        <p:spPr>
          <a:xfrm>
            <a:off x="5939343" y="2904067"/>
            <a:ext cx="279403" cy="794808"/>
          </a:xfrm>
          <a:prstGeom prst="chevron">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9" name="矢印: 山形 48">
            <a:extLst>
              <a:ext uri="{FF2B5EF4-FFF2-40B4-BE49-F238E27FC236}">
                <a16:creationId xmlns:a16="http://schemas.microsoft.com/office/drawing/2014/main" id="{546281B2-0059-5D4C-DE8A-703A60D16E2F}"/>
              </a:ext>
            </a:extLst>
          </p:cNvPr>
          <p:cNvSpPr/>
          <p:nvPr/>
        </p:nvSpPr>
        <p:spPr>
          <a:xfrm>
            <a:off x="3907335" y="2904067"/>
            <a:ext cx="279403" cy="794808"/>
          </a:xfrm>
          <a:prstGeom prst="chevron">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1" name="フローチャート: 代替処理 50">
            <a:extLst>
              <a:ext uri="{FF2B5EF4-FFF2-40B4-BE49-F238E27FC236}">
                <a16:creationId xmlns:a16="http://schemas.microsoft.com/office/drawing/2014/main" id="{F891E4C9-B0ED-116B-F561-71AEA5623F99}"/>
              </a:ext>
            </a:extLst>
          </p:cNvPr>
          <p:cNvSpPr/>
          <p:nvPr/>
        </p:nvSpPr>
        <p:spPr>
          <a:xfrm>
            <a:off x="10459932" y="4597064"/>
            <a:ext cx="1439333" cy="533377"/>
          </a:xfrm>
          <a:prstGeom prst="flowChartAlternateProcess">
            <a:avLst/>
          </a:prstGeom>
          <a:noFill/>
          <a:ln w="19050" cap="flat" cmpd="sng" algn="ctr">
            <a:solidFill>
              <a:schemeClr val="bg2">
                <a:lumMod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kumimoji="1" lang="ja-JP" altLang="en-US"/>
          </a:p>
        </p:txBody>
      </p:sp>
      <p:sp>
        <p:nvSpPr>
          <p:cNvPr id="52" name="フローチャート: 代替処理 51">
            <a:extLst>
              <a:ext uri="{FF2B5EF4-FFF2-40B4-BE49-F238E27FC236}">
                <a16:creationId xmlns:a16="http://schemas.microsoft.com/office/drawing/2014/main" id="{CC05CAFD-84EC-E4C5-48A7-E34C5545B80A}"/>
              </a:ext>
            </a:extLst>
          </p:cNvPr>
          <p:cNvSpPr/>
          <p:nvPr/>
        </p:nvSpPr>
        <p:spPr>
          <a:xfrm>
            <a:off x="4343376" y="4593178"/>
            <a:ext cx="1439333" cy="533377"/>
          </a:xfrm>
          <a:prstGeom prst="flowChartAlternateProcess">
            <a:avLst/>
          </a:prstGeom>
          <a:noFill/>
          <a:ln w="19050" cap="flat" cmpd="sng" algn="ctr">
            <a:solidFill>
              <a:schemeClr val="bg2">
                <a:lumMod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kumimoji="1" lang="ja-JP" altLang="en-US"/>
          </a:p>
        </p:txBody>
      </p:sp>
      <p:sp>
        <p:nvSpPr>
          <p:cNvPr id="53" name="フローチャート: 代替処理 52">
            <a:extLst>
              <a:ext uri="{FF2B5EF4-FFF2-40B4-BE49-F238E27FC236}">
                <a16:creationId xmlns:a16="http://schemas.microsoft.com/office/drawing/2014/main" id="{5B1E3391-4C30-57EA-9CF7-9C02CD42F13A}"/>
              </a:ext>
            </a:extLst>
          </p:cNvPr>
          <p:cNvSpPr/>
          <p:nvPr/>
        </p:nvSpPr>
        <p:spPr>
          <a:xfrm>
            <a:off x="8407389" y="4593177"/>
            <a:ext cx="1439333" cy="533377"/>
          </a:xfrm>
          <a:prstGeom prst="flowChartAlternateProcess">
            <a:avLst/>
          </a:prstGeom>
          <a:noFill/>
          <a:ln w="19050" cap="flat" cmpd="sng" algn="ctr">
            <a:solidFill>
              <a:schemeClr val="bg2">
                <a:lumMod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kumimoji="1" lang="ja-JP" altLang="en-US"/>
          </a:p>
        </p:txBody>
      </p:sp>
      <p:sp>
        <p:nvSpPr>
          <p:cNvPr id="54" name="フローチャート: 代替処理 53">
            <a:extLst>
              <a:ext uri="{FF2B5EF4-FFF2-40B4-BE49-F238E27FC236}">
                <a16:creationId xmlns:a16="http://schemas.microsoft.com/office/drawing/2014/main" id="{252BE279-BAEA-C684-05B1-22CBFD9F97B1}"/>
              </a:ext>
            </a:extLst>
          </p:cNvPr>
          <p:cNvSpPr/>
          <p:nvPr/>
        </p:nvSpPr>
        <p:spPr>
          <a:xfrm>
            <a:off x="6375383" y="4596068"/>
            <a:ext cx="1439333" cy="533377"/>
          </a:xfrm>
          <a:prstGeom prst="flowChartAlternateProcess">
            <a:avLst/>
          </a:prstGeom>
          <a:noFill/>
          <a:ln w="19050" cap="flat" cmpd="sng" algn="ctr">
            <a:solidFill>
              <a:schemeClr val="bg2">
                <a:lumMod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kumimoji="1" lang="ja-JP" altLang="en-US"/>
          </a:p>
        </p:txBody>
      </p:sp>
      <p:sp>
        <p:nvSpPr>
          <p:cNvPr id="55" name="フローチャート: 代替処理 54">
            <a:extLst>
              <a:ext uri="{FF2B5EF4-FFF2-40B4-BE49-F238E27FC236}">
                <a16:creationId xmlns:a16="http://schemas.microsoft.com/office/drawing/2014/main" id="{4DA2CA52-33FA-97B1-FD71-AF413CF3F2A2}"/>
              </a:ext>
            </a:extLst>
          </p:cNvPr>
          <p:cNvSpPr/>
          <p:nvPr/>
        </p:nvSpPr>
        <p:spPr>
          <a:xfrm>
            <a:off x="2311368" y="4593179"/>
            <a:ext cx="1439333" cy="533377"/>
          </a:xfrm>
          <a:prstGeom prst="flowChartAlternateProcess">
            <a:avLst/>
          </a:prstGeom>
          <a:noFill/>
          <a:ln w="19050" cap="flat" cmpd="sng" algn="ctr">
            <a:solidFill>
              <a:schemeClr val="bg2">
                <a:lumMod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kumimoji="1" lang="ja-JP" altLang="en-US"/>
          </a:p>
        </p:txBody>
      </p:sp>
      <p:pic>
        <p:nvPicPr>
          <p:cNvPr id="57" name="コンテンツ プレースホルダー 56" descr="データベース 単色塗りつぶし">
            <a:extLst>
              <a:ext uri="{FF2B5EF4-FFF2-40B4-BE49-F238E27FC236}">
                <a16:creationId xmlns:a16="http://schemas.microsoft.com/office/drawing/2014/main" id="{7A77FE04-0456-41C5-834D-DFEB551E0946}"/>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635262" y="3509745"/>
            <a:ext cx="795338" cy="795338"/>
          </a:xfrm>
        </p:spPr>
      </p:pic>
      <p:pic>
        <p:nvPicPr>
          <p:cNvPr id="59" name="グラフィックス 58" descr="周期的グラフ 単色塗りつぶし">
            <a:extLst>
              <a:ext uri="{FF2B5EF4-FFF2-40B4-BE49-F238E27FC236}">
                <a16:creationId xmlns:a16="http://schemas.microsoft.com/office/drawing/2014/main" id="{F4C75849-5E0D-C742-FC56-01268354968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701866" y="3450214"/>
            <a:ext cx="914400" cy="914400"/>
          </a:xfrm>
          <a:prstGeom prst="rect">
            <a:avLst/>
          </a:prstGeom>
        </p:spPr>
      </p:pic>
      <p:sp>
        <p:nvSpPr>
          <p:cNvPr id="60" name="フローチャート: 代替処理 59">
            <a:extLst>
              <a:ext uri="{FF2B5EF4-FFF2-40B4-BE49-F238E27FC236}">
                <a16:creationId xmlns:a16="http://schemas.microsoft.com/office/drawing/2014/main" id="{7B7B786D-1C25-3FBE-9DF0-99627A4FF275}"/>
              </a:ext>
            </a:extLst>
          </p:cNvPr>
          <p:cNvSpPr/>
          <p:nvPr/>
        </p:nvSpPr>
        <p:spPr>
          <a:xfrm>
            <a:off x="313267" y="5537200"/>
            <a:ext cx="11501968" cy="955674"/>
          </a:xfrm>
          <a:prstGeom prst="flowChartAlternateProcess">
            <a:avLst/>
          </a:prstGeom>
          <a:solidFill>
            <a:schemeClr val="accent1"/>
          </a:solidFill>
          <a:ln>
            <a:solidFill>
              <a:schemeClr val="accent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a:p>
        </p:txBody>
      </p:sp>
      <p:sp>
        <p:nvSpPr>
          <p:cNvPr id="61" name="フローチャート: 代替処理 60">
            <a:extLst>
              <a:ext uri="{FF2B5EF4-FFF2-40B4-BE49-F238E27FC236}">
                <a16:creationId xmlns:a16="http://schemas.microsoft.com/office/drawing/2014/main" id="{49A163CA-3B22-A503-25DF-C78AF3FE4E15}"/>
              </a:ext>
            </a:extLst>
          </p:cNvPr>
          <p:cNvSpPr/>
          <p:nvPr/>
        </p:nvSpPr>
        <p:spPr>
          <a:xfrm>
            <a:off x="376765" y="5530056"/>
            <a:ext cx="11438469" cy="955674"/>
          </a:xfrm>
          <a:prstGeom prst="flowChartAlternateProcess">
            <a:avLst/>
          </a:prstGeom>
          <a:solidFill>
            <a:schemeClr val="tx2">
              <a:lumMod val="25000"/>
              <a:lumOff val="75000"/>
            </a:schemeClr>
          </a:solidFill>
          <a:ln>
            <a:solidFill>
              <a:schemeClr val="tx2">
                <a:lumMod val="25000"/>
                <a:lumOff val="75000"/>
              </a:schemeClr>
            </a:solidFill>
          </a:ln>
        </p:spPr>
        <p:style>
          <a:lnRef idx="1">
            <a:schemeClr val="accent1"/>
          </a:lnRef>
          <a:fillRef idx="2">
            <a:schemeClr val="accent1"/>
          </a:fillRef>
          <a:effectRef idx="1">
            <a:schemeClr val="accent1"/>
          </a:effectRef>
          <a:fontRef idx="minor">
            <a:schemeClr val="dk1"/>
          </a:fontRef>
        </p:style>
        <p:txBody>
          <a:bodyPr rtlCol="0" anchor="ctr"/>
          <a:lstStyle/>
          <a:p>
            <a:r>
              <a:rPr lang="en-US" altLang="ja-JP" b="1" dirty="0"/>
              <a:t>     Global Optimization Parameters</a:t>
            </a:r>
          </a:p>
          <a:p>
            <a:r>
              <a:rPr lang="en-US" altLang="ja-JP" sz="1400" b="1" dirty="0">
                <a:solidFill>
                  <a:schemeClr val="bg2">
                    <a:lumMod val="50000"/>
                  </a:schemeClr>
                </a:solidFill>
              </a:rPr>
              <a:t>       </a:t>
            </a:r>
            <a:r>
              <a:rPr lang="en-US" altLang="ja-JP" sz="1400" b="1" dirty="0" err="1">
                <a:solidFill>
                  <a:schemeClr val="bg2">
                    <a:lumMod val="50000"/>
                  </a:schemeClr>
                </a:solidFill>
              </a:rPr>
              <a:t>Optuna</a:t>
            </a:r>
            <a:r>
              <a:rPr lang="ja-JP" altLang="en-US" sz="1400" b="1" dirty="0">
                <a:solidFill>
                  <a:schemeClr val="bg2">
                    <a:lumMod val="50000"/>
                  </a:schemeClr>
                </a:solidFill>
              </a:rPr>
              <a:t>による自動探索結果</a:t>
            </a:r>
          </a:p>
        </p:txBody>
      </p:sp>
      <p:sp>
        <p:nvSpPr>
          <p:cNvPr id="62" name="フローチャート: 代替処理 61">
            <a:extLst>
              <a:ext uri="{FF2B5EF4-FFF2-40B4-BE49-F238E27FC236}">
                <a16:creationId xmlns:a16="http://schemas.microsoft.com/office/drawing/2014/main" id="{64033C4A-5BEE-1437-D554-7BA2759691BD}"/>
              </a:ext>
            </a:extLst>
          </p:cNvPr>
          <p:cNvSpPr/>
          <p:nvPr/>
        </p:nvSpPr>
        <p:spPr>
          <a:xfrm>
            <a:off x="4440720" y="5851127"/>
            <a:ext cx="2072269" cy="320673"/>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600" b="1" cap="all" dirty="0">
                <a:solidFill>
                  <a:schemeClr val="bg2">
                    <a:lumMod val="50000"/>
                  </a:schemeClr>
                </a:solidFill>
              </a:rPr>
              <a:t>Optimizer</a:t>
            </a:r>
            <a:r>
              <a:rPr lang="en-US" altLang="ja-JP" sz="1600" cap="all" dirty="0"/>
              <a:t>  </a:t>
            </a:r>
            <a:r>
              <a:rPr lang="en-US" altLang="ja-JP" sz="1600" b="1" dirty="0">
                <a:solidFill>
                  <a:srgbClr val="0070C0"/>
                </a:solidFill>
              </a:rPr>
              <a:t>Adam</a:t>
            </a:r>
            <a:endParaRPr kumimoji="1" lang="ja-JP" altLang="en-US" sz="1600" dirty="0">
              <a:solidFill>
                <a:srgbClr val="0070C0"/>
              </a:solidFill>
            </a:endParaRPr>
          </a:p>
        </p:txBody>
      </p:sp>
      <p:sp>
        <p:nvSpPr>
          <p:cNvPr id="63" name="フローチャート: 代替処理 62">
            <a:extLst>
              <a:ext uri="{FF2B5EF4-FFF2-40B4-BE49-F238E27FC236}">
                <a16:creationId xmlns:a16="http://schemas.microsoft.com/office/drawing/2014/main" id="{A14212DD-F4F5-000E-15E7-7460AE348B7A}"/>
              </a:ext>
            </a:extLst>
          </p:cNvPr>
          <p:cNvSpPr/>
          <p:nvPr/>
        </p:nvSpPr>
        <p:spPr>
          <a:xfrm>
            <a:off x="6565900" y="5851127"/>
            <a:ext cx="2497666" cy="320673"/>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600" b="1" cap="all" dirty="0" err="1">
                <a:solidFill>
                  <a:schemeClr val="bg2">
                    <a:lumMod val="50000"/>
                  </a:schemeClr>
                </a:solidFill>
              </a:rPr>
              <a:t>leaningrate</a:t>
            </a:r>
            <a:r>
              <a:rPr lang="en-US" altLang="ja-JP" sz="1600" cap="all" dirty="0"/>
              <a:t>  </a:t>
            </a:r>
            <a:r>
              <a:rPr lang="en-US" altLang="ja-JP" sz="1600" b="1" dirty="0">
                <a:solidFill>
                  <a:srgbClr val="0070C0"/>
                </a:solidFill>
              </a:rPr>
              <a:t>0.0076</a:t>
            </a:r>
            <a:endParaRPr kumimoji="1" lang="ja-JP" altLang="en-US" sz="1600" dirty="0">
              <a:solidFill>
                <a:srgbClr val="0070C0"/>
              </a:solidFill>
            </a:endParaRPr>
          </a:p>
        </p:txBody>
      </p:sp>
      <p:sp>
        <p:nvSpPr>
          <p:cNvPr id="64" name="フローチャート: 代替処理 63">
            <a:extLst>
              <a:ext uri="{FF2B5EF4-FFF2-40B4-BE49-F238E27FC236}">
                <a16:creationId xmlns:a16="http://schemas.microsoft.com/office/drawing/2014/main" id="{2FBAC5C0-91FC-393D-005D-3B2874E8D0CA}"/>
              </a:ext>
            </a:extLst>
          </p:cNvPr>
          <p:cNvSpPr/>
          <p:nvPr/>
        </p:nvSpPr>
        <p:spPr>
          <a:xfrm>
            <a:off x="9127063" y="5843981"/>
            <a:ext cx="2635259" cy="320673"/>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1600" b="1" cap="all" dirty="0">
                <a:solidFill>
                  <a:schemeClr val="bg2">
                    <a:lumMod val="50000"/>
                  </a:schemeClr>
                </a:solidFill>
              </a:rPr>
              <a:t>epochs</a:t>
            </a:r>
            <a:r>
              <a:rPr lang="en-US" altLang="ja-JP" sz="1600" cap="all" dirty="0"/>
              <a:t>  </a:t>
            </a:r>
            <a:r>
              <a:rPr lang="en-US" altLang="ja-JP" sz="1600" b="1" cap="all" dirty="0">
                <a:solidFill>
                  <a:srgbClr val="0070C0"/>
                </a:solidFill>
              </a:rPr>
              <a:t>E</a:t>
            </a:r>
            <a:r>
              <a:rPr lang="en-US" altLang="ja-JP" sz="1600" b="1" dirty="0">
                <a:solidFill>
                  <a:srgbClr val="0070C0"/>
                </a:solidFill>
              </a:rPr>
              <a:t>arly Stopping</a:t>
            </a:r>
            <a:endParaRPr kumimoji="1" lang="ja-JP" altLang="en-US" sz="1600" dirty="0">
              <a:solidFill>
                <a:srgbClr val="0070C0"/>
              </a:solidFill>
            </a:endParaRPr>
          </a:p>
        </p:txBody>
      </p:sp>
      <p:pic>
        <p:nvPicPr>
          <p:cNvPr id="4" name="グラフィックス 3" descr="歯車 1 つ 単色塗りつぶし">
            <a:extLst>
              <a:ext uri="{FF2B5EF4-FFF2-40B4-BE49-F238E27FC236}">
                <a16:creationId xmlns:a16="http://schemas.microsoft.com/office/drawing/2014/main" id="{8397BBCC-1FEA-C5A6-5971-21E682D544A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6764" y="5789216"/>
            <a:ext cx="444493" cy="444493"/>
          </a:xfrm>
          <a:prstGeom prst="rect">
            <a:avLst/>
          </a:prstGeom>
        </p:spPr>
      </p:pic>
      <p:cxnSp>
        <p:nvCxnSpPr>
          <p:cNvPr id="3" name="直線コネクタ 2">
            <a:extLst>
              <a:ext uri="{FF2B5EF4-FFF2-40B4-BE49-F238E27FC236}">
                <a16:creationId xmlns:a16="http://schemas.microsoft.com/office/drawing/2014/main" id="{48232CB8-6EA6-37B1-DB0C-09BF0464BBBB}"/>
              </a:ext>
            </a:extLst>
          </p:cNvPr>
          <p:cNvCxnSpPr/>
          <p:nvPr/>
        </p:nvCxnSpPr>
        <p:spPr>
          <a:xfrm>
            <a:off x="839788" y="365125"/>
            <a:ext cx="0" cy="677291"/>
          </a:xfrm>
          <a:prstGeom prst="line">
            <a:avLst/>
          </a:prstGeom>
          <a:ln w="762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5" name="直線コネクタ 4">
            <a:extLst>
              <a:ext uri="{FF2B5EF4-FFF2-40B4-BE49-F238E27FC236}">
                <a16:creationId xmlns:a16="http://schemas.microsoft.com/office/drawing/2014/main" id="{AF68A317-DDA4-5C00-16DB-0ACEDCAE868C}"/>
              </a:ext>
            </a:extLst>
          </p:cNvPr>
          <p:cNvCxnSpPr/>
          <p:nvPr/>
        </p:nvCxnSpPr>
        <p:spPr>
          <a:xfrm>
            <a:off x="0" y="0"/>
            <a:ext cx="12192000" cy="0"/>
          </a:xfrm>
          <a:prstGeom prst="line">
            <a:avLst/>
          </a:prstGeom>
          <a:ln w="762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1637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A3935-317D-0851-56F3-035C1E4E173C}"/>
              </a:ext>
            </a:extLst>
          </p:cNvPr>
          <p:cNvSpPr>
            <a:spLocks noGrp="1"/>
          </p:cNvSpPr>
          <p:nvPr>
            <p:ph type="title"/>
          </p:nvPr>
        </p:nvSpPr>
        <p:spPr>
          <a:xfrm>
            <a:off x="838200" y="365126"/>
            <a:ext cx="10515600" cy="744008"/>
          </a:xfrm>
        </p:spPr>
        <p:txBody>
          <a:bodyPr/>
          <a:lstStyle/>
          <a:p>
            <a:r>
              <a:rPr lang="ja-JP" altLang="en-US" b="1" dirty="0"/>
              <a:t>結果：精度向上の達成</a:t>
            </a:r>
            <a:endParaRPr kumimoji="1" lang="ja-JP" altLang="en-US" dirty="0"/>
          </a:p>
        </p:txBody>
      </p:sp>
      <p:sp>
        <p:nvSpPr>
          <p:cNvPr id="4" name="フローチャート: 代替処理 3">
            <a:extLst>
              <a:ext uri="{FF2B5EF4-FFF2-40B4-BE49-F238E27FC236}">
                <a16:creationId xmlns:a16="http://schemas.microsoft.com/office/drawing/2014/main" id="{8CBEC4BC-E8A1-227D-23E4-DE75329695A6}"/>
              </a:ext>
            </a:extLst>
          </p:cNvPr>
          <p:cNvSpPr/>
          <p:nvPr/>
        </p:nvSpPr>
        <p:spPr>
          <a:xfrm>
            <a:off x="601133" y="1109134"/>
            <a:ext cx="5080000" cy="5232399"/>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フローチャート: 代替処理 4">
            <a:extLst>
              <a:ext uri="{FF2B5EF4-FFF2-40B4-BE49-F238E27FC236}">
                <a16:creationId xmlns:a16="http://schemas.microsoft.com/office/drawing/2014/main" id="{D3BDB65D-8434-0AB8-0186-9E9D7B7BD93E}"/>
              </a:ext>
            </a:extLst>
          </p:cNvPr>
          <p:cNvSpPr/>
          <p:nvPr/>
        </p:nvSpPr>
        <p:spPr>
          <a:xfrm>
            <a:off x="601133" y="1185334"/>
            <a:ext cx="5080000" cy="5156199"/>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b="1" cap="all" dirty="0"/>
              <a:t>Test RMSE</a:t>
            </a:r>
          </a:p>
          <a:p>
            <a:pPr algn="ctr"/>
            <a:r>
              <a:rPr lang="en-US" altLang="ja-JP" sz="8000" b="1" dirty="0">
                <a:solidFill>
                  <a:schemeClr val="accent1"/>
                </a:solidFill>
              </a:rPr>
              <a:t>16.87</a:t>
            </a:r>
          </a:p>
          <a:p>
            <a:pPr algn="ctr"/>
            <a:endParaRPr lang="en-US" altLang="ja-JP" b="1" cap="all" dirty="0"/>
          </a:p>
          <a:p>
            <a:pPr algn="ctr"/>
            <a:endParaRPr lang="en-US" altLang="ja-JP" b="1" cap="all" dirty="0"/>
          </a:p>
          <a:p>
            <a:pPr algn="ctr"/>
            <a:r>
              <a:rPr lang="en-US" altLang="ja-JP" b="1" cap="all" dirty="0">
                <a:solidFill>
                  <a:schemeClr val="bg2">
                    <a:lumMod val="50000"/>
                  </a:schemeClr>
                </a:solidFill>
              </a:rPr>
              <a:t>Initial Model</a:t>
            </a:r>
            <a:r>
              <a:rPr lang="en-US" altLang="ja-JP" b="1" cap="all" dirty="0"/>
              <a:t>               </a:t>
            </a:r>
            <a:r>
              <a:rPr lang="en-US" altLang="ja-JP" b="1" cap="all" dirty="0">
                <a:solidFill>
                  <a:schemeClr val="accent1"/>
                </a:solidFill>
              </a:rPr>
              <a:t>Final Model</a:t>
            </a:r>
          </a:p>
          <a:p>
            <a:pPr algn="ctr"/>
            <a:r>
              <a:rPr lang="en-US" altLang="ja-JP" sz="2800" b="1" dirty="0">
                <a:solidFill>
                  <a:schemeClr val="bg2">
                    <a:lumMod val="50000"/>
                  </a:schemeClr>
                </a:solidFill>
              </a:rPr>
              <a:t>43.14</a:t>
            </a:r>
            <a:r>
              <a:rPr lang="en-US" altLang="ja-JP" sz="2800" b="1" dirty="0"/>
              <a:t>                 </a:t>
            </a:r>
            <a:r>
              <a:rPr lang="en-US" altLang="ja-JP" sz="2800" b="1" dirty="0">
                <a:solidFill>
                  <a:schemeClr val="accent1"/>
                </a:solidFill>
              </a:rPr>
              <a:t>16.87</a:t>
            </a:r>
          </a:p>
          <a:p>
            <a:pPr algn="ctr"/>
            <a:endParaRPr lang="en-US" altLang="ja-JP" sz="2800" b="1" dirty="0"/>
          </a:p>
          <a:p>
            <a:pPr algn="ctr"/>
            <a:endParaRPr kumimoji="1" lang="ja-JP" altLang="en-US" dirty="0"/>
          </a:p>
        </p:txBody>
      </p:sp>
      <p:sp>
        <p:nvSpPr>
          <p:cNvPr id="6" name="四角形: 角を丸くする 5">
            <a:extLst>
              <a:ext uri="{FF2B5EF4-FFF2-40B4-BE49-F238E27FC236}">
                <a16:creationId xmlns:a16="http://schemas.microsoft.com/office/drawing/2014/main" id="{6C25CAFE-8FE2-DEB2-E23A-ED6EDC4DDDFD}"/>
              </a:ext>
            </a:extLst>
          </p:cNvPr>
          <p:cNvSpPr/>
          <p:nvPr/>
        </p:nvSpPr>
        <p:spPr>
          <a:xfrm>
            <a:off x="1041400" y="4969933"/>
            <a:ext cx="4191000" cy="1134534"/>
          </a:xfrm>
          <a:prstGeom prst="round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rPr>
              <a:t>     成功要因</a:t>
            </a:r>
            <a:br>
              <a:rPr lang="en-US" altLang="ja-JP" sz="1400" b="1" dirty="0">
                <a:solidFill>
                  <a:schemeClr val="tx1"/>
                </a:solidFill>
              </a:rPr>
            </a:br>
            <a:r>
              <a:rPr lang="en-US" altLang="ja-JP" sz="1400" b="1" dirty="0">
                <a:solidFill>
                  <a:schemeClr val="tx1"/>
                </a:solidFill>
              </a:rPr>
              <a:t>     </a:t>
            </a:r>
            <a:r>
              <a:rPr lang="ja-JP" altLang="en-US" sz="1200" b="1" dirty="0">
                <a:solidFill>
                  <a:srgbClr val="002060"/>
                </a:solidFill>
              </a:rPr>
              <a:t>広告ラグ特徴量</a:t>
            </a:r>
            <a:r>
              <a:rPr lang="ja-JP" altLang="en-US" sz="1200" dirty="0">
                <a:solidFill>
                  <a:schemeClr val="tx1"/>
                </a:solidFill>
              </a:rPr>
              <a:t>と</a:t>
            </a:r>
            <a:r>
              <a:rPr lang="en-US" altLang="ja-JP" sz="1200" b="1" dirty="0">
                <a:solidFill>
                  <a:srgbClr val="002060"/>
                </a:solidFill>
              </a:rPr>
              <a:t>BERT</a:t>
            </a:r>
            <a:r>
              <a:rPr lang="ja-JP" altLang="en-US" sz="1200" b="1" dirty="0">
                <a:solidFill>
                  <a:srgbClr val="002060"/>
                </a:solidFill>
              </a:rPr>
              <a:t>特徴量</a:t>
            </a:r>
            <a:r>
              <a:rPr lang="ja-JP" altLang="en-US" sz="1200" dirty="0">
                <a:solidFill>
                  <a:schemeClr val="tx1"/>
                </a:solidFill>
              </a:rPr>
              <a:t>の導入、</a:t>
            </a:r>
            <a:r>
              <a:rPr lang="ja-JP" altLang="en-US" sz="1200" b="1" dirty="0">
                <a:solidFill>
                  <a:srgbClr val="002060"/>
                </a:solidFill>
              </a:rPr>
              <a:t>反復的　　　</a:t>
            </a:r>
            <a:endParaRPr lang="en-US" altLang="ja-JP" sz="1200" b="1" dirty="0">
              <a:solidFill>
                <a:srgbClr val="002060"/>
              </a:solidFill>
            </a:endParaRPr>
          </a:p>
          <a:p>
            <a:r>
              <a:rPr lang="ja-JP" altLang="en-US" sz="1200" b="1" dirty="0">
                <a:solidFill>
                  <a:srgbClr val="002060"/>
                </a:solidFill>
              </a:rPr>
              <a:t>      な特徴量選択</a:t>
            </a:r>
            <a:r>
              <a:rPr lang="ja-JP" altLang="en-US" sz="1200" dirty="0">
                <a:solidFill>
                  <a:schemeClr val="tx1"/>
                </a:solidFill>
              </a:rPr>
              <a:t>（</a:t>
            </a:r>
            <a:r>
              <a:rPr lang="en-US" altLang="ja-JP" sz="1200" dirty="0" err="1">
                <a:solidFill>
                  <a:schemeClr val="tx1"/>
                </a:solidFill>
              </a:rPr>
              <a:t>PI+Optuna</a:t>
            </a:r>
            <a:r>
              <a:rPr lang="ja-JP" altLang="en-US" sz="1200" dirty="0">
                <a:solidFill>
                  <a:schemeClr val="tx1"/>
                </a:solidFill>
              </a:rPr>
              <a:t>）により、ノイズを除去    </a:t>
            </a:r>
            <a:endParaRPr lang="en-US" altLang="ja-JP" sz="1200" dirty="0">
              <a:solidFill>
                <a:schemeClr val="tx1"/>
              </a:solidFill>
            </a:endParaRPr>
          </a:p>
          <a:p>
            <a:r>
              <a:rPr lang="en-US" altLang="ja-JP" sz="1200" dirty="0">
                <a:solidFill>
                  <a:schemeClr val="tx1"/>
                </a:solidFill>
              </a:rPr>
              <a:t>      </a:t>
            </a:r>
            <a:r>
              <a:rPr lang="ja-JP" altLang="en-US" sz="1200" dirty="0">
                <a:solidFill>
                  <a:schemeClr val="tx1"/>
                </a:solidFill>
              </a:rPr>
              <a:t>しつつ本質的な需要構造を捉えることに成功。</a:t>
            </a:r>
            <a:endParaRPr lang="ja-JP" altLang="en-US" sz="1400" dirty="0">
              <a:solidFill>
                <a:schemeClr val="tx1"/>
              </a:solidFill>
            </a:endParaRPr>
          </a:p>
        </p:txBody>
      </p:sp>
      <p:sp>
        <p:nvSpPr>
          <p:cNvPr id="7" name="矢印: 右 6">
            <a:extLst>
              <a:ext uri="{FF2B5EF4-FFF2-40B4-BE49-F238E27FC236}">
                <a16:creationId xmlns:a16="http://schemas.microsoft.com/office/drawing/2014/main" id="{DF1F27FC-FB86-4728-EEAE-1DFC71F8EA0D}"/>
              </a:ext>
            </a:extLst>
          </p:cNvPr>
          <p:cNvSpPr/>
          <p:nvPr/>
        </p:nvSpPr>
        <p:spPr>
          <a:xfrm>
            <a:off x="2865966" y="4377267"/>
            <a:ext cx="541867" cy="211666"/>
          </a:xfrm>
          <a:prstGeom prst="rightArrow">
            <a:avLst/>
          </a:prstGeom>
          <a:solidFill>
            <a:schemeClr val="bg2">
              <a:lumMod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フローチャート: 代替処理 7">
            <a:extLst>
              <a:ext uri="{FF2B5EF4-FFF2-40B4-BE49-F238E27FC236}">
                <a16:creationId xmlns:a16="http://schemas.microsoft.com/office/drawing/2014/main" id="{9BB84AF1-A5CA-B8F7-D976-0E2C34209B1E}"/>
              </a:ext>
            </a:extLst>
          </p:cNvPr>
          <p:cNvSpPr/>
          <p:nvPr/>
        </p:nvSpPr>
        <p:spPr>
          <a:xfrm rot="447623">
            <a:off x="3992146" y="1410033"/>
            <a:ext cx="1382273" cy="886216"/>
          </a:xfrm>
          <a:prstGeom prst="flowChartAlternateProcess">
            <a:avLst/>
          </a:prstGeom>
          <a:solidFill>
            <a:schemeClr val="accent2">
              <a:lumMod val="20000"/>
              <a:lumOff val="80000"/>
            </a:schemeClr>
          </a:solidFill>
          <a:ln w="28575">
            <a:solidFill>
              <a:schemeClr val="accent2"/>
            </a:solidFill>
          </a:ln>
          <a:effectLst>
            <a:glow rad="63500">
              <a:schemeClr val="accent2">
                <a:satMod val="175000"/>
                <a:alpha val="40000"/>
              </a:schemeClr>
            </a:glo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ja-JP" sz="2800" b="1" dirty="0">
                <a:solidFill>
                  <a:schemeClr val="accent2"/>
                </a:solidFill>
              </a:rPr>
              <a:t>60.8%</a:t>
            </a:r>
          </a:p>
          <a:p>
            <a:pPr algn="ctr"/>
            <a:r>
              <a:rPr lang="ja-JP" altLang="en-US" sz="1400" b="1" cap="all" dirty="0">
                <a:solidFill>
                  <a:schemeClr val="accent2"/>
                </a:solidFill>
              </a:rPr>
              <a:t>精度改善</a:t>
            </a:r>
            <a:endParaRPr kumimoji="1" lang="ja-JP" altLang="en-US" sz="1400" dirty="0">
              <a:solidFill>
                <a:schemeClr val="accent2"/>
              </a:solidFill>
            </a:endParaRPr>
          </a:p>
        </p:txBody>
      </p:sp>
      <p:graphicFrame>
        <p:nvGraphicFramePr>
          <p:cNvPr id="14" name="グラフ 13">
            <a:extLst>
              <a:ext uri="{FF2B5EF4-FFF2-40B4-BE49-F238E27FC236}">
                <a16:creationId xmlns:a16="http://schemas.microsoft.com/office/drawing/2014/main" id="{FA8ADC16-0B78-2EF2-1663-7BEF37EE526E}"/>
              </a:ext>
            </a:extLst>
          </p:cNvPr>
          <p:cNvGraphicFramePr/>
          <p:nvPr>
            <p:extLst>
              <p:ext uri="{D42A27DB-BD31-4B8C-83A1-F6EECF244321}">
                <p14:modId xmlns:p14="http://schemas.microsoft.com/office/powerpoint/2010/main" val="2718965604"/>
              </p:ext>
            </p:extLst>
          </p:nvPr>
        </p:nvGraphicFramePr>
        <p:xfrm>
          <a:off x="5929098" y="1324045"/>
          <a:ext cx="5672667" cy="4780421"/>
        </p:xfrm>
        <a:graphic>
          <a:graphicData uri="http://schemas.openxmlformats.org/drawingml/2006/chart">
            <c:chart xmlns:c="http://schemas.openxmlformats.org/drawingml/2006/chart" xmlns:r="http://schemas.openxmlformats.org/officeDocument/2006/relationships" r:id="rId2"/>
          </a:graphicData>
        </a:graphic>
      </p:graphicFrame>
      <p:pic>
        <p:nvPicPr>
          <p:cNvPr id="9" name="グラフィックス 8" descr="バッジ: チェックマーク 単色塗りつぶし">
            <a:extLst>
              <a:ext uri="{FF2B5EF4-FFF2-40B4-BE49-F238E27FC236}">
                <a16:creationId xmlns:a16="http://schemas.microsoft.com/office/drawing/2014/main" id="{24A8DCE7-7987-2A46-C081-EB3741941D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400" y="5037310"/>
            <a:ext cx="429840" cy="429840"/>
          </a:xfrm>
          <a:prstGeom prst="rect">
            <a:avLst/>
          </a:prstGeom>
        </p:spPr>
      </p:pic>
      <p:pic>
        <p:nvPicPr>
          <p:cNvPr id="10" name="グラフィックス 9" descr="棒グラフ 単色塗りつぶし">
            <a:extLst>
              <a:ext uri="{FF2B5EF4-FFF2-40B4-BE49-F238E27FC236}">
                <a16:creationId xmlns:a16="http://schemas.microsoft.com/office/drawing/2014/main" id="{06F494A2-54AE-4590-E861-D58399BA231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5400000" flipH="1">
            <a:off x="6336992" y="1428061"/>
            <a:ext cx="327260" cy="327260"/>
          </a:xfrm>
          <a:prstGeom prst="rect">
            <a:avLst/>
          </a:prstGeom>
        </p:spPr>
      </p:pic>
      <p:cxnSp>
        <p:nvCxnSpPr>
          <p:cNvPr id="3" name="直線コネクタ 2">
            <a:extLst>
              <a:ext uri="{FF2B5EF4-FFF2-40B4-BE49-F238E27FC236}">
                <a16:creationId xmlns:a16="http://schemas.microsoft.com/office/drawing/2014/main" id="{F5A8B2F2-2283-07BD-CA79-F704EB4245B7}"/>
              </a:ext>
            </a:extLst>
          </p:cNvPr>
          <p:cNvCxnSpPr/>
          <p:nvPr/>
        </p:nvCxnSpPr>
        <p:spPr>
          <a:xfrm>
            <a:off x="839788" y="365125"/>
            <a:ext cx="0" cy="677291"/>
          </a:xfrm>
          <a:prstGeom prst="line">
            <a:avLst/>
          </a:prstGeom>
          <a:ln w="762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1" name="直線コネクタ 10">
            <a:extLst>
              <a:ext uri="{FF2B5EF4-FFF2-40B4-BE49-F238E27FC236}">
                <a16:creationId xmlns:a16="http://schemas.microsoft.com/office/drawing/2014/main" id="{92E7B511-F292-1A86-5567-5C6C29960F4A}"/>
              </a:ext>
            </a:extLst>
          </p:cNvPr>
          <p:cNvCxnSpPr/>
          <p:nvPr/>
        </p:nvCxnSpPr>
        <p:spPr>
          <a:xfrm>
            <a:off x="0" y="0"/>
            <a:ext cx="12192000" cy="0"/>
          </a:xfrm>
          <a:prstGeom prst="line">
            <a:avLst/>
          </a:prstGeom>
          <a:ln w="762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71775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D2F8D5-A920-9D29-1DB6-4650199F2ADA}"/>
              </a:ext>
            </a:extLst>
          </p:cNvPr>
          <p:cNvSpPr>
            <a:spLocks noGrp="1"/>
          </p:cNvSpPr>
          <p:nvPr>
            <p:ph type="title"/>
          </p:nvPr>
        </p:nvSpPr>
        <p:spPr>
          <a:xfrm>
            <a:off x="839788" y="365125"/>
            <a:ext cx="10515600" cy="823913"/>
          </a:xfrm>
        </p:spPr>
        <p:txBody>
          <a:bodyPr>
            <a:normAutofit/>
          </a:bodyPr>
          <a:lstStyle/>
          <a:p>
            <a:r>
              <a:rPr lang="ja-JP" altLang="en-US" sz="4000" b="1" dirty="0"/>
              <a:t>考察➀</a:t>
            </a:r>
            <a:r>
              <a:rPr lang="zh-TW" altLang="en-US" sz="4000" b="1" dirty="0"/>
              <a:t>：</a:t>
            </a:r>
            <a:r>
              <a:rPr lang="ja-JP" altLang="en-US" sz="4000" b="1" dirty="0"/>
              <a:t>特徴量の重要度分析</a:t>
            </a:r>
            <a:endParaRPr lang="zh-TW" altLang="en-US" sz="4000" b="1" dirty="0"/>
          </a:p>
        </p:txBody>
      </p:sp>
      <p:sp>
        <p:nvSpPr>
          <p:cNvPr id="4" name="テキスト プレースホルダー 3">
            <a:extLst>
              <a:ext uri="{FF2B5EF4-FFF2-40B4-BE49-F238E27FC236}">
                <a16:creationId xmlns:a16="http://schemas.microsoft.com/office/drawing/2014/main" id="{5C692ED8-BC90-37DD-1C3F-4103A471B2DE}"/>
              </a:ext>
            </a:extLst>
          </p:cNvPr>
          <p:cNvSpPr>
            <a:spLocks noGrp="1"/>
          </p:cNvSpPr>
          <p:nvPr>
            <p:ph type="body" idx="1"/>
          </p:nvPr>
        </p:nvSpPr>
        <p:spPr>
          <a:xfrm>
            <a:off x="839788" y="1189992"/>
            <a:ext cx="5157787" cy="469370"/>
          </a:xfrm>
        </p:spPr>
        <p:txBody>
          <a:bodyPr>
            <a:normAutofit/>
          </a:bodyPr>
          <a:lstStyle/>
          <a:p>
            <a:r>
              <a:rPr lang="en-US" altLang="ja-JP" dirty="0"/>
              <a:t>Permutation Importance</a:t>
            </a:r>
            <a:r>
              <a:rPr lang="ja-JP" altLang="en-US" dirty="0"/>
              <a:t>結果</a:t>
            </a:r>
          </a:p>
        </p:txBody>
      </p:sp>
      <p:sp>
        <p:nvSpPr>
          <p:cNvPr id="5" name="コンテンツ プレースホルダー 4">
            <a:extLst>
              <a:ext uri="{FF2B5EF4-FFF2-40B4-BE49-F238E27FC236}">
                <a16:creationId xmlns:a16="http://schemas.microsoft.com/office/drawing/2014/main" id="{D3496CD6-FE7E-C56A-421D-A05C8879EFEB}"/>
              </a:ext>
            </a:extLst>
          </p:cNvPr>
          <p:cNvSpPr>
            <a:spLocks noGrp="1"/>
          </p:cNvSpPr>
          <p:nvPr>
            <p:ph sz="half" idx="2"/>
          </p:nvPr>
        </p:nvSpPr>
        <p:spPr>
          <a:xfrm>
            <a:off x="836612" y="1688676"/>
            <a:ext cx="5157787" cy="492125"/>
          </a:xfrm>
        </p:spPr>
        <p:txBody>
          <a:bodyPr>
            <a:normAutofit lnSpcReduction="10000"/>
          </a:bodyPr>
          <a:lstStyle/>
          <a:p>
            <a:pPr marL="0" indent="0">
              <a:buNone/>
            </a:pPr>
            <a:r>
              <a:rPr lang="ja-JP" altLang="en-US" sz="1600" dirty="0"/>
              <a:t>モデルが学習した売上予測における各変数の寄与度（重要度）ランキング。</a:t>
            </a:r>
          </a:p>
        </p:txBody>
      </p:sp>
      <p:sp>
        <p:nvSpPr>
          <p:cNvPr id="6" name="テキスト プレースホルダー 5">
            <a:extLst>
              <a:ext uri="{FF2B5EF4-FFF2-40B4-BE49-F238E27FC236}">
                <a16:creationId xmlns:a16="http://schemas.microsoft.com/office/drawing/2014/main" id="{778F802E-64F5-5017-019B-9B7139030384}"/>
              </a:ext>
            </a:extLst>
          </p:cNvPr>
          <p:cNvSpPr>
            <a:spLocks noGrp="1"/>
          </p:cNvSpPr>
          <p:nvPr>
            <p:ph type="body" sz="quarter" idx="3"/>
          </p:nvPr>
        </p:nvSpPr>
        <p:spPr>
          <a:xfrm>
            <a:off x="6169024" y="1189038"/>
            <a:ext cx="5183188" cy="469370"/>
          </a:xfrm>
        </p:spPr>
        <p:txBody>
          <a:bodyPr>
            <a:normAutofit/>
          </a:bodyPr>
          <a:lstStyle/>
          <a:p>
            <a:r>
              <a:rPr lang="ja-JP" altLang="en-US" sz="1600" dirty="0"/>
              <a:t>特徴量重要度（</a:t>
            </a:r>
            <a:r>
              <a:rPr lang="en-US" altLang="ja-JP" sz="1600" dirty="0"/>
              <a:t>Permutation Importance</a:t>
            </a:r>
            <a:r>
              <a:rPr lang="ja-JP" altLang="en-US" sz="1600" dirty="0"/>
              <a:t>）の可視化</a:t>
            </a:r>
            <a:endParaRPr lang="ja-JP" altLang="en-US" sz="2000" dirty="0"/>
          </a:p>
        </p:txBody>
      </p:sp>
      <p:graphicFrame>
        <p:nvGraphicFramePr>
          <p:cNvPr id="17" name="コンテンツ プレースホルダー 16">
            <a:extLst>
              <a:ext uri="{FF2B5EF4-FFF2-40B4-BE49-F238E27FC236}">
                <a16:creationId xmlns:a16="http://schemas.microsoft.com/office/drawing/2014/main" id="{DDAC7612-F036-64DD-3DB9-711126121A86}"/>
              </a:ext>
            </a:extLst>
          </p:cNvPr>
          <p:cNvGraphicFramePr>
            <a:graphicFrameLocks noGrp="1"/>
          </p:cNvGraphicFramePr>
          <p:nvPr>
            <p:ph sz="quarter" idx="4"/>
            <p:extLst>
              <p:ext uri="{D42A27DB-BD31-4B8C-83A1-F6EECF244321}">
                <p14:modId xmlns:p14="http://schemas.microsoft.com/office/powerpoint/2010/main" val="1646035736"/>
              </p:ext>
            </p:extLst>
          </p:nvPr>
        </p:nvGraphicFramePr>
        <p:xfrm>
          <a:off x="6169024" y="1658408"/>
          <a:ext cx="5183188" cy="3345010"/>
        </p:xfrm>
        <a:graphic>
          <a:graphicData uri="http://schemas.openxmlformats.org/drawingml/2006/chart">
            <c:chart xmlns:c="http://schemas.openxmlformats.org/drawingml/2006/chart" xmlns:r="http://schemas.openxmlformats.org/officeDocument/2006/relationships" r:id="rId2"/>
          </a:graphicData>
        </a:graphic>
      </p:graphicFrame>
      <p:sp>
        <p:nvSpPr>
          <p:cNvPr id="20" name="四角形: 角を丸くする 19">
            <a:extLst>
              <a:ext uri="{FF2B5EF4-FFF2-40B4-BE49-F238E27FC236}">
                <a16:creationId xmlns:a16="http://schemas.microsoft.com/office/drawing/2014/main" id="{F71498F5-50AA-8AC0-C09F-60F3E8545B50}"/>
              </a:ext>
            </a:extLst>
          </p:cNvPr>
          <p:cNvSpPr/>
          <p:nvPr/>
        </p:nvSpPr>
        <p:spPr>
          <a:xfrm>
            <a:off x="685799" y="2642658"/>
            <a:ext cx="5157787" cy="1216152"/>
          </a:xfrm>
          <a:prstGeom prst="roundRect">
            <a:avLst/>
          </a:prstGeom>
          <a:solidFill>
            <a:schemeClr val="tx2">
              <a:lumMod val="10000"/>
              <a:lumOff val="90000"/>
            </a:schemeClr>
          </a:solidFill>
          <a:ln w="28575"/>
        </p:spPr>
        <p:style>
          <a:lnRef idx="2">
            <a:schemeClr val="accent1"/>
          </a:lnRef>
          <a:fillRef idx="1">
            <a:schemeClr val="lt1"/>
          </a:fillRef>
          <a:effectRef idx="0">
            <a:schemeClr val="accent1"/>
          </a:effectRef>
          <a:fontRef idx="minor">
            <a:schemeClr val="dk1"/>
          </a:fontRef>
        </p:style>
        <p:txBody>
          <a:bodyPr rtlCol="0" anchor="ctr"/>
          <a:lstStyle/>
          <a:p>
            <a:endParaRPr lang="en-US" altLang="ja-JP" sz="1000" b="1" dirty="0">
              <a:solidFill>
                <a:schemeClr val="tx2"/>
              </a:solidFill>
            </a:endParaRPr>
          </a:p>
          <a:p>
            <a:r>
              <a:rPr lang="ja-JP" altLang="en-US" b="1" dirty="0">
                <a:solidFill>
                  <a:schemeClr val="tx2"/>
                </a:solidFill>
              </a:rPr>
              <a:t>          店頭在庫手持週</a:t>
            </a:r>
            <a:endParaRPr lang="ja-JP" altLang="en-US" dirty="0"/>
          </a:p>
          <a:p>
            <a:endParaRPr lang="en-US" altLang="ja-JP" sz="1000" dirty="0"/>
          </a:p>
          <a:p>
            <a:r>
              <a:rPr lang="ja-JP" altLang="en-US" sz="1600" dirty="0"/>
              <a:t>手持週数が少ないほど欠品リスクが高まり、顧客の購買行動に直接影響を与える。</a:t>
            </a:r>
          </a:p>
        </p:txBody>
      </p:sp>
      <p:sp>
        <p:nvSpPr>
          <p:cNvPr id="21" name="フローチャート: 代替処理 20">
            <a:extLst>
              <a:ext uri="{FF2B5EF4-FFF2-40B4-BE49-F238E27FC236}">
                <a16:creationId xmlns:a16="http://schemas.microsoft.com/office/drawing/2014/main" id="{1C795EEF-32D4-9C41-67D5-59E9E955F89A}"/>
              </a:ext>
            </a:extLst>
          </p:cNvPr>
          <p:cNvSpPr/>
          <p:nvPr/>
        </p:nvSpPr>
        <p:spPr>
          <a:xfrm>
            <a:off x="4209637" y="2758927"/>
            <a:ext cx="941832" cy="365760"/>
          </a:xfrm>
          <a:prstGeom prst="flowChartAlternateProcess">
            <a:avLst/>
          </a:prstGeom>
          <a:solidFill>
            <a:schemeClr val="accent2">
              <a:lumMod val="20000"/>
              <a:lumOff val="8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rgbClr val="C00000"/>
                </a:solidFill>
              </a:rPr>
              <a:t>最重要</a:t>
            </a:r>
          </a:p>
        </p:txBody>
      </p:sp>
      <p:sp>
        <p:nvSpPr>
          <p:cNvPr id="22" name="四角形: 角を丸くする 21">
            <a:extLst>
              <a:ext uri="{FF2B5EF4-FFF2-40B4-BE49-F238E27FC236}">
                <a16:creationId xmlns:a16="http://schemas.microsoft.com/office/drawing/2014/main" id="{DBE33FE5-6F29-43AD-3930-5ED9F923D8EB}"/>
              </a:ext>
            </a:extLst>
          </p:cNvPr>
          <p:cNvSpPr/>
          <p:nvPr/>
        </p:nvSpPr>
        <p:spPr>
          <a:xfrm>
            <a:off x="685799" y="3975079"/>
            <a:ext cx="5157787" cy="1216152"/>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endParaRPr lang="en-US" altLang="ja-JP" sz="1000" b="1" dirty="0">
              <a:solidFill>
                <a:schemeClr val="tx2"/>
              </a:solidFill>
            </a:endParaRPr>
          </a:p>
          <a:p>
            <a:r>
              <a:rPr lang="ja-JP" altLang="en-US" b="1" dirty="0">
                <a:solidFill>
                  <a:schemeClr val="accent2"/>
                </a:solidFill>
              </a:rPr>
              <a:t>          店頭在庫数</a:t>
            </a:r>
            <a:endParaRPr lang="ja-JP" altLang="en-US" dirty="0">
              <a:solidFill>
                <a:schemeClr val="accent2"/>
              </a:solidFill>
            </a:endParaRPr>
          </a:p>
          <a:p>
            <a:endParaRPr lang="en-US" altLang="ja-JP" sz="1000" dirty="0"/>
          </a:p>
          <a:p>
            <a:r>
              <a:rPr lang="ja-JP" altLang="en-US" sz="1600" dirty="0"/>
              <a:t>在庫量が多いほど販売機会を逃さないため、需要実現に直結する基本的な制約条件である。</a:t>
            </a:r>
            <a:endParaRPr lang="ja-JP" altLang="en-US" sz="1400" dirty="0"/>
          </a:p>
        </p:txBody>
      </p:sp>
      <p:sp>
        <p:nvSpPr>
          <p:cNvPr id="23" name="四角形: 角を丸くする 22">
            <a:extLst>
              <a:ext uri="{FF2B5EF4-FFF2-40B4-BE49-F238E27FC236}">
                <a16:creationId xmlns:a16="http://schemas.microsoft.com/office/drawing/2014/main" id="{037CDB83-253F-C661-CFD0-3412D8A36A45}"/>
              </a:ext>
            </a:extLst>
          </p:cNvPr>
          <p:cNvSpPr/>
          <p:nvPr/>
        </p:nvSpPr>
        <p:spPr>
          <a:xfrm>
            <a:off x="685798" y="5307500"/>
            <a:ext cx="5157787" cy="1216152"/>
          </a:xfrm>
          <a:prstGeom prst="roundRect">
            <a:avLst/>
          </a:prstGeom>
          <a:ln/>
        </p:spPr>
        <p:style>
          <a:lnRef idx="2">
            <a:schemeClr val="accent6"/>
          </a:lnRef>
          <a:fillRef idx="1">
            <a:schemeClr val="lt1"/>
          </a:fillRef>
          <a:effectRef idx="0">
            <a:schemeClr val="accent6"/>
          </a:effectRef>
          <a:fontRef idx="minor">
            <a:schemeClr val="dk1"/>
          </a:fontRef>
        </p:style>
        <p:txBody>
          <a:bodyPr rtlCol="0" anchor="ctr"/>
          <a:lstStyle/>
          <a:p>
            <a:endParaRPr lang="en-US" altLang="ja-JP" sz="1000" b="1" dirty="0">
              <a:solidFill>
                <a:schemeClr val="tx2"/>
              </a:solidFill>
            </a:endParaRPr>
          </a:p>
          <a:p>
            <a:r>
              <a:rPr lang="ja-JP" altLang="en-US" b="1" dirty="0">
                <a:solidFill>
                  <a:schemeClr val="accent6"/>
                </a:solidFill>
              </a:rPr>
              <a:t>          客数</a:t>
            </a:r>
            <a:endParaRPr lang="ja-JP" altLang="en-US" dirty="0">
              <a:solidFill>
                <a:schemeClr val="accent6"/>
              </a:solidFill>
            </a:endParaRPr>
          </a:p>
          <a:p>
            <a:endParaRPr lang="en-US" altLang="ja-JP" sz="1000" dirty="0"/>
          </a:p>
          <a:p>
            <a:r>
              <a:rPr lang="ja-JP" altLang="en-US" sz="1600" dirty="0"/>
              <a:t>立ち寄り客の総数が需要の上限を決定する物理的制約として機能。</a:t>
            </a:r>
          </a:p>
        </p:txBody>
      </p:sp>
      <p:sp>
        <p:nvSpPr>
          <p:cNvPr id="24" name="正方形/長方形 23">
            <a:extLst>
              <a:ext uri="{FF2B5EF4-FFF2-40B4-BE49-F238E27FC236}">
                <a16:creationId xmlns:a16="http://schemas.microsoft.com/office/drawing/2014/main" id="{B3679B61-2E92-483A-2C82-05F8C8AE37A6}"/>
              </a:ext>
            </a:extLst>
          </p:cNvPr>
          <p:cNvSpPr/>
          <p:nvPr/>
        </p:nvSpPr>
        <p:spPr>
          <a:xfrm>
            <a:off x="6348413" y="5003418"/>
            <a:ext cx="5157787" cy="1685250"/>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C2149210-E1DF-01A9-522C-2972FD9D91D9}"/>
              </a:ext>
            </a:extLst>
          </p:cNvPr>
          <p:cNvSpPr/>
          <p:nvPr/>
        </p:nvSpPr>
        <p:spPr>
          <a:xfrm>
            <a:off x="6443133" y="5003418"/>
            <a:ext cx="5063067" cy="1685250"/>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b="1" dirty="0">
                <a:solidFill>
                  <a:schemeClr val="tx1"/>
                </a:solidFill>
              </a:rPr>
              <a:t>総合的な考察</a:t>
            </a:r>
            <a:endParaRPr lang="en-US" altLang="ja-JP" b="1" dirty="0">
              <a:solidFill>
                <a:schemeClr val="tx1"/>
              </a:solidFill>
            </a:endParaRPr>
          </a:p>
          <a:p>
            <a:endParaRPr lang="en-US" altLang="ja-JP" sz="700" b="1" dirty="0">
              <a:solidFill>
                <a:schemeClr val="tx1"/>
              </a:solidFill>
            </a:endParaRPr>
          </a:p>
          <a:p>
            <a:pPr marL="171450" indent="-171450">
              <a:buFont typeface="Arial" panose="020B0604020202020204" pitchFamily="34" charset="0"/>
              <a:buChar char="•"/>
            </a:pPr>
            <a:r>
              <a:rPr lang="ja-JP" altLang="en-US" sz="1200" dirty="0">
                <a:solidFill>
                  <a:schemeClr val="tx1"/>
                </a:solidFill>
              </a:rPr>
              <a:t>需要予測において</a:t>
            </a:r>
            <a:r>
              <a:rPr lang="ja-JP" altLang="en-US" sz="1200" b="1" dirty="0">
                <a:solidFill>
                  <a:schemeClr val="tx1"/>
                </a:solidFill>
              </a:rPr>
              <a:t>在庫関連指標が圧倒的に重要</a:t>
            </a:r>
            <a:r>
              <a:rPr lang="ja-JP" altLang="en-US" sz="1200" dirty="0">
                <a:solidFill>
                  <a:schemeClr val="tx1"/>
                </a:solidFill>
              </a:rPr>
              <a:t>であることが明確</a:t>
            </a:r>
            <a:endParaRPr lang="en-US" altLang="ja-JP" sz="1200" dirty="0">
              <a:solidFill>
                <a:schemeClr val="tx1"/>
              </a:solidFill>
            </a:endParaRPr>
          </a:p>
          <a:p>
            <a:pPr marL="171450" indent="-171450">
              <a:buFont typeface="Arial" panose="020B0604020202020204" pitchFamily="34" charset="0"/>
              <a:buChar char="•"/>
            </a:pPr>
            <a:r>
              <a:rPr lang="ja-JP" altLang="en-US" sz="1200" b="1" dirty="0">
                <a:solidFill>
                  <a:schemeClr val="tx1"/>
                </a:solidFill>
              </a:rPr>
              <a:t>広告と在庫の交互作用項が複数ランクイン</a:t>
            </a:r>
            <a:r>
              <a:rPr lang="ja-JP" altLang="en-US" sz="1200" dirty="0">
                <a:solidFill>
                  <a:schemeClr val="tx1"/>
                </a:solidFill>
              </a:rPr>
              <a:t>している</a:t>
            </a:r>
            <a:br>
              <a:rPr lang="en-US" altLang="ja-JP" sz="1200" dirty="0">
                <a:solidFill>
                  <a:schemeClr val="tx1"/>
                </a:solidFill>
              </a:rPr>
            </a:br>
            <a:r>
              <a:rPr lang="ja-JP" altLang="en-US" sz="1200" dirty="0">
                <a:solidFill>
                  <a:schemeClr val="tx1"/>
                </a:solidFill>
              </a:rPr>
              <a:t>→マーケティング施策は在庫状況と連動させることで最大効果を発揮できる</a:t>
            </a:r>
            <a:endParaRPr lang="en-US" altLang="ja-JP" sz="1200" dirty="0">
              <a:solidFill>
                <a:schemeClr val="tx1"/>
              </a:solidFill>
            </a:endParaRPr>
          </a:p>
          <a:p>
            <a:pPr marL="171450" indent="-171450">
              <a:buFont typeface="Arial" panose="020B0604020202020204" pitchFamily="34" charset="0"/>
              <a:buChar char="•"/>
            </a:pPr>
            <a:r>
              <a:rPr lang="en-US" altLang="ja-JP" sz="1200" b="1" dirty="0">
                <a:solidFill>
                  <a:schemeClr val="tx1"/>
                </a:solidFill>
              </a:rPr>
              <a:t>BERT</a:t>
            </a:r>
            <a:r>
              <a:rPr lang="ja-JP" altLang="en-US" sz="1200" b="1" dirty="0">
                <a:solidFill>
                  <a:schemeClr val="tx1"/>
                </a:solidFill>
              </a:rPr>
              <a:t>によるテキスト特徴量の複数次元</a:t>
            </a:r>
            <a:r>
              <a:rPr lang="ja-JP" altLang="en-US" sz="1200" dirty="0">
                <a:solidFill>
                  <a:schemeClr val="tx1"/>
                </a:solidFill>
              </a:rPr>
              <a:t>が上位に含まれる</a:t>
            </a:r>
            <a:br>
              <a:rPr lang="en-US" altLang="ja-JP" sz="1200" dirty="0">
                <a:solidFill>
                  <a:schemeClr val="tx1"/>
                </a:solidFill>
              </a:rPr>
            </a:br>
            <a:r>
              <a:rPr lang="ja-JP" altLang="en-US" sz="1200" dirty="0">
                <a:solidFill>
                  <a:schemeClr val="tx1"/>
                </a:solidFill>
              </a:rPr>
              <a:t>→非構造化データからの情報抽出が現代の</a:t>
            </a:r>
            <a:r>
              <a:rPr lang="en-US" altLang="ja-JP" sz="1200" dirty="0">
                <a:solidFill>
                  <a:schemeClr val="tx1"/>
                </a:solidFill>
              </a:rPr>
              <a:t>AI</a:t>
            </a:r>
            <a:r>
              <a:rPr lang="ja-JP" altLang="en-US" sz="1200" dirty="0">
                <a:solidFill>
                  <a:schemeClr val="tx1"/>
                </a:solidFill>
              </a:rPr>
              <a:t>需要予測において重要</a:t>
            </a:r>
            <a:endParaRPr kumimoji="1" lang="ja-JP" altLang="en-US" sz="1200" dirty="0">
              <a:solidFill>
                <a:schemeClr val="tx1"/>
              </a:solidFill>
            </a:endParaRPr>
          </a:p>
        </p:txBody>
      </p:sp>
      <p:pic>
        <p:nvPicPr>
          <p:cNvPr id="7" name="グラフィックス 6" descr="男性の集団 単色塗りつぶし">
            <a:extLst>
              <a:ext uri="{FF2B5EF4-FFF2-40B4-BE49-F238E27FC236}">
                <a16:creationId xmlns:a16="http://schemas.microsoft.com/office/drawing/2014/main" id="{FDE213AB-2AAF-49A0-D45F-7B856EE2966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6612" y="5329724"/>
            <a:ext cx="585852" cy="585852"/>
          </a:xfrm>
          <a:prstGeom prst="rect">
            <a:avLst/>
          </a:prstGeom>
        </p:spPr>
      </p:pic>
      <p:pic>
        <p:nvPicPr>
          <p:cNvPr id="9" name="グラフィックス 8" descr="在庫 単色塗りつぶし">
            <a:extLst>
              <a:ext uri="{FF2B5EF4-FFF2-40B4-BE49-F238E27FC236}">
                <a16:creationId xmlns:a16="http://schemas.microsoft.com/office/drawing/2014/main" id="{4A3164E1-1235-9A40-FC5D-CDEF9739D32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6612" y="3975079"/>
            <a:ext cx="585852" cy="585852"/>
          </a:xfrm>
          <a:prstGeom prst="rect">
            <a:avLst/>
          </a:prstGeom>
        </p:spPr>
      </p:pic>
      <p:pic>
        <p:nvPicPr>
          <p:cNvPr id="11" name="グラフィックス 10" descr="開いた荷箱 単色塗りつぶし">
            <a:extLst>
              <a:ext uri="{FF2B5EF4-FFF2-40B4-BE49-F238E27FC236}">
                <a16:creationId xmlns:a16="http://schemas.microsoft.com/office/drawing/2014/main" id="{77D37AEA-6CAD-C6B0-5065-5289AC5AB46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6612" y="2648881"/>
            <a:ext cx="585852" cy="585852"/>
          </a:xfrm>
          <a:prstGeom prst="rect">
            <a:avLst/>
          </a:prstGeom>
        </p:spPr>
      </p:pic>
      <p:cxnSp>
        <p:nvCxnSpPr>
          <p:cNvPr id="3" name="直線コネクタ 2">
            <a:extLst>
              <a:ext uri="{FF2B5EF4-FFF2-40B4-BE49-F238E27FC236}">
                <a16:creationId xmlns:a16="http://schemas.microsoft.com/office/drawing/2014/main" id="{2FA167C5-6938-7530-AE76-1A9CE6A8C184}"/>
              </a:ext>
            </a:extLst>
          </p:cNvPr>
          <p:cNvCxnSpPr/>
          <p:nvPr/>
        </p:nvCxnSpPr>
        <p:spPr>
          <a:xfrm>
            <a:off x="839788" y="365125"/>
            <a:ext cx="0" cy="677291"/>
          </a:xfrm>
          <a:prstGeom prst="line">
            <a:avLst/>
          </a:prstGeom>
          <a:ln w="762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8" name="直線コネクタ 7">
            <a:extLst>
              <a:ext uri="{FF2B5EF4-FFF2-40B4-BE49-F238E27FC236}">
                <a16:creationId xmlns:a16="http://schemas.microsoft.com/office/drawing/2014/main" id="{FD90A06A-5EEA-4AD1-FC24-28F35D355E5A}"/>
              </a:ext>
            </a:extLst>
          </p:cNvPr>
          <p:cNvCxnSpPr/>
          <p:nvPr/>
        </p:nvCxnSpPr>
        <p:spPr>
          <a:xfrm>
            <a:off x="0" y="0"/>
            <a:ext cx="12192000" cy="0"/>
          </a:xfrm>
          <a:prstGeom prst="line">
            <a:avLst/>
          </a:prstGeom>
          <a:ln w="762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815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D1CA5A-0ED3-B322-E88A-AC98D2CA53E6}"/>
              </a:ext>
            </a:extLst>
          </p:cNvPr>
          <p:cNvSpPr>
            <a:spLocks noGrp="1"/>
          </p:cNvSpPr>
          <p:nvPr>
            <p:ph type="title"/>
          </p:nvPr>
        </p:nvSpPr>
        <p:spPr>
          <a:xfrm>
            <a:off x="839788" y="365126"/>
            <a:ext cx="10515600" cy="1057274"/>
          </a:xfrm>
        </p:spPr>
        <p:txBody>
          <a:bodyPr>
            <a:normAutofit fontScale="90000"/>
          </a:bodyPr>
          <a:lstStyle/>
          <a:p>
            <a:r>
              <a:rPr lang="ja-JP" altLang="en-US" sz="4000" b="1" dirty="0"/>
              <a:t>考察➁：</a:t>
            </a:r>
            <a:r>
              <a:rPr lang="ja-JP" altLang="en-US" b="1" dirty="0"/>
              <a:t> </a:t>
            </a:r>
            <a:r>
              <a:rPr lang="en-US" altLang="ja-JP" b="1" dirty="0"/>
              <a:t>Uplift</a:t>
            </a:r>
            <a:r>
              <a:rPr lang="ja-JP" altLang="en-US" b="1" dirty="0"/>
              <a:t>分析による広告効果の個別化</a:t>
            </a:r>
            <a:br>
              <a:rPr lang="en-US" altLang="ja-JP" b="1" dirty="0"/>
            </a:br>
            <a:r>
              <a:rPr lang="ja-JP" altLang="en-US" sz="2200" b="1" dirty="0">
                <a:solidFill>
                  <a:schemeClr val="bg2">
                    <a:lumMod val="50000"/>
                  </a:schemeClr>
                </a:solidFill>
              </a:rPr>
              <a:t>因果推論</a:t>
            </a:r>
            <a:r>
              <a:rPr lang="en-US" altLang="ja-JP" sz="2200" b="1" dirty="0">
                <a:solidFill>
                  <a:schemeClr val="bg2">
                    <a:lumMod val="50000"/>
                  </a:schemeClr>
                </a:solidFill>
              </a:rPr>
              <a:t>(S-Learner)</a:t>
            </a:r>
            <a:r>
              <a:rPr lang="ja-JP" altLang="en-US" sz="2200" b="1" dirty="0">
                <a:solidFill>
                  <a:schemeClr val="bg2">
                    <a:lumMod val="50000"/>
                  </a:schemeClr>
                </a:solidFill>
              </a:rPr>
              <a:t>と</a:t>
            </a:r>
            <a:r>
              <a:rPr lang="en-US" altLang="ja-JP" sz="2200" b="1" dirty="0">
                <a:solidFill>
                  <a:schemeClr val="bg2">
                    <a:lumMod val="50000"/>
                  </a:schemeClr>
                </a:solidFill>
              </a:rPr>
              <a:t>AI</a:t>
            </a:r>
            <a:r>
              <a:rPr lang="ja-JP" altLang="en-US" sz="2200" b="1" dirty="0">
                <a:solidFill>
                  <a:schemeClr val="bg2">
                    <a:lumMod val="50000"/>
                  </a:schemeClr>
                </a:solidFill>
              </a:rPr>
              <a:t>の融合による顧客セグメント分類</a:t>
            </a:r>
            <a:endParaRPr kumimoji="1" lang="ja-JP" altLang="en-US" sz="4000" b="1" dirty="0">
              <a:solidFill>
                <a:schemeClr val="bg2">
                  <a:lumMod val="50000"/>
                </a:schemeClr>
              </a:solidFill>
            </a:endParaRPr>
          </a:p>
        </p:txBody>
      </p:sp>
      <p:sp>
        <p:nvSpPr>
          <p:cNvPr id="3" name="テキスト プレースホルダー 2">
            <a:extLst>
              <a:ext uri="{FF2B5EF4-FFF2-40B4-BE49-F238E27FC236}">
                <a16:creationId xmlns:a16="http://schemas.microsoft.com/office/drawing/2014/main" id="{A114C30D-80D7-A0A3-E289-6A4413B1EDF0}"/>
              </a:ext>
            </a:extLst>
          </p:cNvPr>
          <p:cNvSpPr>
            <a:spLocks noGrp="1"/>
          </p:cNvSpPr>
          <p:nvPr>
            <p:ph type="body" idx="1"/>
          </p:nvPr>
        </p:nvSpPr>
        <p:spPr>
          <a:xfrm>
            <a:off x="839788" y="1681163"/>
            <a:ext cx="5157787" cy="486304"/>
          </a:xfrm>
        </p:spPr>
        <p:txBody>
          <a:bodyPr/>
          <a:lstStyle/>
          <a:p>
            <a:r>
              <a:rPr lang="en-US" altLang="ja-JP" dirty="0"/>
              <a:t>S-Learner</a:t>
            </a:r>
            <a:r>
              <a:rPr lang="ja-JP" altLang="en-US" dirty="0"/>
              <a:t>手法による個別効果推定</a:t>
            </a:r>
          </a:p>
        </p:txBody>
      </p:sp>
      <p:sp>
        <p:nvSpPr>
          <p:cNvPr id="5" name="テキスト プレースホルダー 4">
            <a:extLst>
              <a:ext uri="{FF2B5EF4-FFF2-40B4-BE49-F238E27FC236}">
                <a16:creationId xmlns:a16="http://schemas.microsoft.com/office/drawing/2014/main" id="{AC40BA32-2471-CEFA-4804-2DF538D6D30E}"/>
              </a:ext>
            </a:extLst>
          </p:cNvPr>
          <p:cNvSpPr>
            <a:spLocks noGrp="1"/>
          </p:cNvSpPr>
          <p:nvPr>
            <p:ph type="body" sz="quarter" idx="3"/>
          </p:nvPr>
        </p:nvSpPr>
        <p:spPr>
          <a:xfrm>
            <a:off x="6172200" y="1681163"/>
            <a:ext cx="5183188" cy="486304"/>
          </a:xfrm>
        </p:spPr>
        <p:txBody>
          <a:bodyPr/>
          <a:lstStyle/>
          <a:p>
            <a:r>
              <a:rPr lang="ja-JP" altLang="en-US" dirty="0"/>
              <a:t>広告効果の</a:t>
            </a:r>
            <a:r>
              <a:rPr lang="en-US" altLang="ja-JP" dirty="0"/>
              <a:t>4</a:t>
            </a:r>
            <a:r>
              <a:rPr lang="ja-JP" altLang="en-US" dirty="0"/>
              <a:t>象限マトリクス</a:t>
            </a:r>
          </a:p>
        </p:txBody>
      </p:sp>
      <p:sp>
        <p:nvSpPr>
          <p:cNvPr id="7" name="四角形: 角を丸くする 6">
            <a:extLst>
              <a:ext uri="{FF2B5EF4-FFF2-40B4-BE49-F238E27FC236}">
                <a16:creationId xmlns:a16="http://schemas.microsoft.com/office/drawing/2014/main" id="{5481AAEB-A719-F3E7-AFA7-EB3AFFAE56B0}"/>
              </a:ext>
            </a:extLst>
          </p:cNvPr>
          <p:cNvSpPr/>
          <p:nvPr/>
        </p:nvSpPr>
        <p:spPr>
          <a:xfrm>
            <a:off x="905933" y="2269067"/>
            <a:ext cx="2047345" cy="8239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7BACAC5E-D36A-C689-D11D-D0DE71F45279}"/>
              </a:ext>
            </a:extLst>
          </p:cNvPr>
          <p:cNvSpPr/>
          <p:nvPr/>
        </p:nvSpPr>
        <p:spPr>
          <a:xfrm>
            <a:off x="975254" y="2269067"/>
            <a:ext cx="1978024" cy="823912"/>
          </a:xfrm>
          <a:prstGeom prst="roundRect">
            <a:avLst/>
          </a:prstGeom>
          <a:solidFill>
            <a:schemeClr val="bg1"/>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tx1"/>
                </a:solidFill>
              </a:rPr>
              <a:t>平均</a:t>
            </a:r>
            <a:r>
              <a:rPr lang="en-US" altLang="ja-JP" sz="1200" dirty="0">
                <a:solidFill>
                  <a:schemeClr val="tx1"/>
                </a:solidFill>
              </a:rPr>
              <a:t>Uplift Score</a:t>
            </a:r>
          </a:p>
          <a:p>
            <a:r>
              <a:rPr lang="en-US" altLang="ja-JP" sz="2800" b="1" dirty="0">
                <a:solidFill>
                  <a:srgbClr val="0070C0"/>
                </a:solidFill>
              </a:rPr>
              <a:t>0.38</a:t>
            </a:r>
          </a:p>
        </p:txBody>
      </p:sp>
      <p:sp>
        <p:nvSpPr>
          <p:cNvPr id="9" name="四角形: 角を丸くする 8">
            <a:extLst>
              <a:ext uri="{FF2B5EF4-FFF2-40B4-BE49-F238E27FC236}">
                <a16:creationId xmlns:a16="http://schemas.microsoft.com/office/drawing/2014/main" id="{7C073FFE-8917-FFF4-7836-F8C89F9AA930}"/>
              </a:ext>
            </a:extLst>
          </p:cNvPr>
          <p:cNvSpPr/>
          <p:nvPr/>
        </p:nvSpPr>
        <p:spPr>
          <a:xfrm>
            <a:off x="3504406" y="2269067"/>
            <a:ext cx="2047345" cy="8239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DC7E4FD-E023-C267-52F5-2CDA9966324E}"/>
              </a:ext>
            </a:extLst>
          </p:cNvPr>
          <p:cNvSpPr/>
          <p:nvPr/>
        </p:nvSpPr>
        <p:spPr>
          <a:xfrm>
            <a:off x="3573727" y="2269067"/>
            <a:ext cx="1978024" cy="823912"/>
          </a:xfrm>
          <a:prstGeom prst="roundRect">
            <a:avLst/>
          </a:prstGeom>
          <a:solidFill>
            <a:schemeClr val="bg1"/>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tx1"/>
                </a:solidFill>
              </a:rPr>
              <a:t>需要増加効果（差分）</a:t>
            </a:r>
          </a:p>
          <a:p>
            <a:r>
              <a:rPr lang="en-US" altLang="ja-JP" sz="2800" b="1" dirty="0">
                <a:solidFill>
                  <a:srgbClr val="0070C0"/>
                </a:solidFill>
              </a:rPr>
              <a:t>+2.04</a:t>
            </a:r>
          </a:p>
        </p:txBody>
      </p:sp>
      <p:sp>
        <p:nvSpPr>
          <p:cNvPr id="11" name="正方形/長方形 10">
            <a:extLst>
              <a:ext uri="{FF2B5EF4-FFF2-40B4-BE49-F238E27FC236}">
                <a16:creationId xmlns:a16="http://schemas.microsoft.com/office/drawing/2014/main" id="{5DB492F0-25DF-EEAA-855E-024EC0FFBB7D}"/>
              </a:ext>
            </a:extLst>
          </p:cNvPr>
          <p:cNvSpPr/>
          <p:nvPr/>
        </p:nvSpPr>
        <p:spPr>
          <a:xfrm>
            <a:off x="905933" y="3251200"/>
            <a:ext cx="4645818" cy="1346200"/>
          </a:xfrm>
          <a:prstGeom prst="rect">
            <a:avLst/>
          </a:prstGeom>
          <a:solidFill>
            <a:schemeClr val="bg1"/>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600" dirty="0">
                <a:solidFill>
                  <a:schemeClr val="tx1"/>
                </a:solidFill>
              </a:rPr>
              <a:t>分析対象（テストセット）	           </a:t>
            </a:r>
            <a:r>
              <a:rPr kumimoji="1" lang="en-US" altLang="ja-JP" sz="1600" b="1" dirty="0">
                <a:solidFill>
                  <a:schemeClr val="tx1"/>
                </a:solidFill>
              </a:rPr>
              <a:t>84</a:t>
            </a:r>
            <a:r>
              <a:rPr kumimoji="1" lang="ja-JP" altLang="en-US" sz="1600" b="1" dirty="0">
                <a:solidFill>
                  <a:schemeClr val="tx1"/>
                </a:solidFill>
              </a:rPr>
              <a:t>サンプル</a:t>
            </a:r>
            <a:br>
              <a:rPr kumimoji="1" lang="en-US" altLang="ja-JP" sz="1400" dirty="0">
                <a:solidFill>
                  <a:schemeClr val="tx1"/>
                </a:solidFill>
              </a:rPr>
            </a:br>
            <a:endParaRPr kumimoji="1" lang="ja-JP" altLang="en-US" sz="1400" dirty="0">
              <a:solidFill>
                <a:schemeClr val="tx1"/>
              </a:solidFill>
            </a:endParaRPr>
          </a:p>
          <a:p>
            <a:r>
              <a:rPr kumimoji="1" lang="ja-JP" altLang="en-US" sz="1400" dirty="0">
                <a:solidFill>
                  <a:schemeClr val="tx1"/>
                </a:solidFill>
              </a:rPr>
              <a:t>広告なし予測値 </a:t>
            </a:r>
            <a:r>
              <a:rPr kumimoji="1" lang="en-US" altLang="ja-JP" sz="1400" dirty="0">
                <a:solidFill>
                  <a:schemeClr val="tx1"/>
                </a:solidFill>
              </a:rPr>
              <a:t>(Control)	             -0.8278</a:t>
            </a:r>
            <a:br>
              <a:rPr kumimoji="1" lang="en-US" altLang="ja-JP" sz="1400" dirty="0">
                <a:solidFill>
                  <a:schemeClr val="tx1"/>
                </a:solidFill>
              </a:rPr>
            </a:br>
            <a:endParaRPr kumimoji="1" lang="en-US" altLang="ja-JP" sz="1400" dirty="0">
              <a:solidFill>
                <a:schemeClr val="tx1"/>
              </a:solidFill>
            </a:endParaRPr>
          </a:p>
          <a:p>
            <a:r>
              <a:rPr kumimoji="1" lang="ja-JP" altLang="en-US" sz="1400" dirty="0">
                <a:solidFill>
                  <a:schemeClr val="tx1"/>
                </a:solidFill>
              </a:rPr>
              <a:t>広告あり予測値 </a:t>
            </a:r>
            <a:r>
              <a:rPr kumimoji="1" lang="en-US" altLang="ja-JP" sz="1400" dirty="0">
                <a:solidFill>
                  <a:schemeClr val="tx1"/>
                </a:solidFill>
              </a:rPr>
              <a:t>(Treatment)	             1.2080</a:t>
            </a:r>
            <a:endParaRPr kumimoji="1" lang="ja-JP" altLang="en-US" sz="1400" dirty="0">
              <a:solidFill>
                <a:schemeClr val="tx1"/>
              </a:solidFill>
            </a:endParaRPr>
          </a:p>
        </p:txBody>
      </p:sp>
      <p:cxnSp>
        <p:nvCxnSpPr>
          <p:cNvPr id="15" name="直線コネクタ 14">
            <a:extLst>
              <a:ext uri="{FF2B5EF4-FFF2-40B4-BE49-F238E27FC236}">
                <a16:creationId xmlns:a16="http://schemas.microsoft.com/office/drawing/2014/main" id="{4A2F8B01-C579-B264-59EA-793BE99EF5C4}"/>
              </a:ext>
            </a:extLst>
          </p:cNvPr>
          <p:cNvCxnSpPr>
            <a:cxnSpLocks/>
          </p:cNvCxnSpPr>
          <p:nvPr/>
        </p:nvCxnSpPr>
        <p:spPr>
          <a:xfrm>
            <a:off x="975254" y="3733800"/>
            <a:ext cx="4426479" cy="0"/>
          </a:xfrm>
          <a:prstGeom prst="line">
            <a:avLst/>
          </a:prstGeom>
          <a:ln>
            <a:solidFill>
              <a:schemeClr val="tx2">
                <a:lumMod val="10000"/>
                <a:lumOff val="90000"/>
              </a:schemeClr>
            </a:solidFill>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68A697EE-DEE0-076E-89E3-1BD5DD8B04D3}"/>
              </a:ext>
            </a:extLst>
          </p:cNvPr>
          <p:cNvCxnSpPr>
            <a:cxnSpLocks/>
          </p:cNvCxnSpPr>
          <p:nvPr/>
        </p:nvCxnSpPr>
        <p:spPr>
          <a:xfrm>
            <a:off x="975254" y="4174066"/>
            <a:ext cx="4426479" cy="0"/>
          </a:xfrm>
          <a:prstGeom prst="line">
            <a:avLst/>
          </a:prstGeom>
          <a:ln>
            <a:solidFill>
              <a:schemeClr val="tx2">
                <a:lumMod val="10000"/>
                <a:lumOff val="90000"/>
              </a:schemeClr>
            </a:solidFill>
          </a:ln>
        </p:spPr>
        <p:style>
          <a:lnRef idx="2">
            <a:schemeClr val="accent1"/>
          </a:lnRef>
          <a:fillRef idx="0">
            <a:schemeClr val="accent1"/>
          </a:fillRef>
          <a:effectRef idx="1">
            <a:schemeClr val="accent1"/>
          </a:effectRef>
          <a:fontRef idx="minor">
            <a:schemeClr val="tx1"/>
          </a:fontRef>
        </p:style>
      </p:cxnSp>
      <p:sp>
        <p:nvSpPr>
          <p:cNvPr id="19" name="四角形: 角を丸くする 18">
            <a:extLst>
              <a:ext uri="{FF2B5EF4-FFF2-40B4-BE49-F238E27FC236}">
                <a16:creationId xmlns:a16="http://schemas.microsoft.com/office/drawing/2014/main" id="{61BAE145-A03B-545E-71CF-AEA54E0ACD4C}"/>
              </a:ext>
            </a:extLst>
          </p:cNvPr>
          <p:cNvSpPr/>
          <p:nvPr/>
        </p:nvSpPr>
        <p:spPr>
          <a:xfrm>
            <a:off x="905933" y="4766733"/>
            <a:ext cx="4707467" cy="1422930"/>
          </a:xfrm>
          <a:prstGeom prst="roundRect">
            <a:avLst/>
          </a:prstGeom>
          <a:solidFill>
            <a:schemeClr val="tx2">
              <a:lumMod val="10000"/>
              <a:lumOff val="90000"/>
            </a:schemeClr>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600" b="1" dirty="0">
                <a:solidFill>
                  <a:schemeClr val="accent1"/>
                </a:solidFill>
              </a:rPr>
              <a:t>Uplift</a:t>
            </a:r>
            <a:r>
              <a:rPr lang="ja-JP" altLang="en-US" sz="1600" b="1" dirty="0">
                <a:solidFill>
                  <a:schemeClr val="accent1"/>
                </a:solidFill>
              </a:rPr>
              <a:t>スコアの定義</a:t>
            </a:r>
            <a:br>
              <a:rPr lang="en-US" altLang="ja-JP" sz="1600" b="1" dirty="0">
                <a:solidFill>
                  <a:schemeClr val="accent1"/>
                </a:solidFill>
              </a:rPr>
            </a:br>
            <a:r>
              <a:rPr lang="en-US" altLang="ja-JP" sz="500" b="1" dirty="0">
                <a:solidFill>
                  <a:schemeClr val="accent1"/>
                </a:solidFill>
              </a:rPr>
              <a:t> </a:t>
            </a:r>
            <a:endParaRPr lang="ja-JP" altLang="en-US" sz="1600" b="1" dirty="0">
              <a:solidFill>
                <a:schemeClr val="accent1"/>
              </a:solidFill>
            </a:endParaRPr>
          </a:p>
          <a:p>
            <a:r>
              <a:rPr lang="ja-JP" altLang="en-US" sz="1400" dirty="0">
                <a:solidFill>
                  <a:schemeClr val="accent1"/>
                </a:solidFill>
              </a:rPr>
              <a:t>個々の顧客・状況において、広告施策を実施した場合としなかった場合の需要予測値の差分。</a:t>
            </a:r>
            <a:br>
              <a:rPr lang="ja-JP" altLang="en-US" sz="1400" dirty="0">
                <a:solidFill>
                  <a:schemeClr val="accent1"/>
                </a:solidFill>
              </a:rPr>
            </a:br>
            <a:r>
              <a:rPr lang="en-US" altLang="ja-JP" sz="1400" b="1" dirty="0">
                <a:solidFill>
                  <a:schemeClr val="accent1"/>
                </a:solidFill>
              </a:rPr>
              <a:t>Score = E[Y|X, T=1] - E[Y|X, T=0]</a:t>
            </a:r>
            <a:br>
              <a:rPr lang="ja-JP" altLang="en-US" sz="1400" dirty="0">
                <a:solidFill>
                  <a:schemeClr val="accent1"/>
                </a:solidFill>
              </a:rPr>
            </a:br>
            <a:r>
              <a:rPr lang="ja-JP" altLang="en-US" sz="1400" dirty="0">
                <a:solidFill>
                  <a:schemeClr val="accent1"/>
                </a:solidFill>
              </a:rPr>
              <a:t>正の値は広告が需要を増加させることを示す</a:t>
            </a:r>
            <a:r>
              <a:rPr lang="ja-JP" altLang="en-US" sz="1600" dirty="0">
                <a:solidFill>
                  <a:schemeClr val="accent1"/>
                </a:solidFill>
              </a:rPr>
              <a:t>。</a:t>
            </a:r>
          </a:p>
        </p:txBody>
      </p:sp>
      <p:pic>
        <p:nvPicPr>
          <p:cNvPr id="25" name="コンテンツ プレースホルダー 24" descr="グラフ, 散布図&#10;&#10;AI 生成コンテンツは誤りを含む可能性があります。">
            <a:extLst>
              <a:ext uri="{FF2B5EF4-FFF2-40B4-BE49-F238E27FC236}">
                <a16:creationId xmlns:a16="http://schemas.microsoft.com/office/drawing/2014/main" id="{6BF1D0DE-6FDB-2251-EF45-295F9F11CBC7}"/>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6102879" y="2269067"/>
            <a:ext cx="5183188" cy="3920596"/>
          </a:xfrm>
        </p:spPr>
      </p:pic>
      <p:sp>
        <p:nvSpPr>
          <p:cNvPr id="26" name="フローチャート: 代替処理 25">
            <a:extLst>
              <a:ext uri="{FF2B5EF4-FFF2-40B4-BE49-F238E27FC236}">
                <a16:creationId xmlns:a16="http://schemas.microsoft.com/office/drawing/2014/main" id="{DC858FA2-3EB0-C429-769A-F03876BE5F78}"/>
              </a:ext>
            </a:extLst>
          </p:cNvPr>
          <p:cNvSpPr/>
          <p:nvPr/>
        </p:nvSpPr>
        <p:spPr>
          <a:xfrm>
            <a:off x="5682725" y="2555874"/>
            <a:ext cx="2047344" cy="824971"/>
          </a:xfrm>
          <a:prstGeom prst="flowChartAlternateProcess">
            <a:avLst/>
          </a:prstGeom>
          <a:solidFill>
            <a:schemeClr val="accent6">
              <a:lumMod val="20000"/>
              <a:lumOff val="80000"/>
            </a:schemeClr>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100" b="1" dirty="0">
                <a:solidFill>
                  <a:schemeClr val="accent3"/>
                </a:solidFill>
              </a:rPr>
              <a:t>Persuadables (</a:t>
            </a:r>
            <a:r>
              <a:rPr lang="ja-JP" altLang="en-US" sz="1100" b="1" dirty="0">
                <a:solidFill>
                  <a:schemeClr val="accent3"/>
                </a:solidFill>
              </a:rPr>
              <a:t>説得可能層</a:t>
            </a:r>
            <a:r>
              <a:rPr lang="en-US" altLang="ja-JP" sz="1100" b="1" dirty="0">
                <a:solidFill>
                  <a:schemeClr val="accent3"/>
                </a:solidFill>
              </a:rPr>
              <a:t>)</a:t>
            </a:r>
          </a:p>
          <a:p>
            <a:r>
              <a:rPr lang="en-US" altLang="ja-JP" sz="1000" dirty="0">
                <a:solidFill>
                  <a:schemeClr val="accent3"/>
                </a:solidFill>
              </a:rPr>
              <a:t>Uplift &gt; 0, Control &lt; Avg</a:t>
            </a:r>
          </a:p>
          <a:p>
            <a:r>
              <a:rPr lang="en-US" altLang="ja-JP" sz="1000" b="1" dirty="0">
                <a:solidFill>
                  <a:schemeClr val="accent3"/>
                </a:solidFill>
              </a:rPr>
              <a:t>Target: </a:t>
            </a:r>
            <a:r>
              <a:rPr lang="ja-JP" altLang="en-US" sz="1000" b="1" dirty="0">
                <a:solidFill>
                  <a:schemeClr val="accent3"/>
                </a:solidFill>
              </a:rPr>
              <a:t>最優先 </a:t>
            </a:r>
            <a:r>
              <a:rPr lang="en-US" altLang="ja-JP" sz="1000" b="1" dirty="0">
                <a:solidFill>
                  <a:schemeClr val="accent3"/>
                </a:solidFill>
              </a:rPr>
              <a:t>(50%)</a:t>
            </a:r>
          </a:p>
        </p:txBody>
      </p:sp>
      <p:sp>
        <p:nvSpPr>
          <p:cNvPr id="27" name="フローチャート: 代替処理 26">
            <a:extLst>
              <a:ext uri="{FF2B5EF4-FFF2-40B4-BE49-F238E27FC236}">
                <a16:creationId xmlns:a16="http://schemas.microsoft.com/office/drawing/2014/main" id="{DD3F7D73-A8F0-9503-1C6C-6A05C3A1E095}"/>
              </a:ext>
            </a:extLst>
          </p:cNvPr>
          <p:cNvSpPr/>
          <p:nvPr/>
        </p:nvSpPr>
        <p:spPr>
          <a:xfrm>
            <a:off x="9894353" y="2805112"/>
            <a:ext cx="1811868" cy="575733"/>
          </a:xfrm>
          <a:prstGeom prst="flowChartAlternateProcess">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b="1" dirty="0">
                <a:solidFill>
                  <a:schemeClr val="accent2"/>
                </a:solidFill>
              </a:rPr>
              <a:t>Sure Things (</a:t>
            </a:r>
            <a:r>
              <a:rPr lang="ja-JP" altLang="en-US" sz="1200" b="1" dirty="0">
                <a:solidFill>
                  <a:schemeClr val="accent2"/>
                </a:solidFill>
              </a:rPr>
              <a:t>鉄板層</a:t>
            </a:r>
            <a:r>
              <a:rPr lang="en-US" altLang="ja-JP" sz="1200" b="1" dirty="0">
                <a:solidFill>
                  <a:schemeClr val="accent2"/>
                </a:solidFill>
              </a:rPr>
              <a:t>)</a:t>
            </a:r>
          </a:p>
          <a:p>
            <a:r>
              <a:rPr lang="en-US" altLang="ja-JP" sz="1050" dirty="0">
                <a:solidFill>
                  <a:schemeClr val="accent2"/>
                </a:solidFill>
              </a:rPr>
              <a:t>Uplift &gt; 0, Control &gt; Avg</a:t>
            </a:r>
          </a:p>
        </p:txBody>
      </p:sp>
      <p:sp>
        <p:nvSpPr>
          <p:cNvPr id="28" name="フローチャート: 代替処理 27">
            <a:extLst>
              <a:ext uri="{FF2B5EF4-FFF2-40B4-BE49-F238E27FC236}">
                <a16:creationId xmlns:a16="http://schemas.microsoft.com/office/drawing/2014/main" id="{D5BD3F91-C878-5E76-ADCD-679517D5C85E}"/>
              </a:ext>
            </a:extLst>
          </p:cNvPr>
          <p:cNvSpPr/>
          <p:nvPr/>
        </p:nvSpPr>
        <p:spPr>
          <a:xfrm>
            <a:off x="5682725" y="5570274"/>
            <a:ext cx="2115075" cy="619389"/>
          </a:xfrm>
          <a:prstGeom prst="flowChartAlternateProcess">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b="1" dirty="0">
                <a:solidFill>
                  <a:srgbClr val="7030A0"/>
                </a:solidFill>
              </a:rPr>
              <a:t>Lost Causes (</a:t>
            </a:r>
            <a:r>
              <a:rPr lang="ja-JP" altLang="en-US" sz="1200" b="1" dirty="0">
                <a:solidFill>
                  <a:srgbClr val="7030A0"/>
                </a:solidFill>
              </a:rPr>
              <a:t>無駄打ち層</a:t>
            </a:r>
            <a:r>
              <a:rPr lang="en-US" altLang="ja-JP" sz="1200" b="1" dirty="0">
                <a:solidFill>
                  <a:srgbClr val="7030A0"/>
                </a:solidFill>
              </a:rPr>
              <a:t>) </a:t>
            </a:r>
            <a:r>
              <a:rPr lang="en-US" altLang="ja-JP" sz="1000" dirty="0">
                <a:solidFill>
                  <a:srgbClr val="7030A0"/>
                </a:solidFill>
              </a:rPr>
              <a:t>Uplift &lt; 0, Control &lt; Avg</a:t>
            </a:r>
            <a:endParaRPr lang="en-US" altLang="ja-JP" sz="1200" dirty="0">
              <a:solidFill>
                <a:srgbClr val="7030A0"/>
              </a:solidFill>
            </a:endParaRPr>
          </a:p>
        </p:txBody>
      </p:sp>
      <p:sp>
        <p:nvSpPr>
          <p:cNvPr id="29" name="フローチャート: 代替処理 28">
            <a:extLst>
              <a:ext uri="{FF2B5EF4-FFF2-40B4-BE49-F238E27FC236}">
                <a16:creationId xmlns:a16="http://schemas.microsoft.com/office/drawing/2014/main" id="{10E91E69-DA9A-9A15-F66D-A2B460A55CC0}"/>
              </a:ext>
            </a:extLst>
          </p:cNvPr>
          <p:cNvSpPr/>
          <p:nvPr/>
        </p:nvSpPr>
        <p:spPr>
          <a:xfrm>
            <a:off x="9658877" y="5369190"/>
            <a:ext cx="2047344" cy="824971"/>
          </a:xfrm>
          <a:prstGeom prst="flowChartAlternateProcess">
            <a:avLst/>
          </a:prstGeom>
          <a:solidFill>
            <a:srgbClr val="FFCCCC"/>
          </a:solidFill>
          <a:ln>
            <a:solidFill>
              <a:srgbClr val="FF5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b="1" dirty="0">
                <a:solidFill>
                  <a:srgbClr val="C00000"/>
                </a:solidFill>
              </a:rPr>
              <a:t>Sleepers (</a:t>
            </a:r>
            <a:r>
              <a:rPr lang="ja-JP" altLang="en-US" sz="1200" b="1" dirty="0">
                <a:solidFill>
                  <a:srgbClr val="C00000"/>
                </a:solidFill>
              </a:rPr>
              <a:t>逆効果層</a:t>
            </a:r>
            <a:r>
              <a:rPr lang="en-US" altLang="ja-JP" sz="1200" b="1" dirty="0">
                <a:solidFill>
                  <a:srgbClr val="C00000"/>
                </a:solidFill>
              </a:rPr>
              <a:t>)</a:t>
            </a:r>
          </a:p>
          <a:p>
            <a:r>
              <a:rPr lang="en-US" altLang="ja-JP" sz="1000" dirty="0">
                <a:solidFill>
                  <a:srgbClr val="C00000"/>
                </a:solidFill>
              </a:rPr>
              <a:t>Uplift &lt; 0, Control &gt; Avg</a:t>
            </a:r>
          </a:p>
          <a:p>
            <a:r>
              <a:rPr lang="en-US" altLang="ja-JP" sz="1000" b="1" dirty="0">
                <a:solidFill>
                  <a:srgbClr val="C00000"/>
                </a:solidFill>
              </a:rPr>
              <a:t>Target: </a:t>
            </a:r>
            <a:r>
              <a:rPr lang="ja-JP" altLang="en-US" sz="1000" b="1" dirty="0">
                <a:solidFill>
                  <a:srgbClr val="C00000"/>
                </a:solidFill>
              </a:rPr>
              <a:t>停止 </a:t>
            </a:r>
            <a:r>
              <a:rPr lang="en-US" altLang="ja-JP" sz="1000" b="1" dirty="0">
                <a:solidFill>
                  <a:srgbClr val="C00000"/>
                </a:solidFill>
              </a:rPr>
              <a:t>(29%)</a:t>
            </a:r>
          </a:p>
        </p:txBody>
      </p:sp>
      <p:sp>
        <p:nvSpPr>
          <p:cNvPr id="30" name="正方形/長方形 29">
            <a:extLst>
              <a:ext uri="{FF2B5EF4-FFF2-40B4-BE49-F238E27FC236}">
                <a16:creationId xmlns:a16="http://schemas.microsoft.com/office/drawing/2014/main" id="{D3A634C6-C04A-DBBF-AC05-EF4E0925384A}"/>
              </a:ext>
            </a:extLst>
          </p:cNvPr>
          <p:cNvSpPr/>
          <p:nvPr/>
        </p:nvSpPr>
        <p:spPr>
          <a:xfrm>
            <a:off x="7828887" y="2569104"/>
            <a:ext cx="603914" cy="18997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a:extLst>
              <a:ext uri="{FF2B5EF4-FFF2-40B4-BE49-F238E27FC236}">
                <a16:creationId xmlns:a16="http://schemas.microsoft.com/office/drawing/2014/main" id="{E33952C3-A76F-8DE0-36B6-DB97404FF271}"/>
              </a:ext>
            </a:extLst>
          </p:cNvPr>
          <p:cNvSpPr/>
          <p:nvPr/>
        </p:nvSpPr>
        <p:spPr>
          <a:xfrm>
            <a:off x="7828887" y="5591704"/>
            <a:ext cx="458392" cy="18997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 name="直線コネクタ 3">
            <a:extLst>
              <a:ext uri="{FF2B5EF4-FFF2-40B4-BE49-F238E27FC236}">
                <a16:creationId xmlns:a16="http://schemas.microsoft.com/office/drawing/2014/main" id="{A276694D-3693-5032-BE9A-6CD8799AFA3D}"/>
              </a:ext>
            </a:extLst>
          </p:cNvPr>
          <p:cNvCxnSpPr>
            <a:cxnSpLocks/>
          </p:cNvCxnSpPr>
          <p:nvPr/>
        </p:nvCxnSpPr>
        <p:spPr>
          <a:xfrm>
            <a:off x="839788" y="474853"/>
            <a:ext cx="0" cy="796163"/>
          </a:xfrm>
          <a:prstGeom prst="line">
            <a:avLst/>
          </a:prstGeom>
          <a:ln w="762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2" name="直線コネクタ 11">
            <a:extLst>
              <a:ext uri="{FF2B5EF4-FFF2-40B4-BE49-F238E27FC236}">
                <a16:creationId xmlns:a16="http://schemas.microsoft.com/office/drawing/2014/main" id="{85DD0606-9B51-E917-077E-088D999AA8C3}"/>
              </a:ext>
            </a:extLst>
          </p:cNvPr>
          <p:cNvCxnSpPr/>
          <p:nvPr/>
        </p:nvCxnSpPr>
        <p:spPr>
          <a:xfrm>
            <a:off x="0" y="0"/>
            <a:ext cx="12192000" cy="0"/>
          </a:xfrm>
          <a:prstGeom prst="line">
            <a:avLst/>
          </a:prstGeom>
          <a:ln w="76200"/>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A57A4B08-43F5-2F40-B3CC-BCE0D1EFCE01}"/>
                  </a:ext>
                </a:extLst>
              </p:cNvPr>
              <p:cNvSpPr txBox="1"/>
              <p:nvPr/>
            </p:nvSpPr>
            <p:spPr>
              <a:xfrm>
                <a:off x="8217954" y="6080976"/>
                <a:ext cx="1326549"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sz="1100" b="0" i="1" smtClean="0">
                          <a:latin typeface="Cambria Math" panose="02040503050406030204" pitchFamily="18" charset="0"/>
                        </a:rPr>
                        <m:t>𝐸</m:t>
                      </m:r>
                      <m:r>
                        <a:rPr kumimoji="1" lang="en-US" altLang="ja-JP" sz="1100" b="0" i="1" smtClean="0">
                          <a:latin typeface="Cambria Math" panose="02040503050406030204" pitchFamily="18" charset="0"/>
                        </a:rPr>
                        <m:t>[</m:t>
                      </m:r>
                      <m:r>
                        <a:rPr kumimoji="1" lang="en-US" altLang="ja-JP" sz="1100" b="0" i="1" smtClean="0">
                          <a:latin typeface="Cambria Math" panose="02040503050406030204" pitchFamily="18" charset="0"/>
                        </a:rPr>
                        <m:t>𝑌</m:t>
                      </m:r>
                      <m:r>
                        <a:rPr kumimoji="1" lang="en-US" altLang="ja-JP" sz="1100" b="0" i="1" smtClean="0">
                          <a:latin typeface="Cambria Math" panose="02040503050406030204" pitchFamily="18" charset="0"/>
                        </a:rPr>
                        <m:t>|</m:t>
                      </m:r>
                      <m:r>
                        <a:rPr kumimoji="1" lang="en-US" altLang="ja-JP" sz="1100" b="0" i="1" smtClean="0">
                          <a:latin typeface="Cambria Math" panose="02040503050406030204" pitchFamily="18" charset="0"/>
                        </a:rPr>
                        <m:t>𝑇</m:t>
                      </m:r>
                      <m:r>
                        <a:rPr kumimoji="1" lang="en-US" altLang="ja-JP" sz="1100" b="0" i="1" smtClean="0">
                          <a:latin typeface="Cambria Math" panose="02040503050406030204" pitchFamily="18" charset="0"/>
                        </a:rPr>
                        <m:t>=0]</m:t>
                      </m:r>
                    </m:oMath>
                  </m:oMathPara>
                </a14:m>
                <a:endParaRPr kumimoji="1" lang="ja-JP" altLang="en-US" sz="1100" dirty="0"/>
              </a:p>
            </p:txBody>
          </p:sp>
        </mc:Choice>
        <mc:Fallback xmlns="">
          <p:sp>
            <p:nvSpPr>
              <p:cNvPr id="6" name="テキスト ボックス 5">
                <a:extLst>
                  <a:ext uri="{FF2B5EF4-FFF2-40B4-BE49-F238E27FC236}">
                    <a16:creationId xmlns:a16="http://schemas.microsoft.com/office/drawing/2014/main" id="{A57A4B08-43F5-2F40-B3CC-BCE0D1EFCE01}"/>
                  </a:ext>
                </a:extLst>
              </p:cNvPr>
              <p:cNvSpPr txBox="1">
                <a:spLocks noRot="1" noChangeAspect="1" noMove="1" noResize="1" noEditPoints="1" noAdjustHandles="1" noChangeArrowheads="1" noChangeShapeType="1" noTextEdit="1"/>
              </p:cNvSpPr>
              <p:nvPr/>
            </p:nvSpPr>
            <p:spPr>
              <a:xfrm>
                <a:off x="8217954" y="6080976"/>
                <a:ext cx="1326549" cy="261610"/>
              </a:xfrm>
              <a:prstGeom prst="rect">
                <a:avLst/>
              </a:prstGeom>
              <a:blipFill>
                <a:blip r:embed="rId3"/>
                <a:stretch>
                  <a:fillRect b="-4762"/>
                </a:stretch>
              </a:blipFill>
            </p:spPr>
            <p:txBody>
              <a:bodyPr/>
              <a:lstStyle/>
              <a:p>
                <a:r>
                  <a:rPr lang="ja-JP" altLang="en-US">
                    <a:noFill/>
                  </a:rPr>
                  <a:t> </a:t>
                </a:r>
              </a:p>
            </p:txBody>
          </p:sp>
        </mc:Fallback>
      </mc:AlternateContent>
      <p:sp>
        <p:nvSpPr>
          <p:cNvPr id="13" name="テキスト ボックス 12">
            <a:extLst>
              <a:ext uri="{FF2B5EF4-FFF2-40B4-BE49-F238E27FC236}">
                <a16:creationId xmlns:a16="http://schemas.microsoft.com/office/drawing/2014/main" id="{9D449829-AC8F-B96D-DFA2-A5CBB13CDFF8}"/>
              </a:ext>
            </a:extLst>
          </p:cNvPr>
          <p:cNvSpPr txBox="1"/>
          <p:nvPr/>
        </p:nvSpPr>
        <p:spPr>
          <a:xfrm rot="10800000">
            <a:off x="5971905" y="3611829"/>
            <a:ext cx="353943" cy="932314"/>
          </a:xfrm>
          <a:prstGeom prst="rect">
            <a:avLst/>
          </a:prstGeom>
          <a:noFill/>
        </p:spPr>
        <p:txBody>
          <a:bodyPr vert="eaVert" wrap="square" rtlCol="0">
            <a:spAutoFit/>
          </a:bodyPr>
          <a:lstStyle/>
          <a:p>
            <a:r>
              <a:rPr lang="en-US" altLang="ja-JP" sz="1100" b="1" dirty="0"/>
              <a:t>Uplift Score</a:t>
            </a:r>
            <a:endParaRPr kumimoji="1" lang="ja-JP" altLang="en-US" sz="1100" b="1" dirty="0"/>
          </a:p>
        </p:txBody>
      </p:sp>
    </p:spTree>
    <p:extLst>
      <p:ext uri="{BB962C8B-B14F-4D97-AF65-F5344CB8AC3E}">
        <p14:creationId xmlns:p14="http://schemas.microsoft.com/office/powerpoint/2010/main" val="2316011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DF9E9C-8831-7F39-4550-B69ACBD1308D}"/>
              </a:ext>
            </a:extLst>
          </p:cNvPr>
          <p:cNvSpPr>
            <a:spLocks noGrp="1"/>
          </p:cNvSpPr>
          <p:nvPr>
            <p:ph type="title"/>
          </p:nvPr>
        </p:nvSpPr>
        <p:spPr>
          <a:xfrm>
            <a:off x="839788" y="365126"/>
            <a:ext cx="10515600" cy="988186"/>
          </a:xfrm>
        </p:spPr>
        <p:txBody>
          <a:bodyPr>
            <a:normAutofit/>
          </a:bodyPr>
          <a:lstStyle/>
          <a:p>
            <a:r>
              <a:rPr lang="ja-JP" altLang="en-US" b="1" dirty="0"/>
              <a:t>データが明かす決定的差異</a:t>
            </a:r>
            <a:br>
              <a:rPr lang="ja-JP" altLang="en-US" b="1" dirty="0"/>
            </a:br>
            <a:r>
              <a:rPr lang="ja-JP" altLang="en-US" sz="2000" b="1" dirty="0">
                <a:solidFill>
                  <a:schemeClr val="bg2">
                    <a:lumMod val="50000"/>
                  </a:schemeClr>
                </a:solidFill>
              </a:rPr>
              <a:t>説得可能層（</a:t>
            </a:r>
            <a:r>
              <a:rPr lang="en-US" altLang="ja-JP" sz="2000" b="1" dirty="0">
                <a:solidFill>
                  <a:schemeClr val="bg2">
                    <a:lumMod val="50000"/>
                  </a:schemeClr>
                </a:solidFill>
              </a:rPr>
              <a:t>Persuadables</a:t>
            </a:r>
            <a:r>
              <a:rPr lang="ja-JP" altLang="en-US" sz="2000" b="1" dirty="0">
                <a:solidFill>
                  <a:schemeClr val="bg2">
                    <a:lumMod val="50000"/>
                  </a:schemeClr>
                </a:solidFill>
              </a:rPr>
              <a:t>）と無反応層（</a:t>
            </a:r>
            <a:r>
              <a:rPr lang="en-US" altLang="ja-JP" sz="2000" b="1" dirty="0">
                <a:solidFill>
                  <a:schemeClr val="bg2">
                    <a:lumMod val="50000"/>
                  </a:schemeClr>
                </a:solidFill>
              </a:rPr>
              <a:t>Sleepers/Lost Causes</a:t>
            </a:r>
            <a:r>
              <a:rPr lang="ja-JP" altLang="en-US" sz="2000" b="1" dirty="0">
                <a:solidFill>
                  <a:schemeClr val="bg2">
                    <a:lumMod val="50000"/>
                  </a:schemeClr>
                </a:solidFill>
              </a:rPr>
              <a:t>）の特徴量プロファイル比較</a:t>
            </a:r>
            <a:endParaRPr kumimoji="1" lang="ja-JP" altLang="en-US" b="1" dirty="0">
              <a:solidFill>
                <a:schemeClr val="bg2">
                  <a:lumMod val="50000"/>
                </a:schemeClr>
              </a:solidFill>
            </a:endParaRPr>
          </a:p>
        </p:txBody>
      </p:sp>
      <p:sp>
        <p:nvSpPr>
          <p:cNvPr id="7" name="正方形/長方形 6">
            <a:extLst>
              <a:ext uri="{FF2B5EF4-FFF2-40B4-BE49-F238E27FC236}">
                <a16:creationId xmlns:a16="http://schemas.microsoft.com/office/drawing/2014/main" id="{0D202E3F-06EE-F395-DFD1-1FFDC5FC1D36}"/>
              </a:ext>
            </a:extLst>
          </p:cNvPr>
          <p:cNvSpPr/>
          <p:nvPr/>
        </p:nvSpPr>
        <p:spPr>
          <a:xfrm>
            <a:off x="434340" y="1353312"/>
            <a:ext cx="11415490" cy="5394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20ED7673-88F4-95D5-3CA5-02BE3139A5C3}"/>
              </a:ext>
            </a:extLst>
          </p:cNvPr>
          <p:cNvSpPr/>
          <p:nvPr/>
        </p:nvSpPr>
        <p:spPr>
          <a:xfrm>
            <a:off x="584850" y="1353312"/>
            <a:ext cx="11264979" cy="539496"/>
          </a:xfrm>
          <a:prstGeom prst="rect">
            <a:avLst/>
          </a:prstGeom>
          <a:solidFill>
            <a:schemeClr val="tx2">
              <a:lumMod val="10000"/>
              <a:lumOff val="90000"/>
            </a:schemeClr>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rPr>
              <a:t>最大発見：説得可能層は「在庫手持週」が</a:t>
            </a:r>
            <a:r>
              <a:rPr lang="en-US" altLang="ja-JP" b="1" dirty="0">
                <a:solidFill>
                  <a:schemeClr val="tx1"/>
                </a:solidFill>
              </a:rPr>
              <a:t>1.8</a:t>
            </a:r>
            <a:r>
              <a:rPr lang="ja-JP" altLang="en-US" b="1" dirty="0">
                <a:solidFill>
                  <a:schemeClr val="tx1"/>
                </a:solidFill>
              </a:rPr>
              <a:t>倍長く、十分な在庫期間がある状況で広告効果が最大化する</a:t>
            </a:r>
            <a:endParaRPr kumimoji="1" lang="ja-JP" altLang="en-US" dirty="0">
              <a:solidFill>
                <a:schemeClr val="tx1"/>
              </a:solidFill>
            </a:endParaRPr>
          </a:p>
        </p:txBody>
      </p:sp>
      <p:sp>
        <p:nvSpPr>
          <p:cNvPr id="9" name="四角形: 上の 2 つの角を丸める 8">
            <a:extLst>
              <a:ext uri="{FF2B5EF4-FFF2-40B4-BE49-F238E27FC236}">
                <a16:creationId xmlns:a16="http://schemas.microsoft.com/office/drawing/2014/main" id="{F8D040B3-EB95-06ED-96F5-253BF99D1725}"/>
              </a:ext>
            </a:extLst>
          </p:cNvPr>
          <p:cNvSpPr/>
          <p:nvPr/>
        </p:nvSpPr>
        <p:spPr>
          <a:xfrm>
            <a:off x="434340" y="1993392"/>
            <a:ext cx="3771900" cy="4864608"/>
          </a:xfrm>
          <a:prstGeom prst="round2SameRect">
            <a:avLst/>
          </a:prstGeom>
          <a:solidFill>
            <a:schemeClr val="bg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numCol="1" rtlCol="0" anchor="ctr"/>
          <a:lstStyle/>
          <a:p>
            <a:pPr algn="ctr"/>
            <a:r>
              <a:rPr lang="en-US" altLang="ja-JP" b="1" dirty="0">
                <a:solidFill>
                  <a:schemeClr val="tx1"/>
                </a:solidFill>
              </a:rPr>
              <a:t>   A.</a:t>
            </a:r>
            <a:r>
              <a:rPr lang="ja-JP" altLang="en-US" b="1" dirty="0">
                <a:solidFill>
                  <a:schemeClr val="tx1"/>
                </a:solidFill>
              </a:rPr>
              <a:t>在庫関連指標の決定的差異</a:t>
            </a:r>
            <a:endParaRPr lang="en-US" altLang="ja-JP" b="1" dirty="0">
              <a:solidFill>
                <a:schemeClr val="tx1"/>
              </a:solidFill>
            </a:endParaRPr>
          </a:p>
          <a:p>
            <a:pPr algn="ctr"/>
            <a:endParaRPr lang="en-US" altLang="ja-JP" b="1" dirty="0">
              <a:solidFill>
                <a:schemeClr val="tx1"/>
              </a:solidFill>
            </a:endParaRPr>
          </a:p>
          <a:p>
            <a:r>
              <a:rPr lang="ja-JP" altLang="en-US" b="1" dirty="0">
                <a:solidFill>
                  <a:schemeClr val="tx1"/>
                </a:solidFill>
              </a:rPr>
              <a:t>店頭在庫手持週    </a:t>
            </a:r>
            <a:r>
              <a:rPr lang="en-US" altLang="ja-JP" sz="1200" b="1" dirty="0">
                <a:solidFill>
                  <a:srgbClr val="FF0000"/>
                </a:solidFill>
              </a:rPr>
              <a:t>※</a:t>
            </a:r>
            <a:r>
              <a:rPr lang="ja-JP" altLang="en-US" sz="1200" b="1" dirty="0">
                <a:solidFill>
                  <a:srgbClr val="FF0000"/>
                </a:solidFill>
              </a:rPr>
              <a:t>最重要</a:t>
            </a:r>
            <a:endParaRPr lang="en-US" altLang="zh-TW" b="1" dirty="0">
              <a:solidFill>
                <a:srgbClr val="FF0000"/>
              </a:solidFill>
            </a:endParaRPr>
          </a:p>
          <a:p>
            <a:endParaRPr lang="en-US" altLang="ja-JP" b="1" dirty="0">
              <a:solidFill>
                <a:srgbClr val="C00000"/>
              </a:solidFill>
            </a:endParaRPr>
          </a:p>
          <a:p>
            <a:endParaRPr kumimoji="1" lang="en-US" altLang="ja-JP" b="1" dirty="0">
              <a:solidFill>
                <a:srgbClr val="C00000"/>
              </a:solidFill>
            </a:endParaRPr>
          </a:p>
          <a:p>
            <a:endParaRPr kumimoji="1" lang="en-US" altLang="ja-JP" b="1" dirty="0">
              <a:solidFill>
                <a:schemeClr val="tx1"/>
              </a:solidFill>
            </a:endParaRPr>
          </a:p>
          <a:p>
            <a:endParaRPr lang="en-US" altLang="ja-JP" b="1" dirty="0">
              <a:solidFill>
                <a:schemeClr val="tx1"/>
              </a:solidFill>
            </a:endParaRPr>
          </a:p>
          <a:p>
            <a:r>
              <a:rPr lang="ja-JP" altLang="en-US" b="1" dirty="0">
                <a:solidFill>
                  <a:schemeClr val="tx1"/>
                </a:solidFill>
              </a:rPr>
              <a:t> 店頭在庫数</a:t>
            </a:r>
            <a:endParaRPr lang="en-US" altLang="ja-JP" b="1" dirty="0">
              <a:solidFill>
                <a:schemeClr val="tx1"/>
              </a:solidFill>
            </a:endParaRPr>
          </a:p>
          <a:p>
            <a:endParaRPr lang="en-US" altLang="ja-JP" b="1" dirty="0">
              <a:solidFill>
                <a:schemeClr val="tx1"/>
              </a:solidFill>
            </a:endParaRPr>
          </a:p>
          <a:p>
            <a:endParaRPr lang="en-US" altLang="ja-JP" b="1" dirty="0">
              <a:solidFill>
                <a:schemeClr val="tx1"/>
              </a:solidFill>
            </a:endParaRPr>
          </a:p>
          <a:p>
            <a:endParaRPr lang="en-US" altLang="ja-JP" b="1" dirty="0">
              <a:solidFill>
                <a:schemeClr val="tx1"/>
              </a:solidFill>
            </a:endParaRPr>
          </a:p>
          <a:p>
            <a:endParaRPr lang="en-US" altLang="ja-JP" b="1" dirty="0">
              <a:solidFill>
                <a:schemeClr val="tx1"/>
              </a:solidFill>
            </a:endParaRPr>
          </a:p>
          <a:p>
            <a:endParaRPr lang="en-US" altLang="ja-JP" b="1" dirty="0">
              <a:solidFill>
                <a:schemeClr val="tx1"/>
              </a:solidFill>
            </a:endParaRPr>
          </a:p>
          <a:p>
            <a:endParaRPr lang="en-US" altLang="ja-JP" b="1" dirty="0">
              <a:solidFill>
                <a:schemeClr val="tx1"/>
              </a:solidFill>
            </a:endParaRPr>
          </a:p>
          <a:p>
            <a:endParaRPr lang="en-US" altLang="ja-JP" b="1" dirty="0">
              <a:solidFill>
                <a:schemeClr val="tx1"/>
              </a:solidFill>
            </a:endParaRPr>
          </a:p>
          <a:p>
            <a:endParaRPr kumimoji="1" lang="ja-JP" altLang="en-US" b="1" dirty="0">
              <a:solidFill>
                <a:schemeClr val="tx1"/>
              </a:solidFill>
            </a:endParaRPr>
          </a:p>
        </p:txBody>
      </p:sp>
      <p:cxnSp>
        <p:nvCxnSpPr>
          <p:cNvPr id="15" name="直線コネクタ 14">
            <a:extLst>
              <a:ext uri="{FF2B5EF4-FFF2-40B4-BE49-F238E27FC236}">
                <a16:creationId xmlns:a16="http://schemas.microsoft.com/office/drawing/2014/main" id="{60D4133C-D73A-9134-1E72-D0BF17652661}"/>
              </a:ext>
            </a:extLst>
          </p:cNvPr>
          <p:cNvCxnSpPr>
            <a:cxnSpLocks/>
          </p:cNvCxnSpPr>
          <p:nvPr/>
        </p:nvCxnSpPr>
        <p:spPr>
          <a:xfrm>
            <a:off x="704088" y="2761488"/>
            <a:ext cx="3383280" cy="0"/>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sp>
        <p:nvSpPr>
          <p:cNvPr id="23" name="四角形: 角を丸くする 22">
            <a:extLst>
              <a:ext uri="{FF2B5EF4-FFF2-40B4-BE49-F238E27FC236}">
                <a16:creationId xmlns:a16="http://schemas.microsoft.com/office/drawing/2014/main" id="{AA1D641F-BBA5-6AC4-1956-EC2735B594F4}"/>
              </a:ext>
            </a:extLst>
          </p:cNvPr>
          <p:cNvSpPr/>
          <p:nvPr/>
        </p:nvSpPr>
        <p:spPr>
          <a:xfrm>
            <a:off x="704085" y="3255264"/>
            <a:ext cx="3319271" cy="329184"/>
          </a:xfrm>
          <a:prstGeom prst="roundRect">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b="1" dirty="0">
                <a:solidFill>
                  <a:schemeClr val="accent3"/>
                </a:solidFill>
              </a:rPr>
              <a:t>Persuadables                        </a:t>
            </a:r>
            <a:r>
              <a:rPr lang="en-US" altLang="ja-JP" b="1" dirty="0">
                <a:solidFill>
                  <a:schemeClr val="accent3"/>
                </a:solidFill>
              </a:rPr>
              <a:t>7.8</a:t>
            </a:r>
            <a:r>
              <a:rPr lang="en-US" altLang="ja-JP" sz="1200" b="1" dirty="0">
                <a:solidFill>
                  <a:schemeClr val="accent3"/>
                </a:solidFill>
              </a:rPr>
              <a:t> </a:t>
            </a:r>
            <a:r>
              <a:rPr lang="ja-JP" altLang="en-US" sz="1200" b="1" dirty="0">
                <a:solidFill>
                  <a:schemeClr val="accent3"/>
                </a:solidFill>
              </a:rPr>
              <a:t>週 </a:t>
            </a:r>
            <a:r>
              <a:rPr lang="en-US" altLang="ja-JP" sz="1200" b="1" dirty="0">
                <a:solidFill>
                  <a:schemeClr val="accent3"/>
                </a:solidFill>
              </a:rPr>
              <a:t>(±4.3)</a:t>
            </a:r>
            <a:endParaRPr kumimoji="1" lang="ja-JP" altLang="en-US" sz="1200" dirty="0">
              <a:solidFill>
                <a:schemeClr val="accent3"/>
              </a:solidFill>
            </a:endParaRPr>
          </a:p>
        </p:txBody>
      </p:sp>
      <p:sp>
        <p:nvSpPr>
          <p:cNvPr id="24" name="四角形: 角を丸くする 23">
            <a:extLst>
              <a:ext uri="{FF2B5EF4-FFF2-40B4-BE49-F238E27FC236}">
                <a16:creationId xmlns:a16="http://schemas.microsoft.com/office/drawing/2014/main" id="{108E0D28-99C9-C08D-8764-12F7D3DA58E0}"/>
              </a:ext>
            </a:extLst>
          </p:cNvPr>
          <p:cNvSpPr/>
          <p:nvPr/>
        </p:nvSpPr>
        <p:spPr>
          <a:xfrm>
            <a:off x="704086" y="4645151"/>
            <a:ext cx="3319271" cy="329184"/>
          </a:xfrm>
          <a:prstGeom prst="roundRect">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b="1" dirty="0">
                <a:solidFill>
                  <a:schemeClr val="accent3"/>
                </a:solidFill>
              </a:rPr>
              <a:t>Persuadables                     </a:t>
            </a:r>
            <a:r>
              <a:rPr lang="en-US" altLang="ja-JP" b="1" dirty="0">
                <a:solidFill>
                  <a:schemeClr val="accent3"/>
                </a:solidFill>
              </a:rPr>
              <a:t>276 </a:t>
            </a:r>
            <a:r>
              <a:rPr lang="ja-JP" altLang="en-US" sz="1200" b="1" dirty="0">
                <a:solidFill>
                  <a:schemeClr val="accent3"/>
                </a:solidFill>
              </a:rPr>
              <a:t>個 </a:t>
            </a:r>
            <a:r>
              <a:rPr lang="en-US" altLang="ja-JP" sz="1200" b="1" dirty="0">
                <a:solidFill>
                  <a:schemeClr val="accent3"/>
                </a:solidFill>
              </a:rPr>
              <a:t>(±218)</a:t>
            </a:r>
            <a:endParaRPr kumimoji="1" lang="ja-JP" altLang="en-US" sz="1200" dirty="0">
              <a:solidFill>
                <a:schemeClr val="accent3"/>
              </a:solidFill>
            </a:endParaRPr>
          </a:p>
        </p:txBody>
      </p:sp>
      <p:sp>
        <p:nvSpPr>
          <p:cNvPr id="25" name="四角形: 角を丸くする 24">
            <a:extLst>
              <a:ext uri="{FF2B5EF4-FFF2-40B4-BE49-F238E27FC236}">
                <a16:creationId xmlns:a16="http://schemas.microsoft.com/office/drawing/2014/main" id="{14582901-9E99-7AEC-E991-EA0D6BF9C991}"/>
              </a:ext>
            </a:extLst>
          </p:cNvPr>
          <p:cNvSpPr/>
          <p:nvPr/>
        </p:nvSpPr>
        <p:spPr>
          <a:xfrm>
            <a:off x="704086" y="3703320"/>
            <a:ext cx="3319271" cy="329184"/>
          </a:xfrm>
          <a:prstGeom prst="roundRect">
            <a:avLst/>
          </a:prstGeom>
          <a:solidFill>
            <a:srgbClr val="FFDDD9"/>
          </a:solidFill>
          <a:ln>
            <a:solidFill>
              <a:srgbClr val="FFDD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b="1" dirty="0">
                <a:solidFill>
                  <a:srgbClr val="C00000"/>
                </a:solidFill>
              </a:rPr>
              <a:t>Sleepers                                </a:t>
            </a:r>
            <a:r>
              <a:rPr lang="en-US" altLang="ja-JP" b="1" dirty="0">
                <a:solidFill>
                  <a:srgbClr val="C00000"/>
                </a:solidFill>
              </a:rPr>
              <a:t>4.4</a:t>
            </a:r>
            <a:r>
              <a:rPr lang="en-US" altLang="ja-JP" sz="1200" b="1" dirty="0">
                <a:solidFill>
                  <a:srgbClr val="C00000"/>
                </a:solidFill>
              </a:rPr>
              <a:t> </a:t>
            </a:r>
            <a:r>
              <a:rPr lang="ja-JP" altLang="en-US" sz="1200" b="1" dirty="0">
                <a:solidFill>
                  <a:srgbClr val="C00000"/>
                </a:solidFill>
              </a:rPr>
              <a:t>週 </a:t>
            </a:r>
            <a:r>
              <a:rPr lang="en-US" altLang="ja-JP" sz="1200" b="1" dirty="0">
                <a:solidFill>
                  <a:srgbClr val="C00000"/>
                </a:solidFill>
              </a:rPr>
              <a:t>(±4.1)</a:t>
            </a:r>
            <a:endParaRPr kumimoji="1" lang="ja-JP" altLang="en-US" sz="1000" dirty="0">
              <a:solidFill>
                <a:srgbClr val="C00000"/>
              </a:solidFill>
            </a:endParaRPr>
          </a:p>
        </p:txBody>
      </p:sp>
      <p:sp>
        <p:nvSpPr>
          <p:cNvPr id="26" name="四角形: 角を丸くする 25">
            <a:extLst>
              <a:ext uri="{FF2B5EF4-FFF2-40B4-BE49-F238E27FC236}">
                <a16:creationId xmlns:a16="http://schemas.microsoft.com/office/drawing/2014/main" id="{4A17E823-BE77-5A6D-5925-55BCB09E38B9}"/>
              </a:ext>
            </a:extLst>
          </p:cNvPr>
          <p:cNvSpPr/>
          <p:nvPr/>
        </p:nvSpPr>
        <p:spPr>
          <a:xfrm>
            <a:off x="704085" y="5061204"/>
            <a:ext cx="3319271" cy="329184"/>
          </a:xfrm>
          <a:prstGeom prst="roundRect">
            <a:avLst/>
          </a:prstGeom>
          <a:solidFill>
            <a:srgbClr val="FFCCCC"/>
          </a:solidFill>
          <a:ln>
            <a:solidFill>
              <a:srgbClr val="FF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b="1" dirty="0">
                <a:solidFill>
                  <a:srgbClr val="C00000"/>
                </a:solidFill>
              </a:rPr>
              <a:t>Sleepers                              </a:t>
            </a:r>
            <a:r>
              <a:rPr lang="en-US" altLang="ja-JP" b="1" dirty="0">
                <a:solidFill>
                  <a:srgbClr val="C00000"/>
                </a:solidFill>
              </a:rPr>
              <a:t>310</a:t>
            </a:r>
            <a:r>
              <a:rPr lang="en-US" altLang="ja-JP" sz="1200" b="1" dirty="0">
                <a:solidFill>
                  <a:srgbClr val="C00000"/>
                </a:solidFill>
              </a:rPr>
              <a:t> </a:t>
            </a:r>
            <a:r>
              <a:rPr lang="ja-JP" altLang="en-US" sz="1200" b="1" dirty="0">
                <a:solidFill>
                  <a:srgbClr val="C00000"/>
                </a:solidFill>
              </a:rPr>
              <a:t>個 </a:t>
            </a:r>
            <a:r>
              <a:rPr lang="en-US" altLang="ja-JP" sz="1200" b="1" dirty="0">
                <a:solidFill>
                  <a:srgbClr val="C00000"/>
                </a:solidFill>
              </a:rPr>
              <a:t>(±246)</a:t>
            </a:r>
            <a:endParaRPr kumimoji="1" lang="ja-JP" altLang="en-US" sz="1000" dirty="0">
              <a:solidFill>
                <a:srgbClr val="C00000"/>
              </a:solidFill>
            </a:endParaRPr>
          </a:p>
        </p:txBody>
      </p:sp>
      <p:sp>
        <p:nvSpPr>
          <p:cNvPr id="28" name="四角形: 上の 2 つの角を丸める 27">
            <a:extLst>
              <a:ext uri="{FF2B5EF4-FFF2-40B4-BE49-F238E27FC236}">
                <a16:creationId xmlns:a16="http://schemas.microsoft.com/office/drawing/2014/main" id="{054C1D2E-31E6-3D75-5E24-A80D863BA727}"/>
              </a:ext>
            </a:extLst>
          </p:cNvPr>
          <p:cNvSpPr/>
          <p:nvPr/>
        </p:nvSpPr>
        <p:spPr>
          <a:xfrm>
            <a:off x="4256135" y="1993392"/>
            <a:ext cx="3771900" cy="4864608"/>
          </a:xfrm>
          <a:prstGeom prst="round2SameRect">
            <a:avLst/>
          </a:prstGeom>
          <a:solidFill>
            <a:schemeClr val="bg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numCol="1" rtlCol="0" anchor="ctr"/>
          <a:lstStyle/>
          <a:p>
            <a:pPr algn="ctr"/>
            <a:r>
              <a:rPr lang="en-US" altLang="ja-JP" b="1" dirty="0">
                <a:solidFill>
                  <a:schemeClr val="tx1"/>
                </a:solidFill>
              </a:rPr>
              <a:t> B.  </a:t>
            </a:r>
            <a:r>
              <a:rPr lang="ja-JP" altLang="en-US" b="1" dirty="0">
                <a:solidFill>
                  <a:schemeClr val="tx1"/>
                </a:solidFill>
              </a:rPr>
              <a:t>在庫</a:t>
            </a:r>
            <a:r>
              <a:rPr lang="en-US" altLang="ja-JP" b="1" dirty="0">
                <a:solidFill>
                  <a:schemeClr val="tx1"/>
                </a:solidFill>
              </a:rPr>
              <a:t>×</a:t>
            </a:r>
            <a:r>
              <a:rPr lang="ja-JP" altLang="en-US" b="1" dirty="0">
                <a:solidFill>
                  <a:schemeClr val="tx1"/>
                </a:solidFill>
              </a:rPr>
              <a:t>広告の交互作用</a:t>
            </a:r>
            <a:endParaRPr lang="en-US" altLang="ja-JP" b="1" dirty="0">
              <a:solidFill>
                <a:schemeClr val="tx1"/>
              </a:solidFill>
            </a:endParaRPr>
          </a:p>
          <a:p>
            <a:pPr algn="ctr"/>
            <a:endParaRPr lang="en-US" altLang="ja-JP" b="1" dirty="0">
              <a:solidFill>
                <a:schemeClr val="tx1"/>
              </a:solidFill>
            </a:endParaRPr>
          </a:p>
          <a:p>
            <a:endParaRPr lang="en-US" altLang="ja-JP" b="1" dirty="0">
              <a:solidFill>
                <a:schemeClr val="tx1"/>
              </a:solidFill>
            </a:endParaRPr>
          </a:p>
          <a:p>
            <a:endParaRPr lang="en-US" altLang="ja-JP" b="1" dirty="0">
              <a:solidFill>
                <a:schemeClr val="tx1"/>
              </a:solidFill>
            </a:endParaRPr>
          </a:p>
          <a:p>
            <a:endParaRPr lang="en-US" altLang="ja-JP" b="1" dirty="0">
              <a:solidFill>
                <a:schemeClr val="tx1"/>
              </a:solidFill>
            </a:endParaRPr>
          </a:p>
          <a:p>
            <a:endParaRPr lang="en-US" altLang="ja-JP" b="1" dirty="0">
              <a:solidFill>
                <a:schemeClr val="tx1"/>
              </a:solidFill>
            </a:endParaRPr>
          </a:p>
          <a:p>
            <a:endParaRPr lang="en-US" altLang="ja-JP" b="1" dirty="0">
              <a:solidFill>
                <a:schemeClr val="tx1"/>
              </a:solidFill>
            </a:endParaRPr>
          </a:p>
          <a:p>
            <a:endParaRPr lang="en-US" altLang="ja-JP" b="1" dirty="0">
              <a:solidFill>
                <a:schemeClr val="tx1"/>
              </a:solidFill>
            </a:endParaRPr>
          </a:p>
          <a:p>
            <a:endParaRPr lang="en-US" altLang="ja-JP" b="1" dirty="0">
              <a:solidFill>
                <a:schemeClr val="tx1"/>
              </a:solidFill>
            </a:endParaRPr>
          </a:p>
          <a:p>
            <a:endParaRPr lang="en-US" altLang="ja-JP" b="1" dirty="0">
              <a:solidFill>
                <a:schemeClr val="tx1"/>
              </a:solidFill>
            </a:endParaRPr>
          </a:p>
          <a:p>
            <a:endParaRPr lang="en-US" altLang="ja-JP" b="1" dirty="0">
              <a:solidFill>
                <a:schemeClr val="tx1"/>
              </a:solidFill>
            </a:endParaRPr>
          </a:p>
          <a:p>
            <a:endParaRPr lang="en-US" altLang="ja-JP" b="1" dirty="0">
              <a:solidFill>
                <a:schemeClr val="tx1"/>
              </a:solidFill>
            </a:endParaRPr>
          </a:p>
          <a:p>
            <a:endParaRPr lang="en-US" altLang="ja-JP" b="1" dirty="0">
              <a:solidFill>
                <a:schemeClr val="tx1"/>
              </a:solidFill>
            </a:endParaRPr>
          </a:p>
          <a:p>
            <a:endParaRPr lang="en-US" altLang="ja-JP" b="1" dirty="0">
              <a:solidFill>
                <a:schemeClr val="tx1"/>
              </a:solidFill>
            </a:endParaRPr>
          </a:p>
          <a:p>
            <a:endParaRPr lang="en-US" altLang="ja-JP" b="1" dirty="0">
              <a:solidFill>
                <a:schemeClr val="tx1"/>
              </a:solidFill>
            </a:endParaRPr>
          </a:p>
          <a:p>
            <a:endParaRPr kumimoji="1" lang="ja-JP" altLang="en-US" b="1" dirty="0">
              <a:solidFill>
                <a:schemeClr val="tx1"/>
              </a:solidFill>
            </a:endParaRPr>
          </a:p>
        </p:txBody>
      </p:sp>
      <p:cxnSp>
        <p:nvCxnSpPr>
          <p:cNvPr id="29" name="直線コネクタ 28">
            <a:extLst>
              <a:ext uri="{FF2B5EF4-FFF2-40B4-BE49-F238E27FC236}">
                <a16:creationId xmlns:a16="http://schemas.microsoft.com/office/drawing/2014/main" id="{E103656C-E0F1-100F-1800-D4CC3657D92C}"/>
              </a:ext>
            </a:extLst>
          </p:cNvPr>
          <p:cNvCxnSpPr>
            <a:cxnSpLocks/>
          </p:cNvCxnSpPr>
          <p:nvPr/>
        </p:nvCxnSpPr>
        <p:spPr>
          <a:xfrm>
            <a:off x="4450445" y="2761488"/>
            <a:ext cx="3383280" cy="0"/>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graphicFrame>
        <p:nvGraphicFramePr>
          <p:cNvPr id="32" name="グラフ 31">
            <a:extLst>
              <a:ext uri="{FF2B5EF4-FFF2-40B4-BE49-F238E27FC236}">
                <a16:creationId xmlns:a16="http://schemas.microsoft.com/office/drawing/2014/main" id="{FE8295E4-20D3-AFFB-1C32-4651087BA825}"/>
              </a:ext>
            </a:extLst>
          </p:cNvPr>
          <p:cNvGraphicFramePr/>
          <p:nvPr>
            <p:extLst>
              <p:ext uri="{D42A27DB-BD31-4B8C-83A1-F6EECF244321}">
                <p14:modId xmlns:p14="http://schemas.microsoft.com/office/powerpoint/2010/main" val="1589491006"/>
              </p:ext>
            </p:extLst>
          </p:nvPr>
        </p:nvGraphicFramePr>
        <p:xfrm>
          <a:off x="4256134" y="2761488"/>
          <a:ext cx="3771901" cy="166420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5" name="グラフ 34">
            <a:extLst>
              <a:ext uri="{FF2B5EF4-FFF2-40B4-BE49-F238E27FC236}">
                <a16:creationId xmlns:a16="http://schemas.microsoft.com/office/drawing/2014/main" id="{8ABC644F-69C8-8FB9-5ED7-ADD93894B42F}"/>
              </a:ext>
            </a:extLst>
          </p:cNvPr>
          <p:cNvGraphicFramePr/>
          <p:nvPr>
            <p:extLst>
              <p:ext uri="{D42A27DB-BD31-4B8C-83A1-F6EECF244321}">
                <p14:modId xmlns:p14="http://schemas.microsoft.com/office/powerpoint/2010/main" val="3731043774"/>
              </p:ext>
            </p:extLst>
          </p:nvPr>
        </p:nvGraphicFramePr>
        <p:xfrm>
          <a:off x="4256135" y="4329731"/>
          <a:ext cx="3771899" cy="1275081"/>
        </p:xfrm>
        <a:graphic>
          <a:graphicData uri="http://schemas.openxmlformats.org/drawingml/2006/chart">
            <c:chart xmlns:c="http://schemas.openxmlformats.org/drawingml/2006/chart" xmlns:r="http://schemas.openxmlformats.org/officeDocument/2006/relationships" r:id="rId4"/>
          </a:graphicData>
        </a:graphic>
      </p:graphicFrame>
      <p:sp>
        <p:nvSpPr>
          <p:cNvPr id="36" name="正方形/長方形 35">
            <a:extLst>
              <a:ext uri="{FF2B5EF4-FFF2-40B4-BE49-F238E27FC236}">
                <a16:creationId xmlns:a16="http://schemas.microsoft.com/office/drawing/2014/main" id="{316D51FB-D0E2-DCE5-44EC-996B739937D5}"/>
              </a:ext>
            </a:extLst>
          </p:cNvPr>
          <p:cNvSpPr/>
          <p:nvPr/>
        </p:nvSpPr>
        <p:spPr>
          <a:xfrm>
            <a:off x="3230880" y="2921507"/>
            <a:ext cx="792476" cy="246887"/>
          </a:xfrm>
          <a:prstGeom prst="rect">
            <a:avLst/>
          </a:prstGeom>
          <a:solidFill>
            <a:schemeClr val="accent4">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rgbClr val="002060"/>
                </a:solidFill>
              </a:rPr>
              <a:t>1.8</a:t>
            </a:r>
            <a:r>
              <a:rPr kumimoji="1" lang="ja-JP" altLang="en-US" sz="1050" b="1" dirty="0">
                <a:solidFill>
                  <a:srgbClr val="002060"/>
                </a:solidFill>
              </a:rPr>
              <a:t>倍の差</a:t>
            </a:r>
          </a:p>
        </p:txBody>
      </p:sp>
      <p:sp>
        <p:nvSpPr>
          <p:cNvPr id="37" name="四角形: 角を丸くする 36">
            <a:extLst>
              <a:ext uri="{FF2B5EF4-FFF2-40B4-BE49-F238E27FC236}">
                <a16:creationId xmlns:a16="http://schemas.microsoft.com/office/drawing/2014/main" id="{7618E7FC-DB62-6B5F-B778-26EDF653CF1C}"/>
              </a:ext>
            </a:extLst>
          </p:cNvPr>
          <p:cNvSpPr/>
          <p:nvPr/>
        </p:nvSpPr>
        <p:spPr>
          <a:xfrm>
            <a:off x="704085" y="5604812"/>
            <a:ext cx="3319271" cy="1139855"/>
          </a:xfrm>
          <a:prstGeom prst="round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200" b="1" dirty="0">
                <a:solidFill>
                  <a:schemeClr val="tx1"/>
                </a:solidFill>
              </a:rPr>
              <a:t>     解釈</a:t>
            </a:r>
            <a:r>
              <a:rPr lang="en-US" altLang="ja-JP" sz="1200" b="1" dirty="0">
                <a:solidFill>
                  <a:schemeClr val="tx1"/>
                </a:solidFill>
              </a:rPr>
              <a:t>:</a:t>
            </a:r>
            <a:r>
              <a:rPr lang="ja-JP" altLang="en-US" sz="1200" dirty="0">
                <a:solidFill>
                  <a:schemeClr val="tx1"/>
                </a:solidFill>
              </a:rPr>
              <a:t> </a:t>
            </a:r>
            <a:endParaRPr lang="en-US" altLang="ja-JP" sz="1200" dirty="0">
              <a:solidFill>
                <a:schemeClr val="tx1"/>
              </a:solidFill>
            </a:endParaRPr>
          </a:p>
          <a:p>
            <a:r>
              <a:rPr lang="ja-JP" altLang="en-US" sz="1200" dirty="0">
                <a:solidFill>
                  <a:schemeClr val="tx1"/>
                </a:solidFill>
              </a:rPr>
              <a:t>説得可能層は在庫期間に余裕があるが、絶対量はやや少ない状況。広告なしでは回転が鈍く、在庫が滞留しやすい特性を持っている。</a:t>
            </a:r>
            <a:endParaRPr kumimoji="1" lang="ja-JP" altLang="en-US" sz="1200" dirty="0">
              <a:solidFill>
                <a:schemeClr val="tx1"/>
              </a:solidFill>
            </a:endParaRPr>
          </a:p>
        </p:txBody>
      </p:sp>
      <p:sp>
        <p:nvSpPr>
          <p:cNvPr id="38" name="四角形: 角を丸くする 37">
            <a:extLst>
              <a:ext uri="{FF2B5EF4-FFF2-40B4-BE49-F238E27FC236}">
                <a16:creationId xmlns:a16="http://schemas.microsoft.com/office/drawing/2014/main" id="{0AF64966-EE7C-0778-73F1-6502AF6D42D9}"/>
              </a:ext>
            </a:extLst>
          </p:cNvPr>
          <p:cNvSpPr/>
          <p:nvPr/>
        </p:nvSpPr>
        <p:spPr>
          <a:xfrm>
            <a:off x="4427017" y="5604811"/>
            <a:ext cx="3319271" cy="1139855"/>
          </a:xfrm>
          <a:prstGeom prst="round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dirty="0">
                <a:solidFill>
                  <a:schemeClr val="tx1"/>
                </a:solidFill>
              </a:rPr>
              <a:t>    </a:t>
            </a:r>
            <a:r>
              <a:rPr lang="ja-JP" altLang="en-US" sz="1200" b="1" dirty="0">
                <a:solidFill>
                  <a:schemeClr val="tx1"/>
                </a:solidFill>
              </a:rPr>
              <a:t>戦略的示唆</a:t>
            </a:r>
            <a:r>
              <a:rPr lang="en-US" altLang="ja-JP" sz="1200" b="1" dirty="0">
                <a:solidFill>
                  <a:schemeClr val="tx1"/>
                </a:solidFill>
              </a:rPr>
              <a:t>:</a:t>
            </a:r>
            <a:r>
              <a:rPr lang="ja-JP" altLang="en-US" sz="1200" dirty="0">
                <a:solidFill>
                  <a:schemeClr val="tx1"/>
                </a:solidFill>
              </a:rPr>
              <a:t> </a:t>
            </a:r>
            <a:endParaRPr lang="en-US" altLang="ja-JP" sz="1200" dirty="0">
              <a:solidFill>
                <a:schemeClr val="tx1"/>
              </a:solidFill>
            </a:endParaRPr>
          </a:p>
          <a:p>
            <a:r>
              <a:rPr lang="ja-JP" altLang="en-US" sz="1200" dirty="0">
                <a:solidFill>
                  <a:schemeClr val="tx1"/>
                </a:solidFill>
              </a:rPr>
              <a:t>無反応層（赤）は広告投下時に在庫手持週がほぼ</a:t>
            </a:r>
            <a:r>
              <a:rPr lang="en-US" altLang="ja-JP" sz="1200" dirty="0">
                <a:solidFill>
                  <a:schemeClr val="tx1"/>
                </a:solidFill>
              </a:rPr>
              <a:t>0</a:t>
            </a:r>
            <a:r>
              <a:rPr lang="ja-JP" altLang="en-US" sz="1200" dirty="0">
                <a:solidFill>
                  <a:schemeClr val="tx1"/>
                </a:solidFill>
              </a:rPr>
              <a:t>の状態に集中。在庫がない状態で広告を打っても売上増につながらず、機会損失のみが発生している。</a:t>
            </a:r>
            <a:endParaRPr kumimoji="1" lang="ja-JP" altLang="en-US" sz="1400" dirty="0">
              <a:solidFill>
                <a:schemeClr val="tx1"/>
              </a:solidFill>
            </a:endParaRPr>
          </a:p>
        </p:txBody>
      </p:sp>
      <p:pic>
        <p:nvPicPr>
          <p:cNvPr id="40" name="グラフィックス 39" descr="電球と歯車 単色塗りつぶし">
            <a:extLst>
              <a:ext uri="{FF2B5EF4-FFF2-40B4-BE49-F238E27FC236}">
                <a16:creationId xmlns:a16="http://schemas.microsoft.com/office/drawing/2014/main" id="{8289D352-C7FC-F3A6-52C2-D15CC5327EF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7590" y="5671771"/>
            <a:ext cx="244396" cy="244396"/>
          </a:xfrm>
          <a:prstGeom prst="rect">
            <a:avLst/>
          </a:prstGeom>
        </p:spPr>
      </p:pic>
      <p:pic>
        <p:nvPicPr>
          <p:cNvPr id="42" name="グラフィックス 41" descr="バッジ: チェックマーク 単色塗りつぶし">
            <a:extLst>
              <a:ext uri="{FF2B5EF4-FFF2-40B4-BE49-F238E27FC236}">
                <a16:creationId xmlns:a16="http://schemas.microsoft.com/office/drawing/2014/main" id="{4D4A36E8-A917-53E9-4A84-6588145B00D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50445" y="5667707"/>
            <a:ext cx="248460" cy="248460"/>
          </a:xfrm>
          <a:prstGeom prst="rect">
            <a:avLst/>
          </a:prstGeom>
        </p:spPr>
      </p:pic>
      <p:sp>
        <p:nvSpPr>
          <p:cNvPr id="43" name="四角形: 上の 2 つの角を丸める 42">
            <a:extLst>
              <a:ext uri="{FF2B5EF4-FFF2-40B4-BE49-F238E27FC236}">
                <a16:creationId xmlns:a16="http://schemas.microsoft.com/office/drawing/2014/main" id="{26D76CAC-066D-19C9-8A59-E1B07E80A232}"/>
              </a:ext>
            </a:extLst>
          </p:cNvPr>
          <p:cNvSpPr/>
          <p:nvPr/>
        </p:nvSpPr>
        <p:spPr>
          <a:xfrm>
            <a:off x="8077929" y="1993392"/>
            <a:ext cx="3771900" cy="4864608"/>
          </a:xfrm>
          <a:prstGeom prst="round2SameRect">
            <a:avLst/>
          </a:prstGeom>
          <a:solidFill>
            <a:schemeClr val="bg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numCol="1" rtlCol="0" anchor="ctr"/>
          <a:lstStyle/>
          <a:p>
            <a:pPr algn="ctr"/>
            <a:endParaRPr lang="en-US" altLang="ja-JP" b="1" dirty="0">
              <a:solidFill>
                <a:schemeClr val="tx1"/>
              </a:solidFill>
            </a:endParaRPr>
          </a:p>
          <a:p>
            <a:pPr algn="ctr"/>
            <a:r>
              <a:rPr lang="en-US" altLang="ja-JP" b="1" dirty="0">
                <a:solidFill>
                  <a:schemeClr val="tx1"/>
                </a:solidFill>
              </a:rPr>
              <a:t>C. </a:t>
            </a:r>
            <a:r>
              <a:rPr lang="ja-JP" altLang="en-US" b="1" dirty="0">
                <a:solidFill>
                  <a:schemeClr val="tx1"/>
                </a:solidFill>
              </a:rPr>
              <a:t>逆説的発見：過去実績</a:t>
            </a:r>
            <a:endParaRPr lang="en-US" altLang="ja-JP" b="1" dirty="0">
              <a:solidFill>
                <a:schemeClr val="tx1"/>
              </a:solidFill>
            </a:endParaRPr>
          </a:p>
          <a:p>
            <a:endParaRPr lang="en-US" altLang="ja-JP" b="1" dirty="0">
              <a:solidFill>
                <a:schemeClr val="tx1"/>
              </a:solidFill>
            </a:endParaRPr>
          </a:p>
          <a:p>
            <a:endParaRPr lang="en-US" altLang="ja-JP" b="1" dirty="0">
              <a:solidFill>
                <a:schemeClr val="tx1"/>
              </a:solidFill>
            </a:endParaRPr>
          </a:p>
          <a:p>
            <a:endParaRPr lang="en-US" altLang="ja-JP" b="1" dirty="0">
              <a:solidFill>
                <a:schemeClr val="tx1"/>
              </a:solidFill>
            </a:endParaRPr>
          </a:p>
          <a:p>
            <a:endParaRPr lang="en-US" altLang="ja-JP" b="1" dirty="0">
              <a:solidFill>
                <a:schemeClr val="tx1"/>
              </a:solidFill>
            </a:endParaRPr>
          </a:p>
          <a:p>
            <a:endParaRPr lang="en-US" altLang="ja-JP" b="1" dirty="0">
              <a:solidFill>
                <a:schemeClr val="tx1"/>
              </a:solidFill>
            </a:endParaRPr>
          </a:p>
          <a:p>
            <a:endParaRPr lang="en-US" altLang="ja-JP" b="1" dirty="0">
              <a:solidFill>
                <a:schemeClr val="tx1"/>
              </a:solidFill>
            </a:endParaRPr>
          </a:p>
          <a:p>
            <a:endParaRPr lang="en-US" altLang="ja-JP" b="1" dirty="0">
              <a:solidFill>
                <a:schemeClr val="tx1"/>
              </a:solidFill>
            </a:endParaRPr>
          </a:p>
          <a:p>
            <a:r>
              <a:rPr lang="ja-JP" altLang="en-US" b="1" dirty="0">
                <a:solidFill>
                  <a:schemeClr val="tx1"/>
                </a:solidFill>
              </a:rPr>
              <a:t>来店客数</a:t>
            </a:r>
            <a:endParaRPr lang="en-US" altLang="ja-JP" b="1" dirty="0">
              <a:solidFill>
                <a:schemeClr val="tx1"/>
              </a:solidFill>
            </a:endParaRPr>
          </a:p>
          <a:p>
            <a:r>
              <a:rPr lang="en-US" altLang="ja-JP" sz="1200" b="1" dirty="0">
                <a:solidFill>
                  <a:schemeClr val="accent3"/>
                </a:solidFill>
              </a:rPr>
              <a:t>Persuadables</a:t>
            </a:r>
            <a:r>
              <a:rPr lang="ja-JP" altLang="en-US" sz="1200" b="1" dirty="0">
                <a:solidFill>
                  <a:schemeClr val="accent3"/>
                </a:solidFill>
              </a:rPr>
              <a:t>                                      </a:t>
            </a:r>
            <a:r>
              <a:rPr lang="en-US" altLang="ja-JP" sz="1200" b="1" dirty="0">
                <a:solidFill>
                  <a:schemeClr val="accent3"/>
                </a:solidFill>
              </a:rPr>
              <a:t>3,048</a:t>
            </a:r>
            <a:r>
              <a:rPr lang="ja-JP" altLang="en-US" sz="1200" b="1" dirty="0">
                <a:solidFill>
                  <a:schemeClr val="accent3"/>
                </a:solidFill>
              </a:rPr>
              <a:t>人</a:t>
            </a:r>
            <a:endParaRPr lang="en-US" altLang="ja-JP" sz="1200" b="1" dirty="0">
              <a:solidFill>
                <a:schemeClr val="tx1"/>
              </a:solidFill>
            </a:endParaRPr>
          </a:p>
          <a:p>
            <a:r>
              <a:rPr lang="en-US" altLang="ja-JP" sz="1200" b="1" dirty="0">
                <a:solidFill>
                  <a:srgbClr val="C00000"/>
                </a:solidFill>
              </a:rPr>
              <a:t>Sleepers</a:t>
            </a:r>
            <a:r>
              <a:rPr lang="ja-JP" altLang="en-US" sz="1200" b="1" dirty="0">
                <a:solidFill>
                  <a:srgbClr val="C00000"/>
                </a:solidFill>
              </a:rPr>
              <a:t>                                               </a:t>
            </a:r>
            <a:r>
              <a:rPr lang="en-US" altLang="ja-JP" sz="1200" b="1" dirty="0">
                <a:solidFill>
                  <a:srgbClr val="C00000"/>
                </a:solidFill>
              </a:rPr>
              <a:t>3,630</a:t>
            </a:r>
            <a:r>
              <a:rPr lang="ja-JP" altLang="en-US" sz="1200" b="1" dirty="0">
                <a:solidFill>
                  <a:srgbClr val="C00000"/>
                </a:solidFill>
              </a:rPr>
              <a:t>人</a:t>
            </a:r>
            <a:endParaRPr lang="en-US" altLang="ja-JP" sz="1200" b="1" dirty="0">
              <a:solidFill>
                <a:srgbClr val="C00000"/>
              </a:solidFill>
            </a:endParaRPr>
          </a:p>
          <a:p>
            <a:endParaRPr lang="en-US" altLang="ja-JP" sz="1200" b="1" dirty="0">
              <a:solidFill>
                <a:srgbClr val="C00000"/>
              </a:solidFill>
            </a:endParaRPr>
          </a:p>
          <a:p>
            <a:endParaRPr lang="en-US" altLang="ja-JP" b="1" dirty="0">
              <a:solidFill>
                <a:schemeClr val="tx1"/>
              </a:solidFill>
            </a:endParaRPr>
          </a:p>
          <a:p>
            <a:endParaRPr lang="en-US" altLang="ja-JP" b="1" dirty="0">
              <a:solidFill>
                <a:schemeClr val="tx1"/>
              </a:solidFill>
            </a:endParaRPr>
          </a:p>
          <a:p>
            <a:endParaRPr lang="en-US" altLang="ja-JP" b="1" dirty="0">
              <a:solidFill>
                <a:schemeClr val="tx1"/>
              </a:solidFill>
            </a:endParaRPr>
          </a:p>
          <a:p>
            <a:endParaRPr lang="en-US" altLang="ja-JP" b="1" dirty="0">
              <a:solidFill>
                <a:schemeClr val="tx1"/>
              </a:solidFill>
            </a:endParaRPr>
          </a:p>
          <a:p>
            <a:endParaRPr lang="en-US" altLang="ja-JP" b="1" dirty="0">
              <a:solidFill>
                <a:schemeClr val="tx1"/>
              </a:solidFill>
            </a:endParaRPr>
          </a:p>
          <a:p>
            <a:endParaRPr kumimoji="1" lang="ja-JP" altLang="en-US" b="1" dirty="0">
              <a:solidFill>
                <a:schemeClr val="tx1"/>
              </a:solidFill>
            </a:endParaRPr>
          </a:p>
        </p:txBody>
      </p:sp>
      <p:cxnSp>
        <p:nvCxnSpPr>
          <p:cNvPr id="44" name="直線コネクタ 43">
            <a:extLst>
              <a:ext uri="{FF2B5EF4-FFF2-40B4-BE49-F238E27FC236}">
                <a16:creationId xmlns:a16="http://schemas.microsoft.com/office/drawing/2014/main" id="{32018DAE-748A-A4F4-5D54-3B7BCD5DAD59}"/>
              </a:ext>
            </a:extLst>
          </p:cNvPr>
          <p:cNvCxnSpPr>
            <a:cxnSpLocks/>
          </p:cNvCxnSpPr>
          <p:nvPr/>
        </p:nvCxnSpPr>
        <p:spPr>
          <a:xfrm>
            <a:off x="8272239" y="2749296"/>
            <a:ext cx="3383280" cy="0"/>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graphicFrame>
        <p:nvGraphicFramePr>
          <p:cNvPr id="47" name="グラフ 46">
            <a:extLst>
              <a:ext uri="{FF2B5EF4-FFF2-40B4-BE49-F238E27FC236}">
                <a16:creationId xmlns:a16="http://schemas.microsoft.com/office/drawing/2014/main" id="{AB86699A-3C13-B064-7DD4-2DB56BC63367}"/>
              </a:ext>
            </a:extLst>
          </p:cNvPr>
          <p:cNvGraphicFramePr/>
          <p:nvPr>
            <p:extLst>
              <p:ext uri="{D42A27DB-BD31-4B8C-83A1-F6EECF244321}">
                <p14:modId xmlns:p14="http://schemas.microsoft.com/office/powerpoint/2010/main" val="2207962754"/>
              </p:ext>
            </p:extLst>
          </p:nvPr>
        </p:nvGraphicFramePr>
        <p:xfrm>
          <a:off x="8272240" y="2761488"/>
          <a:ext cx="3383280" cy="1756682"/>
        </p:xfrm>
        <a:graphic>
          <a:graphicData uri="http://schemas.openxmlformats.org/drawingml/2006/chart">
            <c:chart xmlns:c="http://schemas.openxmlformats.org/drawingml/2006/chart" xmlns:r="http://schemas.openxmlformats.org/officeDocument/2006/relationships" r:id="rId9"/>
          </a:graphicData>
        </a:graphic>
      </p:graphicFrame>
      <p:sp>
        <p:nvSpPr>
          <p:cNvPr id="48" name="四角形: 角を丸くする 47">
            <a:extLst>
              <a:ext uri="{FF2B5EF4-FFF2-40B4-BE49-F238E27FC236}">
                <a16:creationId xmlns:a16="http://schemas.microsoft.com/office/drawing/2014/main" id="{69E970AD-16AB-DECF-EFBE-878771EF4E2F}"/>
              </a:ext>
            </a:extLst>
          </p:cNvPr>
          <p:cNvSpPr/>
          <p:nvPr/>
        </p:nvSpPr>
        <p:spPr>
          <a:xfrm>
            <a:off x="9419057" y="4839289"/>
            <a:ext cx="1474653" cy="126973"/>
          </a:xfrm>
          <a:prstGeom prst="roundRect">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四角形: 角を丸くする 48">
            <a:extLst>
              <a:ext uri="{FF2B5EF4-FFF2-40B4-BE49-F238E27FC236}">
                <a16:creationId xmlns:a16="http://schemas.microsoft.com/office/drawing/2014/main" id="{63165FBB-8813-E369-521B-34950299A87F}"/>
              </a:ext>
            </a:extLst>
          </p:cNvPr>
          <p:cNvSpPr/>
          <p:nvPr/>
        </p:nvSpPr>
        <p:spPr>
          <a:xfrm>
            <a:off x="9415202" y="5033271"/>
            <a:ext cx="1474653" cy="125008"/>
          </a:xfrm>
          <a:prstGeom prst="roundRect">
            <a:avLst/>
          </a:prstGeom>
          <a:solidFill>
            <a:srgbClr val="FF5050"/>
          </a:solidFill>
          <a:ln>
            <a:solidFill>
              <a:srgbClr val="FF5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四角形: 角を丸くする 49">
            <a:extLst>
              <a:ext uri="{FF2B5EF4-FFF2-40B4-BE49-F238E27FC236}">
                <a16:creationId xmlns:a16="http://schemas.microsoft.com/office/drawing/2014/main" id="{3FCEEBDC-457C-16CE-CD5B-2CDF9E7BFE16}"/>
              </a:ext>
            </a:extLst>
          </p:cNvPr>
          <p:cNvSpPr/>
          <p:nvPr/>
        </p:nvSpPr>
        <p:spPr>
          <a:xfrm>
            <a:off x="9415202" y="4839289"/>
            <a:ext cx="1089644" cy="125007"/>
          </a:xfrm>
          <a:prstGeom prst="roundRect">
            <a:avLst/>
          </a:prstGeom>
          <a:solidFill>
            <a:schemeClr val="accent6">
              <a:lumMod val="60000"/>
              <a:lumOff val="40000"/>
            </a:schemeClr>
          </a:solid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テキスト ボックス 50">
            <a:extLst>
              <a:ext uri="{FF2B5EF4-FFF2-40B4-BE49-F238E27FC236}">
                <a16:creationId xmlns:a16="http://schemas.microsoft.com/office/drawing/2014/main" id="{B305668E-A020-F5D1-3C1C-CEFCD5F1EE8F}"/>
              </a:ext>
            </a:extLst>
          </p:cNvPr>
          <p:cNvSpPr txBox="1"/>
          <p:nvPr/>
        </p:nvSpPr>
        <p:spPr>
          <a:xfrm>
            <a:off x="8222345" y="2761488"/>
            <a:ext cx="2560320" cy="369332"/>
          </a:xfrm>
          <a:prstGeom prst="rect">
            <a:avLst/>
          </a:prstGeom>
          <a:noFill/>
        </p:spPr>
        <p:txBody>
          <a:bodyPr wrap="square" rtlCol="0">
            <a:spAutoFit/>
          </a:bodyPr>
          <a:lstStyle/>
          <a:p>
            <a:r>
              <a:rPr kumimoji="1" lang="ja-JP" altLang="en-US" b="1" dirty="0"/>
              <a:t>過去</a:t>
            </a:r>
            <a:r>
              <a:rPr kumimoji="1" lang="en-US" altLang="ja-JP" b="1" dirty="0"/>
              <a:t>3</a:t>
            </a:r>
            <a:r>
              <a:rPr kumimoji="1" lang="ja-JP" altLang="en-US" b="1" dirty="0"/>
              <a:t>日間売上平均</a:t>
            </a:r>
          </a:p>
        </p:txBody>
      </p:sp>
      <p:sp>
        <p:nvSpPr>
          <p:cNvPr id="52" name="四角形: 角を丸くする 51">
            <a:extLst>
              <a:ext uri="{FF2B5EF4-FFF2-40B4-BE49-F238E27FC236}">
                <a16:creationId xmlns:a16="http://schemas.microsoft.com/office/drawing/2014/main" id="{5DAFD204-367B-9B72-1C2A-86C76592B4B8}"/>
              </a:ext>
            </a:extLst>
          </p:cNvPr>
          <p:cNvSpPr/>
          <p:nvPr/>
        </p:nvSpPr>
        <p:spPr>
          <a:xfrm>
            <a:off x="8336248" y="5604811"/>
            <a:ext cx="3319271" cy="1139855"/>
          </a:xfrm>
          <a:prstGeom prst="round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tx1"/>
                </a:solidFill>
              </a:rPr>
              <a:t>    </a:t>
            </a:r>
            <a:r>
              <a:rPr lang="ja-JP" altLang="en-US" sz="1200" b="1" dirty="0">
                <a:solidFill>
                  <a:schemeClr val="tx1"/>
                </a:solidFill>
              </a:rPr>
              <a:t>逆説</a:t>
            </a:r>
            <a:r>
              <a:rPr lang="en-US" altLang="ja-JP" sz="1200" b="1" dirty="0">
                <a:solidFill>
                  <a:schemeClr val="tx1"/>
                </a:solidFill>
              </a:rPr>
              <a:t>:</a:t>
            </a:r>
            <a:r>
              <a:rPr lang="ja-JP" altLang="en-US" sz="1200" dirty="0">
                <a:solidFill>
                  <a:schemeClr val="tx1"/>
                </a:solidFill>
              </a:rPr>
              <a:t> </a:t>
            </a:r>
            <a:endParaRPr lang="en-US" altLang="ja-JP" sz="1200" dirty="0">
              <a:solidFill>
                <a:schemeClr val="tx1"/>
              </a:solidFill>
            </a:endParaRPr>
          </a:p>
          <a:p>
            <a:r>
              <a:rPr lang="ja-JP" altLang="en-US" sz="1200" dirty="0">
                <a:solidFill>
                  <a:schemeClr val="tx1"/>
                </a:solidFill>
              </a:rPr>
              <a:t>無反応層は既に売上・客数が高い「高需要状態」であり、広告による追加効果が飽和している。逆に説得可能層は潜在需要の掘り起こし余地が大きい。</a:t>
            </a:r>
            <a:endParaRPr kumimoji="1" lang="ja-JP" altLang="en-US" sz="1200" dirty="0">
              <a:solidFill>
                <a:schemeClr val="tx1"/>
              </a:solidFill>
            </a:endParaRPr>
          </a:p>
        </p:txBody>
      </p:sp>
      <p:pic>
        <p:nvPicPr>
          <p:cNvPr id="54" name="グラフィックス 53" descr="稲妻 単色塗りつぶし">
            <a:extLst>
              <a:ext uri="{FF2B5EF4-FFF2-40B4-BE49-F238E27FC236}">
                <a16:creationId xmlns:a16="http://schemas.microsoft.com/office/drawing/2014/main" id="{9DD08EA9-2370-4594-C8A2-DA70FCC701B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355924" y="5674861"/>
            <a:ext cx="249406" cy="249406"/>
          </a:xfrm>
          <a:prstGeom prst="rect">
            <a:avLst/>
          </a:prstGeom>
        </p:spPr>
      </p:pic>
      <p:pic>
        <p:nvPicPr>
          <p:cNvPr id="56" name="グラフィックス 55" descr="優良在庫 単色塗りつぶし">
            <a:extLst>
              <a:ext uri="{FF2B5EF4-FFF2-40B4-BE49-F238E27FC236}">
                <a16:creationId xmlns:a16="http://schemas.microsoft.com/office/drawing/2014/main" id="{9929F00C-8447-16B6-7862-80C965FB8B9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07489" y="2249425"/>
            <a:ext cx="393191" cy="393191"/>
          </a:xfrm>
          <a:prstGeom prst="rect">
            <a:avLst/>
          </a:prstGeom>
        </p:spPr>
      </p:pic>
      <p:pic>
        <p:nvPicPr>
          <p:cNvPr id="58" name="グラフィックス 57" descr="設定 単色塗りつぶし">
            <a:extLst>
              <a:ext uri="{FF2B5EF4-FFF2-40B4-BE49-F238E27FC236}">
                <a16:creationId xmlns:a16="http://schemas.microsoft.com/office/drawing/2014/main" id="{479D0BE6-BB1C-9B65-9A02-D2C2134056B3}"/>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411340" y="2249425"/>
            <a:ext cx="393191" cy="393191"/>
          </a:xfrm>
          <a:prstGeom prst="rect">
            <a:avLst/>
          </a:prstGeom>
        </p:spPr>
      </p:pic>
      <p:pic>
        <p:nvPicPr>
          <p:cNvPr id="4" name="グラフィックス 3" descr="警告 単色塗りつぶし">
            <a:extLst>
              <a:ext uri="{FF2B5EF4-FFF2-40B4-BE49-F238E27FC236}">
                <a16:creationId xmlns:a16="http://schemas.microsoft.com/office/drawing/2014/main" id="{B32E60F3-8859-E7CF-2D68-F40D270A5D7C}"/>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222345" y="2246387"/>
            <a:ext cx="382985" cy="382985"/>
          </a:xfrm>
          <a:prstGeom prst="rect">
            <a:avLst/>
          </a:prstGeom>
        </p:spPr>
      </p:pic>
      <p:pic>
        <p:nvPicPr>
          <p:cNvPr id="5" name="図 4" descr="グラフ&#10;&#10;AI 生成コンテンツは誤りを含む可能性があります。">
            <a:extLst>
              <a:ext uri="{FF2B5EF4-FFF2-40B4-BE49-F238E27FC236}">
                <a16:creationId xmlns:a16="http://schemas.microsoft.com/office/drawing/2014/main" id="{82847408-212D-5ACE-4050-6A57A6616C91}"/>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441807" y="4243780"/>
            <a:ext cx="3757654" cy="2591582"/>
          </a:xfrm>
          <a:prstGeom prst="rect">
            <a:avLst/>
          </a:prstGeom>
        </p:spPr>
      </p:pic>
      <p:cxnSp>
        <p:nvCxnSpPr>
          <p:cNvPr id="12" name="直線コネクタ 11">
            <a:extLst>
              <a:ext uri="{FF2B5EF4-FFF2-40B4-BE49-F238E27FC236}">
                <a16:creationId xmlns:a16="http://schemas.microsoft.com/office/drawing/2014/main" id="{77A48F4E-F972-17B5-A739-EC1BC4D42273}"/>
              </a:ext>
            </a:extLst>
          </p:cNvPr>
          <p:cNvCxnSpPr/>
          <p:nvPr/>
        </p:nvCxnSpPr>
        <p:spPr>
          <a:xfrm>
            <a:off x="839788" y="365125"/>
            <a:ext cx="0" cy="677291"/>
          </a:xfrm>
          <a:prstGeom prst="line">
            <a:avLst/>
          </a:prstGeom>
          <a:ln w="762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3" name="直線コネクタ 12">
            <a:extLst>
              <a:ext uri="{FF2B5EF4-FFF2-40B4-BE49-F238E27FC236}">
                <a16:creationId xmlns:a16="http://schemas.microsoft.com/office/drawing/2014/main" id="{AB03274E-3CD0-D797-3688-A3A57AF3BED4}"/>
              </a:ext>
            </a:extLst>
          </p:cNvPr>
          <p:cNvCxnSpPr/>
          <p:nvPr/>
        </p:nvCxnSpPr>
        <p:spPr>
          <a:xfrm>
            <a:off x="0" y="0"/>
            <a:ext cx="12192000" cy="0"/>
          </a:xfrm>
          <a:prstGeom prst="line">
            <a:avLst/>
          </a:prstGeom>
          <a:ln w="762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40129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フローチャート: 代替処理 23">
            <a:extLst>
              <a:ext uri="{FF2B5EF4-FFF2-40B4-BE49-F238E27FC236}">
                <a16:creationId xmlns:a16="http://schemas.microsoft.com/office/drawing/2014/main" id="{9CE6DD1F-AF44-23A5-0186-32C27D50C57B}"/>
              </a:ext>
            </a:extLst>
          </p:cNvPr>
          <p:cNvSpPr/>
          <p:nvPr/>
        </p:nvSpPr>
        <p:spPr>
          <a:xfrm>
            <a:off x="5411788" y="1294447"/>
            <a:ext cx="6190488" cy="2450910"/>
          </a:xfrm>
          <a:prstGeom prst="flowChartAlternateProcess">
            <a:avLst/>
          </a:prstGeom>
          <a:solidFill>
            <a:schemeClr val="bg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b="1" dirty="0">
                <a:solidFill>
                  <a:schemeClr val="accent1"/>
                </a:solidFill>
              </a:rPr>
              <a:t>B. </a:t>
            </a:r>
            <a:r>
              <a:rPr lang="ja-JP" altLang="en-US" b="1" dirty="0">
                <a:solidFill>
                  <a:schemeClr val="accent1"/>
                </a:solidFill>
              </a:rPr>
              <a:t>セグメント別施策設計</a:t>
            </a:r>
          </a:p>
          <a:p>
            <a:pPr marL="342900" indent="-342900" algn="ctr">
              <a:buAutoNum type="alphaUcPeriod"/>
            </a:pPr>
            <a:endParaRPr kumimoji="1" lang="en-US" altLang="ja-JP" b="1" dirty="0">
              <a:solidFill>
                <a:schemeClr val="accent1"/>
              </a:solidFill>
            </a:endParaRPr>
          </a:p>
          <a:p>
            <a:pPr algn="ctr"/>
            <a:endParaRPr lang="en-US" altLang="ja-JP" b="1" dirty="0">
              <a:solidFill>
                <a:schemeClr val="accent1"/>
              </a:solidFill>
            </a:endParaRPr>
          </a:p>
          <a:p>
            <a:pPr algn="ctr"/>
            <a:endParaRPr kumimoji="1" lang="en-US" altLang="ja-JP" b="1" dirty="0">
              <a:solidFill>
                <a:schemeClr val="accent1"/>
              </a:solidFill>
            </a:endParaRPr>
          </a:p>
          <a:p>
            <a:pPr algn="ctr"/>
            <a:endParaRPr lang="en-US" altLang="ja-JP" b="1" dirty="0">
              <a:solidFill>
                <a:schemeClr val="accent1"/>
              </a:solidFill>
            </a:endParaRPr>
          </a:p>
          <a:p>
            <a:pPr algn="ctr"/>
            <a:endParaRPr kumimoji="1" lang="en-US" altLang="ja-JP" b="1" dirty="0">
              <a:solidFill>
                <a:schemeClr val="accent1"/>
              </a:solidFill>
            </a:endParaRPr>
          </a:p>
          <a:p>
            <a:pPr algn="ctr"/>
            <a:endParaRPr lang="en-US" altLang="ja-JP" b="1" dirty="0">
              <a:solidFill>
                <a:schemeClr val="accent1"/>
              </a:solidFill>
            </a:endParaRPr>
          </a:p>
          <a:p>
            <a:pPr algn="ctr"/>
            <a:endParaRPr kumimoji="1" lang="ja-JP" altLang="en-US" dirty="0">
              <a:solidFill>
                <a:schemeClr val="accent1"/>
              </a:solidFill>
            </a:endParaRPr>
          </a:p>
        </p:txBody>
      </p:sp>
      <p:sp>
        <p:nvSpPr>
          <p:cNvPr id="2" name="タイトル 1">
            <a:extLst>
              <a:ext uri="{FF2B5EF4-FFF2-40B4-BE49-F238E27FC236}">
                <a16:creationId xmlns:a16="http://schemas.microsoft.com/office/drawing/2014/main" id="{7537E243-C01D-BBE9-3B5B-B2ADCE5D31BB}"/>
              </a:ext>
            </a:extLst>
          </p:cNvPr>
          <p:cNvSpPr>
            <a:spLocks noGrp="1"/>
          </p:cNvSpPr>
          <p:nvPr>
            <p:ph type="title"/>
          </p:nvPr>
        </p:nvSpPr>
        <p:spPr>
          <a:xfrm>
            <a:off x="839788" y="365125"/>
            <a:ext cx="10515600" cy="951611"/>
          </a:xfrm>
        </p:spPr>
        <p:txBody>
          <a:bodyPr>
            <a:normAutofit/>
          </a:bodyPr>
          <a:lstStyle/>
          <a:p>
            <a:r>
              <a:rPr lang="ja-JP" altLang="en-US" b="1" dirty="0"/>
              <a:t>データドリブン意思決定</a:t>
            </a:r>
            <a:br>
              <a:rPr lang="ja-JP" altLang="en-US" b="1" dirty="0"/>
            </a:br>
            <a:r>
              <a:rPr lang="ja-JP" altLang="en-US" sz="1600" b="1" dirty="0">
                <a:solidFill>
                  <a:schemeClr val="bg2">
                    <a:lumMod val="75000"/>
                  </a:schemeClr>
                </a:solidFill>
              </a:rPr>
              <a:t>実務への戦略的提言と</a:t>
            </a:r>
            <a:r>
              <a:rPr lang="en-US" altLang="ja-JP" sz="1600" b="1" dirty="0">
                <a:solidFill>
                  <a:schemeClr val="bg2">
                    <a:lumMod val="75000"/>
                  </a:schemeClr>
                </a:solidFill>
              </a:rPr>
              <a:t>ROI</a:t>
            </a:r>
            <a:r>
              <a:rPr lang="ja-JP" altLang="en-US" sz="1600" b="1" dirty="0">
                <a:solidFill>
                  <a:schemeClr val="bg2">
                    <a:lumMod val="75000"/>
                  </a:schemeClr>
                </a:solidFill>
              </a:rPr>
              <a:t>改善シミュレーション</a:t>
            </a:r>
            <a:endParaRPr kumimoji="1" lang="ja-JP" altLang="en-US" b="1" dirty="0">
              <a:solidFill>
                <a:schemeClr val="bg2">
                  <a:lumMod val="75000"/>
                </a:schemeClr>
              </a:solidFill>
            </a:endParaRPr>
          </a:p>
        </p:txBody>
      </p:sp>
      <p:sp>
        <p:nvSpPr>
          <p:cNvPr id="7" name="フローチャート: 代替処理 6">
            <a:extLst>
              <a:ext uri="{FF2B5EF4-FFF2-40B4-BE49-F238E27FC236}">
                <a16:creationId xmlns:a16="http://schemas.microsoft.com/office/drawing/2014/main" id="{C3991EF7-5560-A80C-064F-24DDDA15B8EE}"/>
              </a:ext>
            </a:extLst>
          </p:cNvPr>
          <p:cNvSpPr/>
          <p:nvPr/>
        </p:nvSpPr>
        <p:spPr>
          <a:xfrm>
            <a:off x="667512" y="1316736"/>
            <a:ext cx="4572000" cy="2450910"/>
          </a:xfrm>
          <a:prstGeom prst="flowChartAlternateProcess">
            <a:avLst/>
          </a:prstGeom>
          <a:solidFill>
            <a:schemeClr val="bg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AutoNum type="alphaUcPeriod"/>
            </a:pPr>
            <a:r>
              <a:rPr lang="ja-JP" altLang="en-US" b="1" dirty="0">
                <a:solidFill>
                  <a:srgbClr val="CC9900"/>
                </a:solidFill>
              </a:rPr>
              <a:t>広告投資の最適化</a:t>
            </a:r>
            <a:r>
              <a:rPr lang="en-US" altLang="ja-JP" b="1" dirty="0">
                <a:solidFill>
                  <a:srgbClr val="CC9900"/>
                </a:solidFill>
              </a:rPr>
              <a:t>2</a:t>
            </a:r>
            <a:r>
              <a:rPr lang="ja-JP" altLang="en-US" b="1" dirty="0">
                <a:solidFill>
                  <a:srgbClr val="CC9900"/>
                </a:solidFill>
              </a:rPr>
              <a:t>原則</a:t>
            </a:r>
            <a:endParaRPr lang="en-US" altLang="ja-JP" b="1" dirty="0">
              <a:solidFill>
                <a:srgbClr val="CC9900"/>
              </a:solidFill>
            </a:endParaRPr>
          </a:p>
          <a:p>
            <a:pPr marL="342900" indent="-342900" algn="ctr">
              <a:buAutoNum type="alphaUcPeriod"/>
            </a:pPr>
            <a:endParaRPr kumimoji="1" lang="en-US" altLang="ja-JP" b="1" dirty="0">
              <a:solidFill>
                <a:schemeClr val="accent1"/>
              </a:solidFill>
            </a:endParaRPr>
          </a:p>
          <a:p>
            <a:pPr algn="ctr"/>
            <a:endParaRPr lang="en-US" altLang="ja-JP" b="1" dirty="0">
              <a:solidFill>
                <a:schemeClr val="accent1"/>
              </a:solidFill>
            </a:endParaRPr>
          </a:p>
          <a:p>
            <a:pPr algn="ctr"/>
            <a:endParaRPr kumimoji="1" lang="en-US" altLang="ja-JP" b="1" dirty="0">
              <a:solidFill>
                <a:schemeClr val="accent1"/>
              </a:solidFill>
            </a:endParaRPr>
          </a:p>
          <a:p>
            <a:pPr algn="ctr"/>
            <a:endParaRPr lang="en-US" altLang="ja-JP" b="1" dirty="0">
              <a:solidFill>
                <a:schemeClr val="accent1"/>
              </a:solidFill>
            </a:endParaRPr>
          </a:p>
          <a:p>
            <a:pPr algn="ctr"/>
            <a:endParaRPr kumimoji="1" lang="en-US" altLang="ja-JP" b="1" dirty="0">
              <a:solidFill>
                <a:schemeClr val="accent1"/>
              </a:solidFill>
            </a:endParaRPr>
          </a:p>
          <a:p>
            <a:pPr algn="ctr"/>
            <a:endParaRPr lang="en-US" altLang="ja-JP" b="1" dirty="0">
              <a:solidFill>
                <a:schemeClr val="accent1"/>
              </a:solidFill>
            </a:endParaRPr>
          </a:p>
          <a:p>
            <a:pPr algn="ctr"/>
            <a:endParaRPr kumimoji="1" lang="ja-JP" altLang="en-US" dirty="0">
              <a:solidFill>
                <a:schemeClr val="accent1"/>
              </a:solidFill>
            </a:endParaRPr>
          </a:p>
        </p:txBody>
      </p:sp>
      <p:sp>
        <p:nvSpPr>
          <p:cNvPr id="8" name="正方形/長方形 7">
            <a:extLst>
              <a:ext uri="{FF2B5EF4-FFF2-40B4-BE49-F238E27FC236}">
                <a16:creationId xmlns:a16="http://schemas.microsoft.com/office/drawing/2014/main" id="{C0A164B1-FF9A-8B2C-56EE-F8D20C684753}"/>
              </a:ext>
            </a:extLst>
          </p:cNvPr>
          <p:cNvSpPr/>
          <p:nvPr/>
        </p:nvSpPr>
        <p:spPr>
          <a:xfrm>
            <a:off x="798576" y="1837309"/>
            <a:ext cx="4276344" cy="787019"/>
          </a:xfrm>
          <a:prstGeom prst="rect">
            <a:avLst/>
          </a:prstGeom>
          <a:solidFill>
            <a:srgbClr val="CC9900"/>
          </a:solidFill>
          <a:ln>
            <a:solidFill>
              <a:srgbClr val="CC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4169EBEC-F793-42F3-849B-8F06F89E09CD}"/>
              </a:ext>
            </a:extLst>
          </p:cNvPr>
          <p:cNvSpPr/>
          <p:nvPr/>
        </p:nvSpPr>
        <p:spPr>
          <a:xfrm>
            <a:off x="797116" y="2779776"/>
            <a:ext cx="4276344" cy="787337"/>
          </a:xfrm>
          <a:prstGeom prst="rect">
            <a:avLst/>
          </a:prstGeom>
          <a:solidFill>
            <a:srgbClr val="CC9900"/>
          </a:solidFill>
          <a:ln>
            <a:solidFill>
              <a:srgbClr val="CC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C1DFBEA2-0895-8B6C-F758-5591AC33F198}"/>
              </a:ext>
            </a:extLst>
          </p:cNvPr>
          <p:cNvSpPr/>
          <p:nvPr/>
        </p:nvSpPr>
        <p:spPr>
          <a:xfrm>
            <a:off x="914400" y="1837309"/>
            <a:ext cx="4160520" cy="787019"/>
          </a:xfrm>
          <a:prstGeom prst="rect">
            <a:avLst/>
          </a:prstGeom>
          <a:solidFill>
            <a:srgbClr val="FFFFCC"/>
          </a:solidFill>
          <a:ln>
            <a:solidFill>
              <a:srgbClr val="FFFF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b="1" dirty="0">
                <a:solidFill>
                  <a:schemeClr val="tx1"/>
                </a:solidFill>
              </a:rPr>
              <a:t>    在庫充足度を優先</a:t>
            </a:r>
          </a:p>
          <a:p>
            <a:r>
              <a:rPr lang="ja-JP" altLang="en-US" sz="1400" b="1" dirty="0">
                <a:solidFill>
                  <a:schemeClr val="tx1">
                    <a:lumMod val="50000"/>
                    <a:lumOff val="50000"/>
                  </a:schemeClr>
                </a:solidFill>
              </a:rPr>
              <a:t>     在庫手持週≥</a:t>
            </a:r>
            <a:r>
              <a:rPr lang="en-US" altLang="ja-JP" sz="1400" b="1" dirty="0">
                <a:solidFill>
                  <a:schemeClr val="tx1">
                    <a:lumMod val="50000"/>
                    <a:lumOff val="50000"/>
                  </a:schemeClr>
                </a:solidFill>
              </a:rPr>
              <a:t>7</a:t>
            </a:r>
            <a:r>
              <a:rPr lang="ja-JP" altLang="en-US" sz="1400" b="1" dirty="0">
                <a:solidFill>
                  <a:schemeClr val="tx1">
                    <a:lumMod val="50000"/>
                    <a:lumOff val="50000"/>
                  </a:schemeClr>
                </a:solidFill>
              </a:rPr>
              <a:t>・店頭在庫</a:t>
            </a:r>
            <a:r>
              <a:rPr lang="en-US" altLang="ja-JP" sz="1400" b="1" dirty="0">
                <a:solidFill>
                  <a:schemeClr val="tx1">
                    <a:lumMod val="50000"/>
                    <a:lumOff val="50000"/>
                  </a:schemeClr>
                </a:solidFill>
              </a:rPr>
              <a:t>200–400</a:t>
            </a:r>
            <a:r>
              <a:rPr lang="ja-JP" altLang="en-US" sz="1400" b="1" dirty="0">
                <a:solidFill>
                  <a:schemeClr val="tx1">
                    <a:lumMod val="50000"/>
                    <a:lumOff val="50000"/>
                  </a:schemeClr>
                </a:solidFill>
              </a:rPr>
              <a:t>個で効果最</a:t>
            </a:r>
            <a:endParaRPr lang="en-US" altLang="ja-JP" sz="1400" b="1" dirty="0">
              <a:solidFill>
                <a:schemeClr val="tx1">
                  <a:lumMod val="50000"/>
                  <a:lumOff val="50000"/>
                </a:schemeClr>
              </a:solidFill>
            </a:endParaRPr>
          </a:p>
          <a:p>
            <a:r>
              <a:rPr lang="en-US" altLang="ja-JP" sz="1400" b="1" dirty="0">
                <a:solidFill>
                  <a:schemeClr val="tx1">
                    <a:lumMod val="50000"/>
                    <a:lumOff val="50000"/>
                  </a:schemeClr>
                </a:solidFill>
              </a:rPr>
              <a:t>     </a:t>
            </a:r>
            <a:r>
              <a:rPr lang="ja-JP" altLang="en-US" sz="1400" b="1" dirty="0">
                <a:solidFill>
                  <a:schemeClr val="tx1">
                    <a:lumMod val="50000"/>
                    <a:lumOff val="50000"/>
                  </a:schemeClr>
                </a:solidFill>
              </a:rPr>
              <a:t>大化。欠品リスク時の広告は厳禁。</a:t>
            </a:r>
          </a:p>
        </p:txBody>
      </p:sp>
      <p:sp>
        <p:nvSpPr>
          <p:cNvPr id="11" name="正方形/長方形 10">
            <a:extLst>
              <a:ext uri="{FF2B5EF4-FFF2-40B4-BE49-F238E27FC236}">
                <a16:creationId xmlns:a16="http://schemas.microsoft.com/office/drawing/2014/main" id="{C0D3F409-396D-959C-F94D-CD8C15F8C195}"/>
              </a:ext>
            </a:extLst>
          </p:cNvPr>
          <p:cNvSpPr/>
          <p:nvPr/>
        </p:nvSpPr>
        <p:spPr>
          <a:xfrm>
            <a:off x="914400" y="2779775"/>
            <a:ext cx="4160520" cy="787337"/>
          </a:xfrm>
          <a:prstGeom prst="rect">
            <a:avLst/>
          </a:prstGeom>
          <a:solidFill>
            <a:srgbClr val="FFFFCC"/>
          </a:solidFill>
          <a:ln>
            <a:solidFill>
              <a:srgbClr val="FFFF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b="1" dirty="0">
                <a:solidFill>
                  <a:schemeClr val="tx1"/>
                </a:solidFill>
              </a:rPr>
              <a:t>    低需要層への選択的投資</a:t>
            </a:r>
          </a:p>
          <a:p>
            <a:r>
              <a:rPr lang="ja-JP" altLang="en-US" sz="1400" b="1" dirty="0">
                <a:solidFill>
                  <a:schemeClr val="tx1">
                    <a:lumMod val="50000"/>
                    <a:lumOff val="50000"/>
                  </a:schemeClr>
                </a:solidFill>
              </a:rPr>
              <a:t>     過去売上が低い状況を優先ターゲット化。高     </a:t>
            </a:r>
            <a:endParaRPr lang="en-US" altLang="ja-JP" sz="1400" b="1" dirty="0">
              <a:solidFill>
                <a:schemeClr val="tx1">
                  <a:lumMod val="50000"/>
                  <a:lumOff val="50000"/>
                </a:schemeClr>
              </a:solidFill>
            </a:endParaRPr>
          </a:p>
          <a:p>
            <a:r>
              <a:rPr lang="en-US" altLang="ja-JP" sz="1400" b="1" dirty="0">
                <a:solidFill>
                  <a:schemeClr val="tx1">
                    <a:lumMod val="50000"/>
                    <a:lumOff val="50000"/>
                  </a:schemeClr>
                </a:solidFill>
              </a:rPr>
              <a:t>     </a:t>
            </a:r>
            <a:r>
              <a:rPr lang="ja-JP" altLang="en-US" sz="1400" b="1" dirty="0">
                <a:solidFill>
                  <a:schemeClr val="tx1">
                    <a:lumMod val="50000"/>
                    <a:lumOff val="50000"/>
                  </a:schemeClr>
                </a:solidFill>
              </a:rPr>
              <a:t>需要の商品への追加投資は逆効果。</a:t>
            </a:r>
          </a:p>
        </p:txBody>
      </p:sp>
      <p:cxnSp>
        <p:nvCxnSpPr>
          <p:cNvPr id="15" name="直線コネクタ 14">
            <a:extLst>
              <a:ext uri="{FF2B5EF4-FFF2-40B4-BE49-F238E27FC236}">
                <a16:creationId xmlns:a16="http://schemas.microsoft.com/office/drawing/2014/main" id="{83EAC140-B130-FCDC-7DD4-AB72C8267203}"/>
              </a:ext>
            </a:extLst>
          </p:cNvPr>
          <p:cNvCxnSpPr>
            <a:cxnSpLocks/>
          </p:cNvCxnSpPr>
          <p:nvPr/>
        </p:nvCxnSpPr>
        <p:spPr>
          <a:xfrm>
            <a:off x="797116" y="1700784"/>
            <a:ext cx="4276344" cy="0"/>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8570DF4C-99CE-0095-6CC6-93D318353EBA}"/>
              </a:ext>
            </a:extLst>
          </p:cNvPr>
          <p:cNvCxnSpPr>
            <a:cxnSpLocks/>
          </p:cNvCxnSpPr>
          <p:nvPr/>
        </p:nvCxnSpPr>
        <p:spPr>
          <a:xfrm>
            <a:off x="5651120" y="1700784"/>
            <a:ext cx="5721096" cy="0"/>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graphicFrame>
        <p:nvGraphicFramePr>
          <p:cNvPr id="18" name="表 17">
            <a:extLst>
              <a:ext uri="{FF2B5EF4-FFF2-40B4-BE49-F238E27FC236}">
                <a16:creationId xmlns:a16="http://schemas.microsoft.com/office/drawing/2014/main" id="{2DA68220-0F3B-89B2-A683-FCC47354893A}"/>
              </a:ext>
            </a:extLst>
          </p:cNvPr>
          <p:cNvGraphicFramePr>
            <a:graphicFrameLocks noGrp="1"/>
          </p:cNvGraphicFramePr>
          <p:nvPr>
            <p:extLst>
              <p:ext uri="{D42A27DB-BD31-4B8C-83A1-F6EECF244321}">
                <p14:modId xmlns:p14="http://schemas.microsoft.com/office/powerpoint/2010/main" val="2386073714"/>
              </p:ext>
            </p:extLst>
          </p:nvPr>
        </p:nvGraphicFramePr>
        <p:xfrm>
          <a:off x="5559552" y="1837310"/>
          <a:ext cx="5833872" cy="1744878"/>
        </p:xfrm>
        <a:graphic>
          <a:graphicData uri="http://schemas.openxmlformats.org/drawingml/2006/table">
            <a:tbl>
              <a:tblPr firstRow="1" bandRow="1">
                <a:tableStyleId>{69012ECD-51FC-41F1-AA8D-1B2483CD663E}</a:tableStyleId>
              </a:tblPr>
              <a:tblGrid>
                <a:gridCol w="1453896">
                  <a:extLst>
                    <a:ext uri="{9D8B030D-6E8A-4147-A177-3AD203B41FA5}">
                      <a16:colId xmlns:a16="http://schemas.microsoft.com/office/drawing/2014/main" val="3382434752"/>
                    </a:ext>
                  </a:extLst>
                </a:gridCol>
                <a:gridCol w="1993392">
                  <a:extLst>
                    <a:ext uri="{9D8B030D-6E8A-4147-A177-3AD203B41FA5}">
                      <a16:colId xmlns:a16="http://schemas.microsoft.com/office/drawing/2014/main" val="3720043948"/>
                    </a:ext>
                  </a:extLst>
                </a:gridCol>
                <a:gridCol w="1017798">
                  <a:extLst>
                    <a:ext uri="{9D8B030D-6E8A-4147-A177-3AD203B41FA5}">
                      <a16:colId xmlns:a16="http://schemas.microsoft.com/office/drawing/2014/main" val="4197365061"/>
                    </a:ext>
                  </a:extLst>
                </a:gridCol>
                <a:gridCol w="1368786">
                  <a:extLst>
                    <a:ext uri="{9D8B030D-6E8A-4147-A177-3AD203B41FA5}">
                      <a16:colId xmlns:a16="http://schemas.microsoft.com/office/drawing/2014/main" val="976214723"/>
                    </a:ext>
                  </a:extLst>
                </a:gridCol>
              </a:tblGrid>
              <a:tr h="353239">
                <a:tc>
                  <a:txBody>
                    <a:bodyPr/>
                    <a:lstStyle/>
                    <a:p>
                      <a:r>
                        <a:rPr kumimoji="1" lang="ja-JP" altLang="en-US" sz="1600" b="1" i="0" kern="1200" dirty="0">
                          <a:solidFill>
                            <a:schemeClr val="tx1"/>
                          </a:solidFill>
                          <a:effectLst/>
                          <a:latin typeface="+mn-lt"/>
                          <a:ea typeface="+mn-ea"/>
                          <a:cs typeface="+mn-cs"/>
                        </a:rPr>
                        <a:t>セグメント</a:t>
                      </a:r>
                      <a:endParaRPr kumimoji="1" lang="ja-JP" altLang="en-US" sz="1600" dirty="0">
                        <a:solidFill>
                          <a:schemeClr val="tx1"/>
                        </a:solidFill>
                      </a:endParaRPr>
                    </a:p>
                  </a:txBody>
                  <a:tcPr>
                    <a:lnL w="12700" cap="flat" cmpd="sng" algn="ctr">
                      <a:solidFill>
                        <a:schemeClr val="bg2">
                          <a:lumMod val="75000"/>
                        </a:schemeClr>
                      </a:solidFill>
                      <a:prstDash val="solid"/>
                      <a:round/>
                      <a:headEnd type="none" w="med" len="med"/>
                      <a:tailEnd type="none" w="med" len="med"/>
                    </a:lnL>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buNone/>
                      </a:pPr>
                      <a:r>
                        <a:rPr lang="ja-JP" altLang="en-US" sz="1600" b="1" dirty="0">
                          <a:solidFill>
                            <a:schemeClr val="tx1"/>
                          </a:solidFill>
                          <a:effectLst/>
                        </a:rPr>
                        <a:t>施策方針</a:t>
                      </a:r>
                      <a:endParaRPr lang="en-US" altLang="ja-JP" sz="1600" b="1" dirty="0">
                        <a:solidFill>
                          <a:schemeClr val="tx1"/>
                        </a:solidFill>
                        <a:effectLst/>
                      </a:endParaRPr>
                    </a:p>
                  </a:txBody>
                  <a:tcPr marL="38100" marR="38100" marT="38100" marB="38100" anchor="ct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r>
                        <a:rPr kumimoji="1" lang="ja-JP" altLang="en-US" sz="1600" b="1" i="0" kern="1200" dirty="0">
                          <a:solidFill>
                            <a:schemeClr val="tx1"/>
                          </a:solidFill>
                          <a:effectLst/>
                          <a:latin typeface="+mn-lt"/>
                          <a:ea typeface="+mn-ea"/>
                          <a:cs typeface="+mn-cs"/>
                        </a:rPr>
                        <a:t>投資配分</a:t>
                      </a:r>
                      <a:endParaRPr kumimoji="1" lang="ja-JP" altLang="en-US" sz="1600" dirty="0">
                        <a:solidFill>
                          <a:schemeClr val="tx1"/>
                        </a:solidFill>
                      </a:endParaRPr>
                    </a:p>
                  </a:txBody>
                  <a:tcP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r>
                        <a:rPr kumimoji="1" lang="en-US" altLang="ja-JP" sz="1600" b="1" i="0" kern="1200" dirty="0">
                          <a:solidFill>
                            <a:schemeClr val="tx1"/>
                          </a:solidFill>
                          <a:effectLst/>
                          <a:latin typeface="+mn-lt"/>
                          <a:ea typeface="+mn-ea"/>
                          <a:cs typeface="+mn-cs"/>
                        </a:rPr>
                        <a:t>KPI</a:t>
                      </a:r>
                      <a:endParaRPr kumimoji="1" lang="ja-JP" altLang="en-US" sz="1600" dirty="0">
                        <a:solidFill>
                          <a:schemeClr val="tx1"/>
                        </a:solidFill>
                      </a:endParaRPr>
                    </a:p>
                  </a:txBody>
                  <a:tcPr>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2722489249"/>
                  </a:ext>
                </a:extLst>
              </a:tr>
              <a:tr h="435133">
                <a:tc>
                  <a:txBody>
                    <a:bodyPr/>
                    <a:lstStyle/>
                    <a:p>
                      <a:endParaRPr kumimoji="1" lang="ja-JP" altLang="en-US" dirty="0"/>
                    </a:p>
                  </a:txBody>
                  <a:tcPr>
                    <a:lnL w="12700" cap="flat" cmpd="sng" algn="ctr">
                      <a:solidFill>
                        <a:schemeClr val="bg2">
                          <a:lumMod val="75000"/>
                        </a:schemeClr>
                      </a:solidFill>
                      <a:prstDash val="solid"/>
                      <a:round/>
                      <a:headEnd type="none" w="med" len="med"/>
                      <a:tailEnd type="none" w="med" len="med"/>
                    </a:lnL>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r>
                        <a:rPr kumimoji="1" lang="ja-JP" altLang="en-US" sz="1400" b="1" dirty="0"/>
                        <a:t>積極的広告投資</a:t>
                      </a:r>
                    </a:p>
                  </a:txBody>
                  <a:tcP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r>
                        <a:rPr kumimoji="1" lang="en-US" altLang="ja-JP" sz="1400" b="1" i="0" kern="1200" dirty="0">
                          <a:solidFill>
                            <a:srgbClr val="00B050"/>
                          </a:solidFill>
                          <a:effectLst/>
                          <a:latin typeface="+mn-lt"/>
                          <a:ea typeface="+mn-ea"/>
                          <a:cs typeface="+mn-cs"/>
                        </a:rPr>
                        <a:t>60-70%</a:t>
                      </a:r>
                      <a:endParaRPr kumimoji="1" lang="ja-JP" altLang="en-US" sz="1400" dirty="0">
                        <a:solidFill>
                          <a:srgbClr val="00B050"/>
                        </a:solidFill>
                      </a:endParaRPr>
                    </a:p>
                  </a:txBody>
                  <a:tcP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r>
                        <a:rPr kumimoji="1" lang="ja-JP" altLang="en-US" sz="1400" b="0" i="0" kern="1200" dirty="0">
                          <a:solidFill>
                            <a:schemeClr val="tx1"/>
                          </a:solidFill>
                          <a:effectLst/>
                          <a:latin typeface="+mn-lt"/>
                          <a:ea typeface="+mn-ea"/>
                          <a:cs typeface="+mn-cs"/>
                        </a:rPr>
                        <a:t>増分需要</a:t>
                      </a:r>
                      <a:r>
                        <a:rPr kumimoji="1" lang="en-US" altLang="ja-JP" sz="1400" b="0" i="0" kern="1200" dirty="0">
                          <a:solidFill>
                            <a:schemeClr val="tx1"/>
                          </a:solidFill>
                          <a:effectLst/>
                          <a:latin typeface="+mn-lt"/>
                          <a:ea typeface="+mn-ea"/>
                          <a:cs typeface="+mn-cs"/>
                        </a:rPr>
                        <a:t>, ROI</a:t>
                      </a:r>
                      <a:endParaRPr kumimoji="1" lang="ja-JP" altLang="en-US" sz="1400" dirty="0"/>
                    </a:p>
                  </a:txBody>
                  <a:tcPr>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1821766289"/>
                  </a:ext>
                </a:extLst>
              </a:tr>
              <a:tr h="435133">
                <a:tc>
                  <a:txBody>
                    <a:bodyPr/>
                    <a:lstStyle/>
                    <a:p>
                      <a:endParaRPr kumimoji="1" lang="ja-JP" altLang="en-US" dirty="0"/>
                    </a:p>
                  </a:txBody>
                  <a:tcPr>
                    <a:lnL w="12700" cap="flat" cmpd="sng" algn="ctr">
                      <a:solidFill>
                        <a:schemeClr val="bg2">
                          <a:lumMod val="75000"/>
                        </a:schemeClr>
                      </a:solidFill>
                      <a:prstDash val="solid"/>
                      <a:round/>
                      <a:headEnd type="none" w="med" len="med"/>
                      <a:tailEnd type="none" w="med" len="med"/>
                    </a:lnL>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r>
                        <a:rPr kumimoji="1" lang="ja-JP" altLang="en-US" sz="1400" b="0" i="0" kern="1200" dirty="0">
                          <a:solidFill>
                            <a:schemeClr val="tx1"/>
                          </a:solidFill>
                          <a:effectLst/>
                          <a:latin typeface="+mn-lt"/>
                          <a:ea typeface="+mn-ea"/>
                          <a:cs typeface="+mn-cs"/>
                        </a:rPr>
                        <a:t>最小限の想起広告</a:t>
                      </a:r>
                      <a:endParaRPr kumimoji="1" lang="ja-JP" altLang="en-US" sz="1400" dirty="0"/>
                    </a:p>
                  </a:txBody>
                  <a:tcP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r>
                        <a:rPr kumimoji="1" lang="en-US" altLang="ja-JP" sz="1400" b="0" i="0" kern="1200" dirty="0">
                          <a:solidFill>
                            <a:schemeClr val="tx1"/>
                          </a:solidFill>
                          <a:effectLst/>
                          <a:latin typeface="+mn-lt"/>
                          <a:ea typeface="+mn-ea"/>
                          <a:cs typeface="+mn-cs"/>
                        </a:rPr>
                        <a:t>10-20%</a:t>
                      </a:r>
                      <a:endParaRPr kumimoji="1" lang="ja-JP" altLang="en-US" sz="1400" dirty="0"/>
                    </a:p>
                  </a:txBody>
                  <a:tcP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buNone/>
                      </a:pPr>
                      <a:r>
                        <a:rPr lang="ja-JP" altLang="en-US" sz="1400" dirty="0">
                          <a:effectLst/>
                        </a:rPr>
                        <a:t>ブランド維持</a:t>
                      </a:r>
                    </a:p>
                  </a:txBody>
                  <a:tcPr marL="38100" marR="38100" marT="50800" marB="50800" anchor="ctr">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4271377808"/>
                  </a:ext>
                </a:extLst>
              </a:tr>
              <a:tr h="521373">
                <a:tc>
                  <a:txBody>
                    <a:bodyPr/>
                    <a:lstStyle/>
                    <a:p>
                      <a:endParaRPr kumimoji="1" lang="ja-JP" altLang="en-US" dirty="0"/>
                    </a:p>
                  </a:txBody>
                  <a:tcPr>
                    <a:lnL w="12700" cap="flat" cmpd="sng" algn="ctr">
                      <a:solidFill>
                        <a:schemeClr val="bg2">
                          <a:lumMod val="75000"/>
                        </a:schemeClr>
                      </a:solidFill>
                      <a:prstDash val="solid"/>
                      <a:round/>
                      <a:headEnd type="none" w="med" len="med"/>
                      <a:tailEnd type="none" w="med" len="med"/>
                    </a:lnL>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r>
                        <a:rPr kumimoji="1" lang="ja-JP" altLang="en-US" sz="1400" b="1" i="0" kern="1200" dirty="0">
                          <a:solidFill>
                            <a:schemeClr val="bg1">
                              <a:lumMod val="65000"/>
                            </a:schemeClr>
                          </a:solidFill>
                          <a:effectLst/>
                          <a:latin typeface="+mn-lt"/>
                          <a:ea typeface="+mn-ea"/>
                          <a:cs typeface="+mn-cs"/>
                        </a:rPr>
                        <a:t>広告停止・在庫最適化</a:t>
                      </a:r>
                      <a:endParaRPr kumimoji="1" lang="ja-JP" altLang="en-US" sz="1400" b="1" dirty="0">
                        <a:solidFill>
                          <a:schemeClr val="bg1">
                            <a:lumMod val="65000"/>
                          </a:schemeClr>
                        </a:solidFill>
                      </a:endParaRPr>
                    </a:p>
                  </a:txBody>
                  <a:tcP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r>
                        <a:rPr kumimoji="1" lang="en-US" altLang="ja-JP" sz="1400" b="1" i="0" kern="1200" dirty="0">
                          <a:solidFill>
                            <a:schemeClr val="bg1">
                              <a:lumMod val="65000"/>
                            </a:schemeClr>
                          </a:solidFill>
                          <a:effectLst/>
                          <a:latin typeface="+mn-lt"/>
                          <a:ea typeface="+mn-ea"/>
                          <a:cs typeface="+mn-cs"/>
                        </a:rPr>
                        <a:t>0-5%</a:t>
                      </a:r>
                      <a:endParaRPr kumimoji="1" lang="ja-JP" altLang="en-US" sz="1400" b="1" dirty="0">
                        <a:solidFill>
                          <a:schemeClr val="bg1">
                            <a:lumMod val="65000"/>
                          </a:schemeClr>
                        </a:solidFill>
                      </a:endParaRPr>
                    </a:p>
                  </a:txBody>
                  <a:tcP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r>
                        <a:rPr kumimoji="1" lang="ja-JP" altLang="en-US" sz="1400" b="0" i="0" kern="1200" dirty="0">
                          <a:solidFill>
                            <a:schemeClr val="tx1"/>
                          </a:solidFill>
                          <a:effectLst/>
                          <a:latin typeface="+mn-lt"/>
                          <a:ea typeface="+mn-ea"/>
                          <a:cs typeface="+mn-cs"/>
                        </a:rPr>
                        <a:t>在庫回転率</a:t>
                      </a:r>
                      <a:endParaRPr kumimoji="1" lang="ja-JP" altLang="en-US" sz="1400" b="0" dirty="0">
                        <a:solidFill>
                          <a:schemeClr val="tx1"/>
                        </a:solidFill>
                      </a:endParaRPr>
                    </a:p>
                  </a:txBody>
                  <a:tcPr>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1932688597"/>
                  </a:ext>
                </a:extLst>
              </a:tr>
            </a:tbl>
          </a:graphicData>
        </a:graphic>
      </p:graphicFrame>
      <p:sp>
        <p:nvSpPr>
          <p:cNvPr id="20" name="フローチャート: 代替処理 19">
            <a:extLst>
              <a:ext uri="{FF2B5EF4-FFF2-40B4-BE49-F238E27FC236}">
                <a16:creationId xmlns:a16="http://schemas.microsoft.com/office/drawing/2014/main" id="{F0832B50-A1FF-989F-557A-19FA55736B4A}"/>
              </a:ext>
            </a:extLst>
          </p:cNvPr>
          <p:cNvSpPr/>
          <p:nvPr/>
        </p:nvSpPr>
        <p:spPr>
          <a:xfrm>
            <a:off x="5634292" y="2306577"/>
            <a:ext cx="1389888" cy="213325"/>
          </a:xfrm>
          <a:prstGeom prst="flowChartAlternateProcess">
            <a:avLst/>
          </a:prstGeom>
          <a:solidFill>
            <a:schemeClr val="accent3">
              <a:lumMod val="60000"/>
              <a:lumOff val="40000"/>
            </a:schemeClr>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bg1"/>
                </a:solidFill>
              </a:rPr>
              <a:t>Persuadables</a:t>
            </a:r>
            <a:endParaRPr kumimoji="1" lang="ja-JP" altLang="en-US" sz="1400" b="1" dirty="0">
              <a:solidFill>
                <a:schemeClr val="bg1"/>
              </a:solidFill>
            </a:endParaRPr>
          </a:p>
        </p:txBody>
      </p:sp>
      <p:sp>
        <p:nvSpPr>
          <p:cNvPr id="21" name="フローチャート: 代替処理 20">
            <a:extLst>
              <a:ext uri="{FF2B5EF4-FFF2-40B4-BE49-F238E27FC236}">
                <a16:creationId xmlns:a16="http://schemas.microsoft.com/office/drawing/2014/main" id="{57E9E3A2-9C02-C494-517F-A11CA8CB5781}"/>
              </a:ext>
            </a:extLst>
          </p:cNvPr>
          <p:cNvSpPr/>
          <p:nvPr/>
        </p:nvSpPr>
        <p:spPr>
          <a:xfrm>
            <a:off x="5634292" y="2740169"/>
            <a:ext cx="1251140" cy="213325"/>
          </a:xfrm>
          <a:prstGeom prst="flowChartAlternateProcess">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bg1"/>
                </a:solidFill>
              </a:rPr>
              <a:t>S</a:t>
            </a:r>
            <a:r>
              <a:rPr kumimoji="1" lang="en-US" altLang="ja-JP" sz="1400" b="1" dirty="0">
                <a:solidFill>
                  <a:schemeClr val="bg1"/>
                </a:solidFill>
              </a:rPr>
              <a:t>ure Things</a:t>
            </a:r>
            <a:endParaRPr kumimoji="1" lang="ja-JP" altLang="en-US" sz="1400" b="1" dirty="0">
              <a:solidFill>
                <a:schemeClr val="bg1"/>
              </a:solidFill>
            </a:endParaRPr>
          </a:p>
        </p:txBody>
      </p:sp>
      <p:sp>
        <p:nvSpPr>
          <p:cNvPr id="22" name="フローチャート: 代替処理 21">
            <a:extLst>
              <a:ext uri="{FF2B5EF4-FFF2-40B4-BE49-F238E27FC236}">
                <a16:creationId xmlns:a16="http://schemas.microsoft.com/office/drawing/2014/main" id="{C6712D8A-2090-B481-F483-023C6B700E08}"/>
              </a:ext>
            </a:extLst>
          </p:cNvPr>
          <p:cNvSpPr/>
          <p:nvPr/>
        </p:nvSpPr>
        <p:spPr>
          <a:xfrm>
            <a:off x="5634292" y="3173443"/>
            <a:ext cx="1004252" cy="213325"/>
          </a:xfrm>
          <a:prstGeom prst="flowChartAlternateProcess">
            <a:avLst/>
          </a:prstGeom>
          <a:solidFill>
            <a:srgbClr val="FF5050"/>
          </a:solidFill>
          <a:ln>
            <a:solidFill>
              <a:srgbClr val="FF5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bg1"/>
                </a:solidFill>
              </a:rPr>
              <a:t>Sleepers</a:t>
            </a:r>
            <a:endParaRPr kumimoji="1" lang="ja-JP" altLang="en-US" sz="1400" b="1" dirty="0">
              <a:solidFill>
                <a:schemeClr val="bg1"/>
              </a:solidFill>
            </a:endParaRPr>
          </a:p>
        </p:txBody>
      </p:sp>
      <p:sp>
        <p:nvSpPr>
          <p:cNvPr id="26" name="フローチャート: 代替処理 25">
            <a:extLst>
              <a:ext uri="{FF2B5EF4-FFF2-40B4-BE49-F238E27FC236}">
                <a16:creationId xmlns:a16="http://schemas.microsoft.com/office/drawing/2014/main" id="{F4B7B0D0-A164-49B1-F754-80CC120ED155}"/>
              </a:ext>
            </a:extLst>
          </p:cNvPr>
          <p:cNvSpPr/>
          <p:nvPr/>
        </p:nvSpPr>
        <p:spPr>
          <a:xfrm>
            <a:off x="5381244" y="3881881"/>
            <a:ext cx="6190488" cy="2976119"/>
          </a:xfrm>
          <a:prstGeom prst="flowChartAlternateProcess">
            <a:avLst/>
          </a:prstGeom>
          <a:solidFill>
            <a:schemeClr val="bg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b="1" dirty="0">
                <a:solidFill>
                  <a:schemeClr val="accent1"/>
                </a:solidFill>
              </a:rPr>
              <a:t>C. ROI</a:t>
            </a:r>
            <a:r>
              <a:rPr lang="ja-JP" altLang="en-US" b="1" dirty="0">
                <a:solidFill>
                  <a:schemeClr val="accent1"/>
                </a:solidFill>
              </a:rPr>
              <a:t>改善シミュレーション</a:t>
            </a:r>
          </a:p>
          <a:p>
            <a:pPr marL="342900" indent="-342900" algn="ctr">
              <a:buAutoNum type="alphaUcPeriod"/>
            </a:pPr>
            <a:endParaRPr kumimoji="1" lang="en-US" altLang="ja-JP" b="1" dirty="0">
              <a:solidFill>
                <a:schemeClr val="accent1"/>
              </a:solidFill>
            </a:endParaRPr>
          </a:p>
          <a:p>
            <a:pPr algn="ctr"/>
            <a:endParaRPr lang="en-US" altLang="ja-JP" b="1" dirty="0">
              <a:solidFill>
                <a:schemeClr val="accent1"/>
              </a:solidFill>
            </a:endParaRPr>
          </a:p>
          <a:p>
            <a:pPr algn="ctr"/>
            <a:endParaRPr kumimoji="1" lang="en-US" altLang="ja-JP" b="1" dirty="0">
              <a:solidFill>
                <a:schemeClr val="accent1"/>
              </a:solidFill>
            </a:endParaRPr>
          </a:p>
          <a:p>
            <a:pPr algn="ctr"/>
            <a:endParaRPr lang="en-US" altLang="ja-JP" b="1" dirty="0">
              <a:solidFill>
                <a:schemeClr val="accent1"/>
              </a:solidFill>
            </a:endParaRPr>
          </a:p>
          <a:p>
            <a:pPr algn="ctr"/>
            <a:endParaRPr kumimoji="1" lang="en-US" altLang="ja-JP" b="1" dirty="0">
              <a:solidFill>
                <a:schemeClr val="accent1"/>
              </a:solidFill>
            </a:endParaRPr>
          </a:p>
          <a:p>
            <a:pPr algn="ctr"/>
            <a:endParaRPr lang="en-US" altLang="ja-JP" b="1" dirty="0">
              <a:solidFill>
                <a:schemeClr val="accent1"/>
              </a:solidFill>
            </a:endParaRPr>
          </a:p>
          <a:p>
            <a:pPr algn="ctr"/>
            <a:endParaRPr kumimoji="1" lang="en-US" altLang="ja-JP" dirty="0">
              <a:solidFill>
                <a:schemeClr val="accent1"/>
              </a:solidFill>
            </a:endParaRPr>
          </a:p>
          <a:p>
            <a:pPr algn="ctr"/>
            <a:endParaRPr kumimoji="1" lang="ja-JP" altLang="en-US" dirty="0">
              <a:solidFill>
                <a:schemeClr val="accent1"/>
              </a:solidFill>
            </a:endParaRPr>
          </a:p>
        </p:txBody>
      </p:sp>
      <p:cxnSp>
        <p:nvCxnSpPr>
          <p:cNvPr id="27" name="直線コネクタ 26">
            <a:extLst>
              <a:ext uri="{FF2B5EF4-FFF2-40B4-BE49-F238E27FC236}">
                <a16:creationId xmlns:a16="http://schemas.microsoft.com/office/drawing/2014/main" id="{A3550340-1D7E-D1FC-50CF-55E6A0A51A32}"/>
              </a:ext>
            </a:extLst>
          </p:cNvPr>
          <p:cNvCxnSpPr>
            <a:cxnSpLocks/>
          </p:cNvCxnSpPr>
          <p:nvPr/>
        </p:nvCxnSpPr>
        <p:spPr>
          <a:xfrm>
            <a:off x="5634292" y="4386072"/>
            <a:ext cx="5721096" cy="0"/>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sp>
        <p:nvSpPr>
          <p:cNvPr id="28" name="正方形/長方形 27">
            <a:extLst>
              <a:ext uri="{FF2B5EF4-FFF2-40B4-BE49-F238E27FC236}">
                <a16:creationId xmlns:a16="http://schemas.microsoft.com/office/drawing/2014/main" id="{C39B2113-BBD6-1B01-5249-9AD655A88218}"/>
              </a:ext>
            </a:extLst>
          </p:cNvPr>
          <p:cNvSpPr/>
          <p:nvPr/>
        </p:nvSpPr>
        <p:spPr>
          <a:xfrm>
            <a:off x="5651120" y="4763943"/>
            <a:ext cx="1536064" cy="1728927"/>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bg2">
                    <a:lumMod val="50000"/>
                  </a:schemeClr>
                </a:solidFill>
              </a:rPr>
              <a:t>現状 </a:t>
            </a:r>
            <a:r>
              <a:rPr lang="en-US" altLang="ja-JP" sz="1400" b="1" dirty="0">
                <a:solidFill>
                  <a:schemeClr val="bg2">
                    <a:lumMod val="50000"/>
                  </a:schemeClr>
                </a:solidFill>
              </a:rPr>
              <a:t>(</a:t>
            </a:r>
            <a:r>
              <a:rPr lang="ja-JP" altLang="en-US" sz="1400" b="1" dirty="0">
                <a:solidFill>
                  <a:schemeClr val="bg2">
                    <a:lumMod val="50000"/>
                  </a:schemeClr>
                </a:solidFill>
              </a:rPr>
              <a:t>一律配信</a:t>
            </a:r>
            <a:r>
              <a:rPr lang="en-US" altLang="ja-JP" sz="1400" b="1" dirty="0">
                <a:solidFill>
                  <a:schemeClr val="bg2">
                    <a:lumMod val="50000"/>
                  </a:schemeClr>
                </a:solidFill>
              </a:rPr>
              <a:t>)</a:t>
            </a:r>
          </a:p>
          <a:p>
            <a:pPr algn="ctr"/>
            <a:endParaRPr kumimoji="1" lang="en-US" altLang="ja-JP" sz="1400" b="1" dirty="0">
              <a:solidFill>
                <a:schemeClr val="bg2">
                  <a:lumMod val="50000"/>
                </a:schemeClr>
              </a:solidFill>
            </a:endParaRPr>
          </a:p>
          <a:p>
            <a:pPr algn="ctr"/>
            <a:endParaRPr lang="en-US" altLang="ja-JP" sz="1400" b="1" dirty="0">
              <a:solidFill>
                <a:schemeClr val="bg2">
                  <a:lumMod val="50000"/>
                </a:schemeClr>
              </a:solidFill>
            </a:endParaRPr>
          </a:p>
          <a:p>
            <a:pPr algn="ctr"/>
            <a:endParaRPr kumimoji="1" lang="en-US" altLang="ja-JP" sz="1400" b="1" dirty="0">
              <a:solidFill>
                <a:schemeClr val="bg2">
                  <a:lumMod val="50000"/>
                </a:schemeClr>
              </a:solidFill>
            </a:endParaRPr>
          </a:p>
          <a:p>
            <a:pPr algn="ctr"/>
            <a:endParaRPr lang="en-US" altLang="ja-JP" sz="1400" b="1" dirty="0">
              <a:solidFill>
                <a:schemeClr val="bg2">
                  <a:lumMod val="50000"/>
                </a:schemeClr>
              </a:solidFill>
            </a:endParaRPr>
          </a:p>
          <a:p>
            <a:pPr algn="ctr"/>
            <a:endParaRPr lang="en-US" altLang="ja-JP" sz="1400" b="1" dirty="0">
              <a:solidFill>
                <a:schemeClr val="bg2">
                  <a:lumMod val="50000"/>
                </a:schemeClr>
              </a:solidFill>
            </a:endParaRPr>
          </a:p>
          <a:p>
            <a:pPr algn="ctr"/>
            <a:endParaRPr lang="en-US" altLang="ja-JP" sz="1400" b="1" dirty="0">
              <a:solidFill>
                <a:schemeClr val="bg2">
                  <a:lumMod val="50000"/>
                </a:schemeClr>
              </a:solidFill>
            </a:endParaRPr>
          </a:p>
          <a:p>
            <a:pPr algn="ctr"/>
            <a:r>
              <a:rPr lang="ja-JP" altLang="en-US" sz="900" dirty="0">
                <a:solidFill>
                  <a:schemeClr val="bg2">
                    <a:lumMod val="50000"/>
                  </a:schemeClr>
                </a:solidFill>
              </a:rPr>
              <a:t>全</a:t>
            </a:r>
            <a:r>
              <a:rPr lang="en-US" altLang="ja-JP" sz="900" dirty="0">
                <a:solidFill>
                  <a:schemeClr val="bg2">
                    <a:lumMod val="50000"/>
                  </a:schemeClr>
                </a:solidFill>
              </a:rPr>
              <a:t>84</a:t>
            </a:r>
            <a:r>
              <a:rPr lang="ja-JP" altLang="en-US" sz="900" dirty="0">
                <a:solidFill>
                  <a:schemeClr val="bg2">
                    <a:lumMod val="50000"/>
                  </a:schemeClr>
                </a:solidFill>
              </a:rPr>
              <a:t>サンプルに投資</a:t>
            </a:r>
            <a:endParaRPr kumimoji="1" lang="ja-JP" altLang="en-US" sz="700" dirty="0">
              <a:solidFill>
                <a:schemeClr val="bg2">
                  <a:lumMod val="50000"/>
                </a:schemeClr>
              </a:solidFill>
            </a:endParaRPr>
          </a:p>
        </p:txBody>
      </p:sp>
      <p:sp>
        <p:nvSpPr>
          <p:cNvPr id="29" name="正方形/長方形 28">
            <a:extLst>
              <a:ext uri="{FF2B5EF4-FFF2-40B4-BE49-F238E27FC236}">
                <a16:creationId xmlns:a16="http://schemas.microsoft.com/office/drawing/2014/main" id="{7DD5EF9E-797F-EC77-BAF9-E9F951A51521}"/>
              </a:ext>
            </a:extLst>
          </p:cNvPr>
          <p:cNvSpPr/>
          <p:nvPr/>
        </p:nvSpPr>
        <p:spPr>
          <a:xfrm>
            <a:off x="7708456" y="4768750"/>
            <a:ext cx="1536064" cy="1724109"/>
          </a:xfrm>
          <a:prstGeom prst="rect">
            <a:avLst/>
          </a:prstGeom>
          <a:solidFill>
            <a:schemeClr val="tx2">
              <a:lumMod val="10000"/>
              <a:lumOff val="90000"/>
            </a:schemeClr>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accent1"/>
                </a:solidFill>
              </a:rPr>
              <a:t>最適化後</a:t>
            </a:r>
            <a:endParaRPr lang="en-US" altLang="ja-JP" sz="1400" b="1" dirty="0">
              <a:solidFill>
                <a:schemeClr val="accent1"/>
              </a:solidFill>
            </a:endParaRPr>
          </a:p>
          <a:p>
            <a:pPr algn="ctr"/>
            <a:endParaRPr kumimoji="1" lang="en-US" altLang="ja-JP" sz="1400" b="1" dirty="0">
              <a:solidFill>
                <a:schemeClr val="accent1"/>
              </a:solidFill>
            </a:endParaRPr>
          </a:p>
          <a:p>
            <a:pPr algn="ctr"/>
            <a:endParaRPr lang="en-US" altLang="ja-JP" sz="1400" b="1" dirty="0">
              <a:solidFill>
                <a:schemeClr val="accent1"/>
              </a:solidFill>
            </a:endParaRPr>
          </a:p>
          <a:p>
            <a:pPr algn="ctr"/>
            <a:endParaRPr kumimoji="1" lang="en-US" altLang="ja-JP" sz="1400" b="1" dirty="0">
              <a:solidFill>
                <a:schemeClr val="accent1"/>
              </a:solidFill>
            </a:endParaRPr>
          </a:p>
          <a:p>
            <a:pPr algn="ctr"/>
            <a:endParaRPr lang="en-US" altLang="ja-JP" sz="1400" b="1" dirty="0">
              <a:solidFill>
                <a:schemeClr val="accent1"/>
              </a:solidFill>
            </a:endParaRPr>
          </a:p>
          <a:p>
            <a:pPr algn="ctr"/>
            <a:endParaRPr kumimoji="1" lang="en-US" altLang="ja-JP" sz="1400" b="1" dirty="0">
              <a:solidFill>
                <a:schemeClr val="accent1"/>
              </a:solidFill>
            </a:endParaRPr>
          </a:p>
          <a:p>
            <a:pPr algn="ctr"/>
            <a:endParaRPr lang="en-US" altLang="ja-JP" sz="1400" b="1" dirty="0">
              <a:solidFill>
                <a:schemeClr val="accent1"/>
              </a:solidFill>
            </a:endParaRPr>
          </a:p>
          <a:p>
            <a:pPr algn="ctr"/>
            <a:r>
              <a:rPr lang="en-US" altLang="ja-JP" sz="900" b="1" dirty="0">
                <a:solidFill>
                  <a:schemeClr val="accent1"/>
                </a:solidFill>
              </a:rPr>
              <a:t>42</a:t>
            </a:r>
            <a:r>
              <a:rPr lang="ja-JP" altLang="en-US" sz="900" b="1" dirty="0">
                <a:solidFill>
                  <a:schemeClr val="accent1"/>
                </a:solidFill>
              </a:rPr>
              <a:t>サンプル</a:t>
            </a:r>
            <a:r>
              <a:rPr lang="en-US" altLang="ja-JP" sz="900" b="1" dirty="0">
                <a:solidFill>
                  <a:schemeClr val="accent1"/>
                </a:solidFill>
              </a:rPr>
              <a:t>(50%)</a:t>
            </a:r>
            <a:r>
              <a:rPr lang="ja-JP" altLang="en-US" sz="900" b="1" dirty="0">
                <a:solidFill>
                  <a:schemeClr val="accent1"/>
                </a:solidFill>
              </a:rPr>
              <a:t>に集中</a:t>
            </a:r>
            <a:endParaRPr kumimoji="1" lang="ja-JP" altLang="en-US" sz="700" dirty="0">
              <a:solidFill>
                <a:schemeClr val="accent1"/>
              </a:solidFill>
            </a:endParaRPr>
          </a:p>
        </p:txBody>
      </p:sp>
      <p:sp>
        <p:nvSpPr>
          <p:cNvPr id="30" name="正方形/長方形 29">
            <a:extLst>
              <a:ext uri="{FF2B5EF4-FFF2-40B4-BE49-F238E27FC236}">
                <a16:creationId xmlns:a16="http://schemas.microsoft.com/office/drawing/2014/main" id="{368308E9-FB55-EE8A-F2F1-3DB939066F17}"/>
              </a:ext>
            </a:extLst>
          </p:cNvPr>
          <p:cNvSpPr/>
          <p:nvPr/>
        </p:nvSpPr>
        <p:spPr>
          <a:xfrm>
            <a:off x="9525032" y="4693300"/>
            <a:ext cx="1847184" cy="1818172"/>
          </a:xfrm>
          <a:prstGeom prst="rect">
            <a:avLst/>
          </a:prstGeom>
          <a:solidFill>
            <a:schemeClr val="accent6">
              <a:lumMod val="20000"/>
              <a:lumOff val="8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400" b="1" cap="all" dirty="0">
                <a:solidFill>
                  <a:schemeClr val="tx1">
                    <a:lumMod val="65000"/>
                    <a:lumOff val="35000"/>
                  </a:schemeClr>
                </a:solidFill>
              </a:rPr>
              <a:t>推定</a:t>
            </a:r>
            <a:r>
              <a:rPr lang="en-US" altLang="zh-TW" sz="1400" b="1" cap="all" dirty="0">
                <a:solidFill>
                  <a:schemeClr val="tx1">
                    <a:lumMod val="65000"/>
                    <a:lumOff val="35000"/>
                  </a:schemeClr>
                </a:solidFill>
              </a:rPr>
              <a:t>ROI</a:t>
            </a:r>
            <a:r>
              <a:rPr lang="zh-TW" altLang="en-US" sz="1400" b="1" cap="all" dirty="0">
                <a:solidFill>
                  <a:schemeClr val="tx1">
                    <a:lumMod val="65000"/>
                    <a:lumOff val="35000"/>
                  </a:schemeClr>
                </a:solidFill>
              </a:rPr>
              <a:t>改善</a:t>
            </a:r>
          </a:p>
          <a:p>
            <a:pPr algn="ctr"/>
            <a:r>
              <a:rPr lang="en-US" altLang="zh-TW" sz="4000" b="1" dirty="0">
                <a:solidFill>
                  <a:schemeClr val="accent3"/>
                </a:solidFill>
              </a:rPr>
              <a:t>200%</a:t>
            </a:r>
          </a:p>
          <a:p>
            <a:pPr algn="ctr"/>
            <a:r>
              <a:rPr lang="zh-TW" altLang="en-US" sz="1400" b="1" dirty="0">
                <a:solidFill>
                  <a:schemeClr val="accent3"/>
                </a:solidFill>
              </a:rPr>
              <a:t>広告費 ▲</a:t>
            </a:r>
            <a:r>
              <a:rPr lang="en-US" altLang="zh-TW" sz="1400" b="1" dirty="0">
                <a:solidFill>
                  <a:schemeClr val="accent3"/>
                </a:solidFill>
              </a:rPr>
              <a:t>50%</a:t>
            </a:r>
          </a:p>
        </p:txBody>
      </p:sp>
      <p:sp>
        <p:nvSpPr>
          <p:cNvPr id="31" name="フローチャート: 結合子 30">
            <a:extLst>
              <a:ext uri="{FF2B5EF4-FFF2-40B4-BE49-F238E27FC236}">
                <a16:creationId xmlns:a16="http://schemas.microsoft.com/office/drawing/2014/main" id="{07D052A8-ADB3-DCCF-182F-364C2D335AD8}"/>
              </a:ext>
            </a:extLst>
          </p:cNvPr>
          <p:cNvSpPr/>
          <p:nvPr/>
        </p:nvSpPr>
        <p:spPr>
          <a:xfrm>
            <a:off x="5852160" y="5085047"/>
            <a:ext cx="1097280" cy="1105774"/>
          </a:xfrm>
          <a:prstGeom prst="flowChartConnector">
            <a:avLst/>
          </a:prstGeom>
          <a:solidFill>
            <a:schemeClr val="bg1"/>
          </a:solidFill>
          <a:ln w="381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b="1" dirty="0">
              <a:solidFill>
                <a:schemeClr val="tx1">
                  <a:lumMod val="65000"/>
                  <a:lumOff val="35000"/>
                </a:schemeClr>
              </a:solidFill>
            </a:endParaRPr>
          </a:p>
        </p:txBody>
      </p:sp>
      <p:sp>
        <p:nvSpPr>
          <p:cNvPr id="32" name="テキスト ボックス 31">
            <a:extLst>
              <a:ext uri="{FF2B5EF4-FFF2-40B4-BE49-F238E27FC236}">
                <a16:creationId xmlns:a16="http://schemas.microsoft.com/office/drawing/2014/main" id="{9E25CEE8-87E7-2C0A-1AF1-ADE25DFA142B}"/>
              </a:ext>
            </a:extLst>
          </p:cNvPr>
          <p:cNvSpPr txBox="1"/>
          <p:nvPr/>
        </p:nvSpPr>
        <p:spPr>
          <a:xfrm>
            <a:off x="5824760" y="5367138"/>
            <a:ext cx="1152080" cy="584775"/>
          </a:xfrm>
          <a:prstGeom prst="rect">
            <a:avLst/>
          </a:prstGeom>
          <a:noFill/>
        </p:spPr>
        <p:txBody>
          <a:bodyPr wrap="square" rtlCol="0">
            <a:spAutoFit/>
          </a:bodyPr>
          <a:lstStyle/>
          <a:p>
            <a:pPr algn="ctr"/>
            <a:r>
              <a:rPr lang="en-US" altLang="ja-JP" sz="1400" b="1" dirty="0">
                <a:solidFill>
                  <a:schemeClr val="bg1">
                    <a:lumMod val="65000"/>
                  </a:schemeClr>
                </a:solidFill>
              </a:rPr>
              <a:t>Avg Uplift</a:t>
            </a:r>
            <a:endParaRPr lang="ja-JP" altLang="en-US" sz="1400" b="1" dirty="0">
              <a:solidFill>
                <a:schemeClr val="bg1">
                  <a:lumMod val="65000"/>
                </a:schemeClr>
              </a:solidFill>
            </a:endParaRPr>
          </a:p>
          <a:p>
            <a:pPr algn="ctr"/>
            <a:r>
              <a:rPr kumimoji="1" lang="en-US" altLang="ja-JP" b="1" dirty="0">
                <a:solidFill>
                  <a:schemeClr val="tx1">
                    <a:lumMod val="65000"/>
                    <a:lumOff val="35000"/>
                  </a:schemeClr>
                </a:solidFill>
              </a:rPr>
              <a:t>0.38</a:t>
            </a:r>
            <a:endParaRPr kumimoji="1" lang="ja-JP" altLang="en-US" b="1" dirty="0">
              <a:solidFill>
                <a:schemeClr val="tx1">
                  <a:lumMod val="65000"/>
                  <a:lumOff val="35000"/>
                </a:schemeClr>
              </a:solidFill>
            </a:endParaRPr>
          </a:p>
        </p:txBody>
      </p:sp>
      <p:sp>
        <p:nvSpPr>
          <p:cNvPr id="34" name="フローチャート: 結合子 33">
            <a:extLst>
              <a:ext uri="{FF2B5EF4-FFF2-40B4-BE49-F238E27FC236}">
                <a16:creationId xmlns:a16="http://schemas.microsoft.com/office/drawing/2014/main" id="{80829F5E-B156-5F68-9440-6F93E20DC093}"/>
              </a:ext>
            </a:extLst>
          </p:cNvPr>
          <p:cNvSpPr/>
          <p:nvPr/>
        </p:nvSpPr>
        <p:spPr>
          <a:xfrm>
            <a:off x="7958392" y="5106638"/>
            <a:ext cx="1097280" cy="1105774"/>
          </a:xfrm>
          <a:prstGeom prst="flowChartConnector">
            <a:avLst/>
          </a:prstGeom>
          <a:solidFill>
            <a:schemeClr val="bg1"/>
          </a:solid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b="1" dirty="0">
              <a:solidFill>
                <a:schemeClr val="tx1">
                  <a:lumMod val="65000"/>
                  <a:lumOff val="35000"/>
                </a:schemeClr>
              </a:solidFill>
            </a:endParaRPr>
          </a:p>
        </p:txBody>
      </p:sp>
      <p:sp>
        <p:nvSpPr>
          <p:cNvPr id="33" name="テキスト ボックス 32">
            <a:extLst>
              <a:ext uri="{FF2B5EF4-FFF2-40B4-BE49-F238E27FC236}">
                <a16:creationId xmlns:a16="http://schemas.microsoft.com/office/drawing/2014/main" id="{D623058D-BAA0-F339-5C15-799ADBB13F40}"/>
              </a:ext>
            </a:extLst>
          </p:cNvPr>
          <p:cNvSpPr txBox="1"/>
          <p:nvPr/>
        </p:nvSpPr>
        <p:spPr>
          <a:xfrm>
            <a:off x="7900448" y="5367138"/>
            <a:ext cx="1152080" cy="584775"/>
          </a:xfrm>
          <a:prstGeom prst="rect">
            <a:avLst/>
          </a:prstGeom>
          <a:noFill/>
        </p:spPr>
        <p:txBody>
          <a:bodyPr wrap="square" rtlCol="0">
            <a:spAutoFit/>
          </a:bodyPr>
          <a:lstStyle/>
          <a:p>
            <a:pPr algn="ctr"/>
            <a:r>
              <a:rPr lang="en-US" altLang="ja-JP" sz="1400" b="1" dirty="0">
                <a:solidFill>
                  <a:schemeClr val="bg1">
                    <a:lumMod val="65000"/>
                  </a:schemeClr>
                </a:solidFill>
              </a:rPr>
              <a:t>Est Uplift</a:t>
            </a:r>
            <a:endParaRPr lang="ja-JP" altLang="en-US" sz="1400" b="1" dirty="0">
              <a:solidFill>
                <a:schemeClr val="bg1">
                  <a:lumMod val="65000"/>
                </a:schemeClr>
              </a:solidFill>
            </a:endParaRPr>
          </a:p>
          <a:p>
            <a:pPr algn="ctr"/>
            <a:r>
              <a:rPr kumimoji="1" lang="en-US" altLang="ja-JP" b="1" dirty="0">
                <a:solidFill>
                  <a:srgbClr val="00B050"/>
                </a:solidFill>
              </a:rPr>
              <a:t>0.8-1.2</a:t>
            </a:r>
            <a:endParaRPr kumimoji="1" lang="ja-JP" altLang="en-US" b="1" dirty="0">
              <a:solidFill>
                <a:srgbClr val="00B050"/>
              </a:solidFill>
            </a:endParaRPr>
          </a:p>
        </p:txBody>
      </p:sp>
      <p:sp>
        <p:nvSpPr>
          <p:cNvPr id="35" name="矢印: 右 34">
            <a:extLst>
              <a:ext uri="{FF2B5EF4-FFF2-40B4-BE49-F238E27FC236}">
                <a16:creationId xmlns:a16="http://schemas.microsoft.com/office/drawing/2014/main" id="{006875B6-9919-9210-1B14-5352E08506EF}"/>
              </a:ext>
            </a:extLst>
          </p:cNvPr>
          <p:cNvSpPr/>
          <p:nvPr/>
        </p:nvSpPr>
        <p:spPr>
          <a:xfrm>
            <a:off x="7261972" y="5550408"/>
            <a:ext cx="380968" cy="155438"/>
          </a:xfrm>
          <a:prstGeom prst="rightArrow">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フローチャート: 代替処理 35">
            <a:extLst>
              <a:ext uri="{FF2B5EF4-FFF2-40B4-BE49-F238E27FC236}">
                <a16:creationId xmlns:a16="http://schemas.microsoft.com/office/drawing/2014/main" id="{C530AF5B-DD42-31CF-FF4D-DFAAF765526E}"/>
              </a:ext>
            </a:extLst>
          </p:cNvPr>
          <p:cNvSpPr/>
          <p:nvPr/>
        </p:nvSpPr>
        <p:spPr>
          <a:xfrm>
            <a:off x="6166152" y="5098036"/>
            <a:ext cx="923544" cy="256113"/>
          </a:xfrm>
          <a:prstGeom prst="flowChartAlternateProcess">
            <a:avLst/>
          </a:prstGeom>
          <a:solidFill>
            <a:srgbClr val="FFF3EB"/>
          </a:solidFill>
          <a:ln>
            <a:solidFill>
              <a:srgbClr val="FF99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rgbClr val="C00000"/>
                </a:solidFill>
              </a:rPr>
              <a:t>29%</a:t>
            </a:r>
            <a:r>
              <a:rPr kumimoji="1" lang="ja-JP" altLang="en-US" sz="1400" b="1" dirty="0">
                <a:solidFill>
                  <a:srgbClr val="C00000"/>
                </a:solidFill>
              </a:rPr>
              <a:t>無駄</a:t>
            </a:r>
          </a:p>
        </p:txBody>
      </p:sp>
      <p:sp>
        <p:nvSpPr>
          <p:cNvPr id="3" name="フローチャート: 代替処理 2">
            <a:extLst>
              <a:ext uri="{FF2B5EF4-FFF2-40B4-BE49-F238E27FC236}">
                <a16:creationId xmlns:a16="http://schemas.microsoft.com/office/drawing/2014/main" id="{715F0F2C-E0C1-A942-6B3E-4FEF2BC2BC34}"/>
              </a:ext>
            </a:extLst>
          </p:cNvPr>
          <p:cNvSpPr/>
          <p:nvPr/>
        </p:nvSpPr>
        <p:spPr>
          <a:xfrm>
            <a:off x="668988" y="3881881"/>
            <a:ext cx="4572000" cy="1823965"/>
          </a:xfrm>
          <a:prstGeom prst="flowChartAlternateProcess">
            <a:avLst/>
          </a:prstGeom>
          <a:solidFill>
            <a:schemeClr val="tx2">
              <a:lumMod val="10000"/>
              <a:lumOff val="90000"/>
            </a:schemeClr>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b="1" dirty="0">
                <a:solidFill>
                  <a:schemeClr val="accent1"/>
                </a:solidFill>
              </a:rPr>
              <a:t>ROI </a:t>
            </a:r>
            <a:r>
              <a:rPr lang="en-US" altLang="ja-JP" dirty="0">
                <a:solidFill>
                  <a:schemeClr val="accent1"/>
                </a:solidFill>
              </a:rPr>
              <a:t>(Return On Investment) </a:t>
            </a:r>
            <a:r>
              <a:rPr lang="ja-JP" altLang="en-US" b="1" dirty="0">
                <a:solidFill>
                  <a:schemeClr val="accent1"/>
                </a:solidFill>
              </a:rPr>
              <a:t>の定義</a:t>
            </a:r>
            <a:endParaRPr lang="en-US" altLang="ja-JP" b="1" dirty="0">
              <a:solidFill>
                <a:schemeClr val="accent1"/>
              </a:solidFill>
            </a:endParaRPr>
          </a:p>
          <a:p>
            <a:endParaRPr kumimoji="1" lang="en-US" altLang="ja-JP" sz="1400" b="1" dirty="0">
              <a:solidFill>
                <a:schemeClr val="accent1"/>
              </a:solidFill>
            </a:endParaRPr>
          </a:p>
          <a:p>
            <a:r>
              <a:rPr lang="ja-JP" altLang="en-US" sz="1400" b="1" dirty="0">
                <a:solidFill>
                  <a:schemeClr val="tx1"/>
                </a:solidFill>
              </a:rPr>
              <a:t>基本概念：広告によって生じた増分利益</a:t>
            </a:r>
            <a:endParaRPr lang="en-US" altLang="ja-JP" sz="1400" b="1" dirty="0">
              <a:solidFill>
                <a:schemeClr val="tx1"/>
              </a:solidFill>
            </a:endParaRPr>
          </a:p>
          <a:p>
            <a:endParaRPr kumimoji="1" lang="en-US" altLang="ja-JP" sz="1400" b="1" dirty="0">
              <a:solidFill>
                <a:schemeClr val="accent1"/>
              </a:solidFill>
            </a:endParaRPr>
          </a:p>
          <a:p>
            <a:endParaRPr lang="en-US" altLang="ja-JP" b="1" dirty="0">
              <a:solidFill>
                <a:schemeClr val="accent1"/>
              </a:solidFill>
            </a:endParaRPr>
          </a:p>
          <a:p>
            <a:endParaRPr kumimoji="1" lang="ja-JP" altLang="en-US" dirty="0">
              <a:solidFill>
                <a:schemeClr val="accent1"/>
              </a:solidFill>
            </a:endParaRPr>
          </a:p>
        </p:txBody>
      </p:sp>
      <p:cxnSp>
        <p:nvCxnSpPr>
          <p:cNvPr id="4" name="直線コネクタ 3">
            <a:extLst>
              <a:ext uri="{FF2B5EF4-FFF2-40B4-BE49-F238E27FC236}">
                <a16:creationId xmlns:a16="http://schemas.microsoft.com/office/drawing/2014/main" id="{4EFDB9B6-2442-8C0F-E182-F3451D5C2410}"/>
              </a:ext>
            </a:extLst>
          </p:cNvPr>
          <p:cNvCxnSpPr>
            <a:cxnSpLocks/>
          </p:cNvCxnSpPr>
          <p:nvPr/>
        </p:nvCxnSpPr>
        <p:spPr>
          <a:xfrm>
            <a:off x="797116" y="4392168"/>
            <a:ext cx="4276344"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 name="正方形/長方形 4">
                <a:extLst>
                  <a:ext uri="{FF2B5EF4-FFF2-40B4-BE49-F238E27FC236}">
                    <a16:creationId xmlns:a16="http://schemas.microsoft.com/office/drawing/2014/main" id="{8B414379-73DD-EDC0-1376-95DD3FBF1C30}"/>
                  </a:ext>
                </a:extLst>
              </p:cNvPr>
              <p:cNvSpPr/>
              <p:nvPr/>
            </p:nvSpPr>
            <p:spPr>
              <a:xfrm>
                <a:off x="815468" y="4820290"/>
                <a:ext cx="4233672" cy="777238"/>
              </a:xfrm>
              <a:prstGeom prst="rect">
                <a:avLst/>
              </a:prstGeom>
              <a:solidFill>
                <a:schemeClr val="bg1"/>
              </a:solidFill>
              <a:ln>
                <a:solidFill>
                  <a:schemeClr val="accent1"/>
                </a:solidFill>
              </a:ln>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ja-JP" b="1" i="1" smtClean="0">
                          <a:solidFill>
                            <a:schemeClr val="accent1"/>
                          </a:solidFill>
                          <a:latin typeface="Cambria Math" panose="02040503050406030204" pitchFamily="18" charset="0"/>
                        </a:rPr>
                        <m:t>𝑹𝑶𝑰</m:t>
                      </m:r>
                      <m:r>
                        <a:rPr kumimoji="1" lang="en-US" altLang="ja-JP" b="1" i="1" smtClean="0">
                          <a:solidFill>
                            <a:schemeClr val="accent1"/>
                          </a:solidFill>
                          <a:latin typeface="Cambria Math" panose="02040503050406030204" pitchFamily="18" charset="0"/>
                        </a:rPr>
                        <m:t>=</m:t>
                      </m:r>
                      <m:box>
                        <m:boxPr>
                          <m:ctrlPr>
                            <a:rPr kumimoji="1" lang="en-US" altLang="ja-JP" b="1" i="1" smtClean="0">
                              <a:solidFill>
                                <a:schemeClr val="accent1"/>
                              </a:solidFill>
                              <a:latin typeface="Cambria Math" panose="02040503050406030204" pitchFamily="18" charset="0"/>
                            </a:rPr>
                          </m:ctrlPr>
                        </m:boxPr>
                        <m:e>
                          <m:argPr>
                            <m:argSz m:val="-1"/>
                          </m:argPr>
                          <m:f>
                            <m:fPr>
                              <m:ctrlPr>
                                <a:rPr kumimoji="1" lang="en-US" altLang="ja-JP" b="1" i="1" smtClean="0">
                                  <a:solidFill>
                                    <a:schemeClr val="accent1"/>
                                  </a:solidFill>
                                  <a:latin typeface="Cambria Math" panose="02040503050406030204" pitchFamily="18" charset="0"/>
                                </a:rPr>
                              </m:ctrlPr>
                            </m:fPr>
                            <m:num>
                              <m:r>
                                <a:rPr kumimoji="1" lang="en-US" altLang="ja-JP" b="1" i="1" smtClean="0">
                                  <a:solidFill>
                                    <a:schemeClr val="accent1"/>
                                  </a:solidFill>
                                  <a:latin typeface="Cambria Math" panose="02040503050406030204" pitchFamily="18" charset="0"/>
                                </a:rPr>
                                <m:t>(</m:t>
                              </m:r>
                              <m:r>
                                <a:rPr kumimoji="1" lang="en-US" altLang="ja-JP" b="1" i="1" smtClean="0">
                                  <a:solidFill>
                                    <a:schemeClr val="accent1"/>
                                  </a:solidFill>
                                  <a:latin typeface="Cambria Math" panose="02040503050406030204" pitchFamily="18" charset="0"/>
                                </a:rPr>
                                <m:t>𝒖𝒑𝒍𝒊𝒇𝒕</m:t>
                              </m:r>
                              <m:r>
                                <a:rPr lang="en-US" altLang="ja-JP" b="1" i="1">
                                  <a:solidFill>
                                    <a:schemeClr val="accent1"/>
                                  </a:solidFill>
                                  <a:latin typeface="Cambria Math" panose="02040503050406030204" pitchFamily="18" charset="0"/>
                                  <a:ea typeface="Cambria Math" panose="02040503050406030204" pitchFamily="18" charset="0"/>
                                </a:rPr>
                                <m:t>×</m:t>
                              </m:r>
                              <m:r>
                                <a:rPr lang="ja-JP" altLang="en-US" b="1" i="1">
                                  <a:solidFill>
                                    <a:schemeClr val="accent1"/>
                                  </a:solidFill>
                                  <a:latin typeface="Cambria Math" panose="02040503050406030204" pitchFamily="18" charset="0"/>
                                  <a:ea typeface="Cambria Math" panose="02040503050406030204" pitchFamily="18" charset="0"/>
                                </a:rPr>
                                <m:t>単価</m:t>
                              </m:r>
                              <m:r>
                                <a:rPr kumimoji="1" lang="en-US" altLang="ja-JP" b="1" i="1" smtClean="0">
                                  <a:solidFill>
                                    <a:schemeClr val="accent1"/>
                                  </a:solidFill>
                                  <a:latin typeface="Cambria Math" panose="02040503050406030204" pitchFamily="18" charset="0"/>
                                </a:rPr>
                                <m:t>)</m:t>
                              </m:r>
                            </m:num>
                            <m:den>
                              <m:r>
                                <a:rPr lang="ja-JP" altLang="en-US" b="1" i="1">
                                  <a:solidFill>
                                    <a:schemeClr val="accent1"/>
                                  </a:solidFill>
                                  <a:latin typeface="Cambria Math" panose="02040503050406030204" pitchFamily="18" charset="0"/>
                                </a:rPr>
                                <m:t>広告コスト</m:t>
                              </m:r>
                            </m:den>
                          </m:f>
                        </m:e>
                      </m:box>
                    </m:oMath>
                  </m:oMathPara>
                </a14:m>
                <a:endParaRPr kumimoji="1" lang="en-US" altLang="ja-JP" b="1" dirty="0"/>
              </a:p>
              <a:p>
                <a:pPr algn="ctr"/>
                <a:r>
                  <a:rPr lang="en-US" altLang="ja-JP" sz="1100" b="1" dirty="0">
                    <a:solidFill>
                      <a:schemeClr val="bg1">
                        <a:lumMod val="50000"/>
                      </a:schemeClr>
                    </a:solidFill>
                  </a:rPr>
                  <a:t>Uplift Score</a:t>
                </a:r>
                <a:r>
                  <a:rPr lang="ja-JP" altLang="en-US" sz="1100" b="1" dirty="0">
                    <a:solidFill>
                      <a:schemeClr val="bg1">
                        <a:lumMod val="50000"/>
                      </a:schemeClr>
                    </a:solidFill>
                  </a:rPr>
                  <a:t>：広告がある場合とない場合の需要予測値の差分</a:t>
                </a:r>
                <a:endParaRPr kumimoji="1" lang="ja-JP" altLang="en-US" sz="1100" b="1" dirty="0">
                  <a:solidFill>
                    <a:schemeClr val="bg1">
                      <a:lumMod val="50000"/>
                    </a:schemeClr>
                  </a:solidFill>
                </a:endParaRPr>
              </a:p>
            </p:txBody>
          </p:sp>
        </mc:Choice>
        <mc:Fallback xmlns="">
          <p:sp>
            <p:nvSpPr>
              <p:cNvPr id="5" name="正方形/長方形 4">
                <a:extLst>
                  <a:ext uri="{FF2B5EF4-FFF2-40B4-BE49-F238E27FC236}">
                    <a16:creationId xmlns:a16="http://schemas.microsoft.com/office/drawing/2014/main" id="{8B414379-73DD-EDC0-1376-95DD3FBF1C30}"/>
                  </a:ext>
                </a:extLst>
              </p:cNvPr>
              <p:cNvSpPr>
                <a:spLocks noRot="1" noChangeAspect="1" noMove="1" noResize="1" noEditPoints="1" noAdjustHandles="1" noChangeArrowheads="1" noChangeShapeType="1" noTextEdit="1"/>
              </p:cNvSpPr>
              <p:nvPr/>
            </p:nvSpPr>
            <p:spPr>
              <a:xfrm>
                <a:off x="815468" y="4820290"/>
                <a:ext cx="4233672" cy="777238"/>
              </a:xfrm>
              <a:prstGeom prst="rect">
                <a:avLst/>
              </a:prstGeom>
              <a:blipFill>
                <a:blip r:embed="rId3"/>
                <a:stretch>
                  <a:fillRect b="-3876"/>
                </a:stretch>
              </a:blipFill>
              <a:ln>
                <a:solidFill>
                  <a:schemeClr val="accent1"/>
                </a:solidFill>
              </a:ln>
            </p:spPr>
            <p:txBody>
              <a:bodyPr/>
              <a:lstStyle/>
              <a:p>
                <a:r>
                  <a:rPr lang="ja-JP" altLang="en-US">
                    <a:noFill/>
                  </a:rPr>
                  <a:t> </a:t>
                </a:r>
              </a:p>
            </p:txBody>
          </p:sp>
        </mc:Fallback>
      </mc:AlternateContent>
      <p:sp>
        <p:nvSpPr>
          <p:cNvPr id="6" name="吹き出し: 四角形 5">
            <a:extLst>
              <a:ext uri="{FF2B5EF4-FFF2-40B4-BE49-F238E27FC236}">
                <a16:creationId xmlns:a16="http://schemas.microsoft.com/office/drawing/2014/main" id="{DEE1DA39-D467-90C3-F502-6EC8A25B5889}"/>
              </a:ext>
            </a:extLst>
          </p:cNvPr>
          <p:cNvSpPr/>
          <p:nvPr/>
        </p:nvSpPr>
        <p:spPr>
          <a:xfrm>
            <a:off x="667512" y="5820081"/>
            <a:ext cx="4572000" cy="955623"/>
          </a:xfrm>
          <a:prstGeom prst="wedgeRectCallout">
            <a:avLst>
              <a:gd name="adj1" fmla="val 54767"/>
              <a:gd name="adj2" fmla="val -44669"/>
            </a:avLst>
          </a:prstGeom>
          <a:solidFill>
            <a:schemeClr val="bg1">
              <a:lumMod val="95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rPr>
              <a:t>Sleeper    </a:t>
            </a:r>
            <a:r>
              <a:rPr lang="ja-JP" altLang="en-US" sz="1400" b="1" dirty="0">
                <a:solidFill>
                  <a:schemeClr val="tx1"/>
                </a:solidFill>
              </a:rPr>
              <a:t>への投資を排除し、広告ターゲットを</a:t>
            </a:r>
            <a:r>
              <a:rPr lang="en-US" altLang="ja-JP" sz="1400" b="1" dirty="0" err="1">
                <a:solidFill>
                  <a:schemeClr val="tx1"/>
                </a:solidFill>
              </a:rPr>
              <a:t>Persuadables</a:t>
            </a:r>
            <a:r>
              <a:rPr lang="ja-JP" altLang="en-US" sz="1400" b="1" dirty="0">
                <a:solidFill>
                  <a:schemeClr val="tx1"/>
                </a:solidFill>
              </a:rPr>
              <a:t> （全体の半分）に絞る</a:t>
            </a:r>
            <a:endParaRPr lang="en-US" altLang="ja-JP" sz="1400" b="1" dirty="0">
              <a:solidFill>
                <a:schemeClr val="tx1"/>
              </a:solidFill>
            </a:endParaRPr>
          </a:p>
          <a:p>
            <a:pPr algn="ctr"/>
            <a:endParaRPr lang="en-US" altLang="ja-JP" sz="1400" b="1" dirty="0">
              <a:solidFill>
                <a:srgbClr val="002060"/>
              </a:solidFill>
            </a:endParaRPr>
          </a:p>
          <a:p>
            <a:pPr algn="ctr"/>
            <a:r>
              <a:rPr lang="ja-JP" altLang="en-US" sz="1400" b="1" dirty="0">
                <a:solidFill>
                  <a:srgbClr val="002060"/>
                </a:solidFill>
              </a:rPr>
              <a:t>コスト削減 </a:t>
            </a:r>
            <a:r>
              <a:rPr lang="en-US" altLang="ja-JP" sz="1400" b="1" dirty="0">
                <a:solidFill>
                  <a:srgbClr val="002060"/>
                </a:solidFill>
              </a:rPr>
              <a:t>+ </a:t>
            </a:r>
            <a:r>
              <a:rPr lang="ja-JP" altLang="en-US" sz="1400" b="1" dirty="0">
                <a:solidFill>
                  <a:srgbClr val="002060"/>
                </a:solidFill>
              </a:rPr>
              <a:t>利益増加</a:t>
            </a:r>
            <a:endParaRPr lang="en-US" altLang="ja-JP" sz="1200" b="1" dirty="0">
              <a:solidFill>
                <a:schemeClr val="tx1"/>
              </a:solidFill>
            </a:endParaRPr>
          </a:p>
        </p:txBody>
      </p:sp>
      <p:sp>
        <p:nvSpPr>
          <p:cNvPr id="12" name="フローチャート: 代替処理 11">
            <a:extLst>
              <a:ext uri="{FF2B5EF4-FFF2-40B4-BE49-F238E27FC236}">
                <a16:creationId xmlns:a16="http://schemas.microsoft.com/office/drawing/2014/main" id="{CACF5DEF-71BC-4AD0-AEA8-5BA69B131F1A}"/>
              </a:ext>
            </a:extLst>
          </p:cNvPr>
          <p:cNvSpPr/>
          <p:nvPr/>
        </p:nvSpPr>
        <p:spPr>
          <a:xfrm>
            <a:off x="815468" y="5845250"/>
            <a:ext cx="1004252" cy="213325"/>
          </a:xfrm>
          <a:prstGeom prst="flowChartAlternateProcess">
            <a:avLst/>
          </a:prstGeom>
          <a:solidFill>
            <a:srgbClr val="FFCCCC"/>
          </a:solidFill>
          <a:ln>
            <a:solidFill>
              <a:srgbClr val="FF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rgbClr val="C00000"/>
                </a:solidFill>
              </a:rPr>
              <a:t>Sleepers</a:t>
            </a:r>
            <a:endParaRPr kumimoji="1" lang="ja-JP" altLang="en-US" sz="1400" b="1" dirty="0">
              <a:solidFill>
                <a:srgbClr val="C00000"/>
              </a:solidFill>
            </a:endParaRPr>
          </a:p>
        </p:txBody>
      </p:sp>
      <p:sp>
        <p:nvSpPr>
          <p:cNvPr id="13" name="フローチャート: 代替処理 12">
            <a:extLst>
              <a:ext uri="{FF2B5EF4-FFF2-40B4-BE49-F238E27FC236}">
                <a16:creationId xmlns:a16="http://schemas.microsoft.com/office/drawing/2014/main" id="{9961DF8B-1C32-622D-83C1-BBBD5930A173}"/>
              </a:ext>
            </a:extLst>
          </p:cNvPr>
          <p:cNvSpPr/>
          <p:nvPr/>
        </p:nvSpPr>
        <p:spPr>
          <a:xfrm>
            <a:off x="1317594" y="6105749"/>
            <a:ext cx="1389888" cy="213325"/>
          </a:xfrm>
          <a:prstGeom prst="flowChartAlternateProcess">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accent3"/>
                </a:solidFill>
              </a:rPr>
              <a:t>Persuadables</a:t>
            </a:r>
            <a:endParaRPr kumimoji="1" lang="ja-JP" altLang="en-US" sz="1400" b="1" dirty="0">
              <a:solidFill>
                <a:schemeClr val="accent3"/>
              </a:solidFill>
            </a:endParaRPr>
          </a:p>
        </p:txBody>
      </p:sp>
      <p:cxnSp>
        <p:nvCxnSpPr>
          <p:cNvPr id="16" name="直線矢印コネクタ 15">
            <a:extLst>
              <a:ext uri="{FF2B5EF4-FFF2-40B4-BE49-F238E27FC236}">
                <a16:creationId xmlns:a16="http://schemas.microsoft.com/office/drawing/2014/main" id="{AA2501A3-A128-7B53-A284-E2C5A04DF688}"/>
              </a:ext>
            </a:extLst>
          </p:cNvPr>
          <p:cNvCxnSpPr/>
          <p:nvPr/>
        </p:nvCxnSpPr>
        <p:spPr>
          <a:xfrm>
            <a:off x="2953512" y="6297892"/>
            <a:ext cx="0" cy="213580"/>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23" name="グラフィックス 22" descr="バッジ 1 単色塗りつぶし">
            <a:extLst>
              <a:ext uri="{FF2B5EF4-FFF2-40B4-BE49-F238E27FC236}">
                <a16:creationId xmlns:a16="http://schemas.microsoft.com/office/drawing/2014/main" id="{EB3ECF72-5A6F-FAE1-7261-51266298FB9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4400" y="1837308"/>
            <a:ext cx="338470" cy="338470"/>
          </a:xfrm>
          <a:prstGeom prst="rect">
            <a:avLst/>
          </a:prstGeom>
        </p:spPr>
      </p:pic>
      <p:pic>
        <p:nvPicPr>
          <p:cNvPr id="37" name="グラフィックス 36" descr="バッジ 単色塗りつぶし">
            <a:extLst>
              <a:ext uri="{FF2B5EF4-FFF2-40B4-BE49-F238E27FC236}">
                <a16:creationId xmlns:a16="http://schemas.microsoft.com/office/drawing/2014/main" id="{3409FA2B-F99D-2EF1-619A-6ECC563B41B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4400" y="2773461"/>
            <a:ext cx="338470" cy="338470"/>
          </a:xfrm>
          <a:prstGeom prst="rect">
            <a:avLst/>
          </a:prstGeom>
        </p:spPr>
      </p:pic>
      <p:cxnSp>
        <p:nvCxnSpPr>
          <p:cNvPr id="38" name="直線コネクタ 37">
            <a:extLst>
              <a:ext uri="{FF2B5EF4-FFF2-40B4-BE49-F238E27FC236}">
                <a16:creationId xmlns:a16="http://schemas.microsoft.com/office/drawing/2014/main" id="{623F0D8B-3FFE-ED4F-55D7-D240F3DC106A}"/>
              </a:ext>
            </a:extLst>
          </p:cNvPr>
          <p:cNvCxnSpPr/>
          <p:nvPr/>
        </p:nvCxnSpPr>
        <p:spPr>
          <a:xfrm>
            <a:off x="839788" y="365125"/>
            <a:ext cx="0" cy="677291"/>
          </a:xfrm>
          <a:prstGeom prst="line">
            <a:avLst/>
          </a:prstGeom>
          <a:ln w="762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39" name="直線コネクタ 38">
            <a:extLst>
              <a:ext uri="{FF2B5EF4-FFF2-40B4-BE49-F238E27FC236}">
                <a16:creationId xmlns:a16="http://schemas.microsoft.com/office/drawing/2014/main" id="{B9B1A463-09E0-C7F3-F235-5B76B1F69F47}"/>
              </a:ext>
            </a:extLst>
          </p:cNvPr>
          <p:cNvCxnSpPr/>
          <p:nvPr/>
        </p:nvCxnSpPr>
        <p:spPr>
          <a:xfrm>
            <a:off x="0" y="0"/>
            <a:ext cx="12192000" cy="0"/>
          </a:xfrm>
          <a:prstGeom prst="line">
            <a:avLst/>
          </a:prstGeom>
          <a:ln w="762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4666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81B534-FFE5-19F9-2FA9-D3D5A5DBD8F6}"/>
              </a:ext>
            </a:extLst>
          </p:cNvPr>
          <p:cNvSpPr>
            <a:spLocks noGrp="1"/>
          </p:cNvSpPr>
          <p:nvPr>
            <p:ph type="title"/>
          </p:nvPr>
        </p:nvSpPr>
        <p:spPr/>
        <p:txBody>
          <a:bodyPr/>
          <a:lstStyle/>
          <a:p>
            <a:r>
              <a:rPr lang="ja-JP" altLang="en-US" b="1" dirty="0"/>
              <a:t>結論</a:t>
            </a:r>
          </a:p>
        </p:txBody>
      </p:sp>
      <p:sp>
        <p:nvSpPr>
          <p:cNvPr id="7" name="コンテンツ プレースホルダー 6">
            <a:extLst>
              <a:ext uri="{FF2B5EF4-FFF2-40B4-BE49-F238E27FC236}">
                <a16:creationId xmlns:a16="http://schemas.microsoft.com/office/drawing/2014/main" id="{01B6657B-972F-2C75-E4EC-65A283B281E8}"/>
              </a:ext>
            </a:extLst>
          </p:cNvPr>
          <p:cNvSpPr>
            <a:spLocks noGrp="1"/>
          </p:cNvSpPr>
          <p:nvPr>
            <p:ph idx="1"/>
          </p:nvPr>
        </p:nvSpPr>
        <p:spPr>
          <a:xfrm>
            <a:off x="838200" y="1825624"/>
            <a:ext cx="10515600" cy="638175"/>
          </a:xfrm>
        </p:spPr>
        <p:txBody>
          <a:bodyPr>
            <a:normAutofit fontScale="77500" lnSpcReduction="20000"/>
          </a:bodyPr>
          <a:lstStyle/>
          <a:p>
            <a:pPr marL="0" indent="0">
              <a:buNone/>
            </a:pPr>
            <a:r>
              <a:rPr lang="ja-JP" altLang="en-US" dirty="0"/>
              <a:t>本研究では、</a:t>
            </a:r>
            <a:r>
              <a:rPr lang="en-US" altLang="ja-JP" dirty="0"/>
              <a:t>BERT</a:t>
            </a:r>
            <a:r>
              <a:rPr lang="ja-JP" altLang="en-US" dirty="0"/>
              <a:t>特徴量とディープラーニングの統合により、広告施策が需要に与える因果的影響を解明した。主な研究成果は以下の</a:t>
            </a:r>
            <a:r>
              <a:rPr lang="en-US" altLang="ja-JP" dirty="0"/>
              <a:t>3</a:t>
            </a:r>
            <a:r>
              <a:rPr lang="ja-JP" altLang="en-US" dirty="0"/>
              <a:t>点に集約される。</a:t>
            </a:r>
          </a:p>
        </p:txBody>
      </p:sp>
      <p:sp>
        <p:nvSpPr>
          <p:cNvPr id="8" name="四角形: 角を丸くする 7">
            <a:extLst>
              <a:ext uri="{FF2B5EF4-FFF2-40B4-BE49-F238E27FC236}">
                <a16:creationId xmlns:a16="http://schemas.microsoft.com/office/drawing/2014/main" id="{D23958EF-D784-97AB-5DC9-76A7F2026AFF}"/>
              </a:ext>
            </a:extLst>
          </p:cNvPr>
          <p:cNvSpPr/>
          <p:nvPr/>
        </p:nvSpPr>
        <p:spPr>
          <a:xfrm>
            <a:off x="423333" y="2463799"/>
            <a:ext cx="3547534" cy="42079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4C53BB78-D8A4-C456-B0B4-9619619164AD}"/>
              </a:ext>
            </a:extLst>
          </p:cNvPr>
          <p:cNvSpPr/>
          <p:nvPr/>
        </p:nvSpPr>
        <p:spPr>
          <a:xfrm>
            <a:off x="423333" y="2598735"/>
            <a:ext cx="3547534" cy="40729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3600" b="1" dirty="0">
                <a:solidFill>
                  <a:schemeClr val="bg2">
                    <a:lumMod val="75000"/>
                  </a:schemeClr>
                </a:solidFill>
              </a:rPr>
              <a:t>01</a:t>
            </a:r>
          </a:p>
          <a:p>
            <a:r>
              <a:rPr lang="ja-JP" altLang="en-US" b="1" dirty="0">
                <a:solidFill>
                  <a:schemeClr val="tx1"/>
                </a:solidFill>
              </a:rPr>
              <a:t>高精度予測モデル</a:t>
            </a:r>
            <a:br>
              <a:rPr lang="en-US" altLang="ja-JP" b="1" dirty="0">
                <a:solidFill>
                  <a:schemeClr val="tx1"/>
                </a:solidFill>
              </a:rPr>
            </a:br>
            <a:r>
              <a:rPr lang="ja-JP" altLang="en-US" b="1" dirty="0">
                <a:solidFill>
                  <a:schemeClr val="tx1"/>
                </a:solidFill>
              </a:rPr>
              <a:t>の確立</a:t>
            </a:r>
            <a:r>
              <a:rPr lang="en-US" altLang="ja-JP" b="1" dirty="0">
                <a:solidFill>
                  <a:schemeClr val="tx1"/>
                </a:solidFill>
              </a:rPr>
              <a:t>		</a:t>
            </a:r>
          </a:p>
          <a:p>
            <a:br>
              <a:rPr lang="ja-JP" altLang="en-US" b="1" dirty="0">
                <a:solidFill>
                  <a:schemeClr val="tx1"/>
                </a:solidFill>
              </a:rPr>
            </a:br>
            <a:r>
              <a:rPr lang="en-US" altLang="ja-JP" dirty="0">
                <a:solidFill>
                  <a:schemeClr val="tx1"/>
                </a:solidFill>
              </a:rPr>
              <a:t>BERT</a:t>
            </a:r>
            <a:r>
              <a:rPr lang="ja-JP" altLang="en-US" dirty="0">
                <a:solidFill>
                  <a:schemeClr val="tx1"/>
                </a:solidFill>
              </a:rPr>
              <a:t>により商品名の意味的特徴（辛さ・素材感等）を抽出することで、</a:t>
            </a:r>
            <a:r>
              <a:rPr lang="en-US" altLang="ja-JP" dirty="0">
                <a:solidFill>
                  <a:schemeClr val="tx1"/>
                </a:solidFill>
              </a:rPr>
              <a:t>13</a:t>
            </a:r>
            <a:r>
              <a:rPr lang="ja-JP" altLang="en-US" dirty="0">
                <a:solidFill>
                  <a:schemeClr val="tx1"/>
                </a:solidFill>
              </a:rPr>
              <a:t>種類のレトルトカレーを含む特定商品の需要変動を高精度に捕捉。非線形なスパイク需要の予測に成功した。</a:t>
            </a:r>
            <a:endParaRPr lang="en-US" altLang="ja-JP" dirty="0">
              <a:solidFill>
                <a:schemeClr val="tx1"/>
              </a:solidFill>
            </a:endParaRPr>
          </a:p>
          <a:p>
            <a:endParaRPr lang="ja-JP" altLang="en-US" dirty="0">
              <a:solidFill>
                <a:schemeClr val="tx1"/>
              </a:solidFill>
            </a:endParaRPr>
          </a:p>
        </p:txBody>
      </p:sp>
      <p:sp>
        <p:nvSpPr>
          <p:cNvPr id="3" name="四角形: 角を丸くする 2">
            <a:extLst>
              <a:ext uri="{FF2B5EF4-FFF2-40B4-BE49-F238E27FC236}">
                <a16:creationId xmlns:a16="http://schemas.microsoft.com/office/drawing/2014/main" id="{69FACBCE-B24F-F41B-5B8C-CFC707E6D282}"/>
              </a:ext>
            </a:extLst>
          </p:cNvPr>
          <p:cNvSpPr/>
          <p:nvPr/>
        </p:nvSpPr>
        <p:spPr>
          <a:xfrm>
            <a:off x="8128001" y="2463799"/>
            <a:ext cx="3547534" cy="42079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7CFAE3C3-3BC0-868C-CDF1-20FC4E99DD48}"/>
              </a:ext>
            </a:extLst>
          </p:cNvPr>
          <p:cNvSpPr/>
          <p:nvPr/>
        </p:nvSpPr>
        <p:spPr>
          <a:xfrm>
            <a:off x="4275667" y="2463799"/>
            <a:ext cx="3547534" cy="4207934"/>
          </a:xfrm>
          <a:prstGeom prst="round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8AAEB54C-23B6-2243-8FF6-9DB24F50DEDA}"/>
              </a:ext>
            </a:extLst>
          </p:cNvPr>
          <p:cNvSpPr/>
          <p:nvPr/>
        </p:nvSpPr>
        <p:spPr>
          <a:xfrm>
            <a:off x="4275667" y="2598735"/>
            <a:ext cx="3547534" cy="4072998"/>
          </a:xfrm>
          <a:prstGeom prst="round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3600" b="1" dirty="0">
                <a:solidFill>
                  <a:schemeClr val="bg2">
                    <a:lumMod val="75000"/>
                  </a:schemeClr>
                </a:solidFill>
              </a:rPr>
              <a:t>02</a:t>
            </a:r>
          </a:p>
          <a:p>
            <a:r>
              <a:rPr lang="ja-JP" altLang="en-US" b="1" dirty="0">
                <a:solidFill>
                  <a:schemeClr val="tx1"/>
                </a:solidFill>
              </a:rPr>
              <a:t>広告遅延効果の</a:t>
            </a:r>
            <a:r>
              <a:rPr lang="ja-JP" altLang="en-US" sz="1200" b="1" dirty="0">
                <a:solidFill>
                  <a:schemeClr val="tx1"/>
                </a:solidFill>
              </a:rPr>
              <a:t>（</a:t>
            </a:r>
            <a:r>
              <a:rPr lang="en-US" altLang="ja-JP" sz="1200" b="1" dirty="0">
                <a:solidFill>
                  <a:schemeClr val="tx1"/>
                </a:solidFill>
              </a:rPr>
              <a:t>3</a:t>
            </a:r>
            <a:r>
              <a:rPr lang="ja-JP" altLang="en-US" sz="1200" b="1" dirty="0">
                <a:solidFill>
                  <a:schemeClr val="tx1"/>
                </a:solidFill>
              </a:rPr>
              <a:t>週間のリード</a:t>
            </a:r>
            <a:br>
              <a:rPr lang="en-US" altLang="ja-JP" b="1" dirty="0">
                <a:solidFill>
                  <a:schemeClr val="tx1"/>
                </a:solidFill>
              </a:rPr>
            </a:br>
            <a:r>
              <a:rPr lang="ja-JP" altLang="en-US" b="1" dirty="0">
                <a:solidFill>
                  <a:schemeClr val="tx1"/>
                </a:solidFill>
              </a:rPr>
              <a:t>科学的実証</a:t>
            </a:r>
            <a:r>
              <a:rPr lang="en-US" altLang="ja-JP" b="1" dirty="0">
                <a:solidFill>
                  <a:schemeClr val="tx1"/>
                </a:solidFill>
              </a:rPr>
              <a:t>	</a:t>
            </a:r>
            <a:r>
              <a:rPr lang="ja-JP" altLang="en-US" sz="1200" b="1" dirty="0">
                <a:solidFill>
                  <a:schemeClr val="tx1"/>
                </a:solidFill>
              </a:rPr>
              <a:t>タイム）</a:t>
            </a:r>
          </a:p>
          <a:p>
            <a:br>
              <a:rPr lang="ja-JP" altLang="en-US" b="1" dirty="0">
                <a:solidFill>
                  <a:schemeClr val="tx1"/>
                </a:solidFill>
              </a:rPr>
            </a:br>
            <a:r>
              <a:rPr lang="en-US" altLang="ja-JP" dirty="0">
                <a:solidFill>
                  <a:schemeClr val="tx1"/>
                </a:solidFill>
              </a:rPr>
              <a:t>PI</a:t>
            </a:r>
            <a:r>
              <a:rPr lang="ja-JP" altLang="en-US" dirty="0">
                <a:solidFill>
                  <a:schemeClr val="tx1"/>
                </a:solidFill>
              </a:rPr>
              <a:t>および</a:t>
            </a:r>
            <a:r>
              <a:rPr lang="en-US" altLang="ja-JP" dirty="0">
                <a:solidFill>
                  <a:schemeClr val="tx1"/>
                </a:solidFill>
              </a:rPr>
              <a:t>SHAP</a:t>
            </a:r>
            <a:r>
              <a:rPr lang="ja-JP" altLang="en-US" dirty="0">
                <a:solidFill>
                  <a:schemeClr val="tx1"/>
                </a:solidFill>
              </a:rPr>
              <a:t>分析により、広告投下から購買行動に至るまでに「約</a:t>
            </a:r>
            <a:r>
              <a:rPr lang="en-US" altLang="ja-JP" dirty="0">
                <a:solidFill>
                  <a:schemeClr val="tx1"/>
                </a:solidFill>
              </a:rPr>
              <a:t>3</a:t>
            </a:r>
            <a:r>
              <a:rPr lang="ja-JP" altLang="en-US" dirty="0">
                <a:solidFill>
                  <a:schemeClr val="tx1"/>
                </a:solidFill>
              </a:rPr>
              <a:t>週間」のタイムラグ（</a:t>
            </a:r>
            <a:r>
              <a:rPr lang="en-US" altLang="ja-JP" dirty="0">
                <a:solidFill>
                  <a:schemeClr val="tx1"/>
                </a:solidFill>
              </a:rPr>
              <a:t>lag3</a:t>
            </a:r>
            <a:r>
              <a:rPr lang="ja-JP" altLang="en-US" dirty="0">
                <a:solidFill>
                  <a:schemeClr val="tx1"/>
                </a:solidFill>
              </a:rPr>
              <a:t>）が存在することを特定。この遅延効果をモデルに組み込むことで、予測精度と説明性を大幅に向上させた。</a:t>
            </a:r>
          </a:p>
        </p:txBody>
      </p:sp>
      <p:sp>
        <p:nvSpPr>
          <p:cNvPr id="6" name="四角形: 角を丸くする 5">
            <a:extLst>
              <a:ext uri="{FF2B5EF4-FFF2-40B4-BE49-F238E27FC236}">
                <a16:creationId xmlns:a16="http://schemas.microsoft.com/office/drawing/2014/main" id="{AE478495-8412-B3A8-BD90-800B9A1335CF}"/>
              </a:ext>
            </a:extLst>
          </p:cNvPr>
          <p:cNvSpPr/>
          <p:nvPr/>
        </p:nvSpPr>
        <p:spPr>
          <a:xfrm>
            <a:off x="8128001" y="2598735"/>
            <a:ext cx="3547534" cy="407299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3600" b="1" dirty="0">
                <a:solidFill>
                  <a:schemeClr val="bg2">
                    <a:lumMod val="75000"/>
                  </a:schemeClr>
                </a:solidFill>
              </a:rPr>
              <a:t>03</a:t>
            </a:r>
          </a:p>
          <a:p>
            <a:r>
              <a:rPr lang="ja-JP" altLang="en-US" b="1" dirty="0">
                <a:solidFill>
                  <a:schemeClr val="tx1"/>
                </a:solidFill>
              </a:rPr>
              <a:t>広告</a:t>
            </a:r>
            <a:r>
              <a:rPr lang="en-US" altLang="ja-JP" b="1" dirty="0">
                <a:solidFill>
                  <a:schemeClr val="tx1"/>
                </a:solidFill>
              </a:rPr>
              <a:t>ROI</a:t>
            </a:r>
            <a:r>
              <a:rPr lang="ja-JP" altLang="en-US" b="1" dirty="0">
                <a:solidFill>
                  <a:schemeClr val="tx1"/>
                </a:solidFill>
              </a:rPr>
              <a:t>の定量化と</a:t>
            </a:r>
            <a:endParaRPr lang="en-US" altLang="ja-JP" b="1" dirty="0">
              <a:solidFill>
                <a:schemeClr val="tx1"/>
              </a:solidFill>
            </a:endParaRPr>
          </a:p>
          <a:p>
            <a:r>
              <a:rPr lang="ja-JP" altLang="en-US" b="1" dirty="0">
                <a:solidFill>
                  <a:srgbClr val="0070C0"/>
                </a:solidFill>
              </a:rPr>
              <a:t>在庫最適化への示唆</a:t>
            </a:r>
            <a:endParaRPr lang="en-US" altLang="ja-JP" b="1" dirty="0">
              <a:solidFill>
                <a:srgbClr val="0070C0"/>
              </a:solidFill>
            </a:endParaRPr>
          </a:p>
          <a:p>
            <a:endParaRPr lang="en-US" altLang="ja-JP" sz="1050" b="1" dirty="0">
              <a:solidFill>
                <a:srgbClr val="0070C0"/>
              </a:solidFill>
            </a:endParaRPr>
          </a:p>
          <a:p>
            <a:br>
              <a:rPr lang="ja-JP" altLang="en-US" sz="900" b="1" dirty="0">
                <a:solidFill>
                  <a:schemeClr val="tx1"/>
                </a:solidFill>
              </a:rPr>
            </a:br>
            <a:r>
              <a:rPr lang="ja-JP" altLang="en-US" dirty="0">
                <a:solidFill>
                  <a:schemeClr val="tx1"/>
                </a:solidFill>
              </a:rPr>
              <a:t>広告投下から</a:t>
            </a:r>
            <a:r>
              <a:rPr lang="en-US" altLang="ja-JP" dirty="0">
                <a:solidFill>
                  <a:schemeClr val="tx1"/>
                </a:solidFill>
              </a:rPr>
              <a:t>3</a:t>
            </a:r>
            <a:r>
              <a:rPr lang="ja-JP" altLang="en-US" dirty="0">
                <a:solidFill>
                  <a:schemeClr val="tx1"/>
                </a:solidFill>
              </a:rPr>
              <a:t>週間後の需要ピーク時に合わせた在庫確保が重要。</a:t>
            </a:r>
            <a:r>
              <a:rPr lang="en-US" altLang="ja-JP" dirty="0">
                <a:solidFill>
                  <a:schemeClr val="tx1"/>
                </a:solidFill>
              </a:rPr>
              <a:t> </a:t>
            </a:r>
            <a:r>
              <a:rPr lang="ja-JP" altLang="en-US" dirty="0">
                <a:solidFill>
                  <a:schemeClr val="tx1"/>
                </a:solidFill>
              </a:rPr>
              <a:t>また無反応層への過剰投下を抑制し説得可能層へリソースを集中させることで</a:t>
            </a:r>
            <a:r>
              <a:rPr lang="en-US" altLang="ja-JP" dirty="0">
                <a:solidFill>
                  <a:schemeClr val="tx1"/>
                </a:solidFill>
              </a:rPr>
              <a:t>, </a:t>
            </a:r>
            <a:r>
              <a:rPr lang="ja-JP" altLang="en-US" dirty="0">
                <a:solidFill>
                  <a:schemeClr val="tx1"/>
                </a:solidFill>
              </a:rPr>
              <a:t>広告</a:t>
            </a:r>
            <a:r>
              <a:rPr lang="en-US" altLang="ja-JP" dirty="0">
                <a:solidFill>
                  <a:schemeClr val="tx1"/>
                </a:solidFill>
              </a:rPr>
              <a:t>ROI</a:t>
            </a:r>
            <a:r>
              <a:rPr lang="ja-JP" altLang="en-US" dirty="0">
                <a:solidFill>
                  <a:schemeClr val="tx1"/>
                </a:solidFill>
              </a:rPr>
              <a:t>の劇的な改善と欠品損失の最小化を同時に実現する指針を得るに至った。</a:t>
            </a:r>
          </a:p>
        </p:txBody>
      </p:sp>
      <p:sp>
        <p:nvSpPr>
          <p:cNvPr id="10" name="正方形/長方形 9">
            <a:extLst>
              <a:ext uri="{FF2B5EF4-FFF2-40B4-BE49-F238E27FC236}">
                <a16:creationId xmlns:a16="http://schemas.microsoft.com/office/drawing/2014/main" id="{42A70649-FA7B-F250-2649-B0DA8465CF2F}"/>
              </a:ext>
            </a:extLst>
          </p:cNvPr>
          <p:cNvSpPr/>
          <p:nvPr/>
        </p:nvSpPr>
        <p:spPr>
          <a:xfrm>
            <a:off x="2624328" y="3429000"/>
            <a:ext cx="1225296" cy="521208"/>
          </a:xfrm>
          <a:prstGeom prst="rect">
            <a:avLst/>
          </a:prstGeom>
          <a:ln>
            <a:solidFill>
              <a:srgbClr val="0070C0"/>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ja-JP" sz="1400" b="1" dirty="0">
                <a:solidFill>
                  <a:srgbClr val="0070C0"/>
                </a:solidFill>
              </a:rPr>
              <a:t>RMSE 16.87</a:t>
            </a:r>
            <a:br>
              <a:rPr lang="en-US" altLang="ja-JP" sz="1400" b="1" dirty="0">
                <a:solidFill>
                  <a:srgbClr val="0070C0"/>
                </a:solidFill>
              </a:rPr>
            </a:br>
            <a:r>
              <a:rPr lang="en-US" altLang="ja-JP" sz="1400" b="1" dirty="0">
                <a:solidFill>
                  <a:schemeClr val="tx1"/>
                </a:solidFill>
              </a:rPr>
              <a:t> </a:t>
            </a:r>
            <a:r>
              <a:rPr lang="en-US" altLang="ja-JP" sz="1400" b="1" dirty="0">
                <a:solidFill>
                  <a:srgbClr val="0070C0"/>
                </a:solidFill>
              </a:rPr>
              <a:t>60.8%</a:t>
            </a:r>
            <a:r>
              <a:rPr lang="ja-JP" altLang="en-US" sz="1400" b="1" dirty="0">
                <a:solidFill>
                  <a:srgbClr val="0070C0"/>
                </a:solidFill>
              </a:rPr>
              <a:t>改善</a:t>
            </a:r>
            <a:endParaRPr kumimoji="1" lang="ja-JP" altLang="en-US" sz="1400" dirty="0"/>
          </a:p>
        </p:txBody>
      </p:sp>
      <p:pic>
        <p:nvPicPr>
          <p:cNvPr id="12" name="グラフィックス 11" descr="付箋 単色塗りつぶし">
            <a:extLst>
              <a:ext uri="{FF2B5EF4-FFF2-40B4-BE49-F238E27FC236}">
                <a16:creationId xmlns:a16="http://schemas.microsoft.com/office/drawing/2014/main" id="{88B8DB34-7C47-9381-D0F1-6C757975226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88135" y="2598735"/>
            <a:ext cx="830265" cy="830265"/>
          </a:xfrm>
          <a:prstGeom prst="rect">
            <a:avLst/>
          </a:prstGeom>
        </p:spPr>
      </p:pic>
      <p:pic>
        <p:nvPicPr>
          <p:cNvPr id="14" name="グラフィックス 13" descr="プレゼンテーション (棒グラフ) 単色塗りつぶし">
            <a:extLst>
              <a:ext uri="{FF2B5EF4-FFF2-40B4-BE49-F238E27FC236}">
                <a16:creationId xmlns:a16="http://schemas.microsoft.com/office/drawing/2014/main" id="{C860C4C7-5DC9-1567-6BC0-C388CF55C81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71216" y="2594250"/>
            <a:ext cx="822960" cy="822960"/>
          </a:xfrm>
          <a:prstGeom prst="rect">
            <a:avLst/>
          </a:prstGeom>
        </p:spPr>
      </p:pic>
      <p:pic>
        <p:nvPicPr>
          <p:cNvPr id="16" name="グラフィックス 15" descr="裁きの天秤 単色塗りつぶし">
            <a:extLst>
              <a:ext uri="{FF2B5EF4-FFF2-40B4-BE49-F238E27FC236}">
                <a16:creationId xmlns:a16="http://schemas.microsoft.com/office/drawing/2014/main" id="{E02D4FAC-9FFD-2441-0F46-CAF90AE84CD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24744" y="2594250"/>
            <a:ext cx="829056" cy="829056"/>
          </a:xfrm>
          <a:prstGeom prst="rect">
            <a:avLst/>
          </a:prstGeom>
        </p:spPr>
      </p:pic>
      <p:cxnSp>
        <p:nvCxnSpPr>
          <p:cNvPr id="11" name="直線コネクタ 10">
            <a:extLst>
              <a:ext uri="{FF2B5EF4-FFF2-40B4-BE49-F238E27FC236}">
                <a16:creationId xmlns:a16="http://schemas.microsoft.com/office/drawing/2014/main" id="{0D440A1C-667B-1336-D291-555BDB8FA915}"/>
              </a:ext>
            </a:extLst>
          </p:cNvPr>
          <p:cNvCxnSpPr/>
          <p:nvPr/>
        </p:nvCxnSpPr>
        <p:spPr>
          <a:xfrm>
            <a:off x="838200" y="630301"/>
            <a:ext cx="0" cy="677291"/>
          </a:xfrm>
          <a:prstGeom prst="line">
            <a:avLst/>
          </a:prstGeom>
          <a:ln w="762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3" name="直線コネクタ 12">
            <a:extLst>
              <a:ext uri="{FF2B5EF4-FFF2-40B4-BE49-F238E27FC236}">
                <a16:creationId xmlns:a16="http://schemas.microsoft.com/office/drawing/2014/main" id="{612C8E87-B99D-0311-C5F5-A91EEB7B1A88}"/>
              </a:ext>
            </a:extLst>
          </p:cNvPr>
          <p:cNvCxnSpPr/>
          <p:nvPr/>
        </p:nvCxnSpPr>
        <p:spPr>
          <a:xfrm>
            <a:off x="0" y="0"/>
            <a:ext cx="12192000" cy="0"/>
          </a:xfrm>
          <a:prstGeom prst="line">
            <a:avLst/>
          </a:prstGeom>
          <a:ln w="762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731155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29FE7435-C14A-249B-8853-8BB9215B3094}"/>
              </a:ext>
            </a:extLst>
          </p:cNvPr>
          <p:cNvSpPr/>
          <p:nvPr/>
        </p:nvSpPr>
        <p:spPr>
          <a:xfrm>
            <a:off x="6348984" y="4392168"/>
            <a:ext cx="5568696" cy="21488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89B20D18-B7E6-C005-D7A2-BE11D0DC0982}"/>
              </a:ext>
            </a:extLst>
          </p:cNvPr>
          <p:cNvSpPr/>
          <p:nvPr/>
        </p:nvSpPr>
        <p:spPr>
          <a:xfrm>
            <a:off x="6446520" y="4392168"/>
            <a:ext cx="5471160" cy="214884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altLang="ja-JP" sz="3200" b="1" dirty="0">
                <a:solidFill>
                  <a:schemeClr val="bg1">
                    <a:lumMod val="65000"/>
                  </a:schemeClr>
                </a:solidFill>
              </a:rPr>
              <a:t>04</a:t>
            </a:r>
            <a:r>
              <a:rPr lang="en-US" altLang="ja-JP" b="1" dirty="0"/>
              <a:t>    </a:t>
            </a:r>
            <a:r>
              <a:rPr lang="ja-JP" altLang="en-US" b="1" dirty="0"/>
              <a:t>オンラインデータのリアルタイム連携</a:t>
            </a:r>
          </a:p>
          <a:p>
            <a:endParaRPr lang="en-US" altLang="ja-JP" sz="1600" dirty="0"/>
          </a:p>
          <a:p>
            <a:r>
              <a:rPr lang="en-US" altLang="ja-JP" sz="1600" b="1" dirty="0">
                <a:solidFill>
                  <a:schemeClr val="tx1">
                    <a:lumMod val="50000"/>
                    <a:lumOff val="50000"/>
                  </a:schemeClr>
                </a:solidFill>
              </a:rPr>
              <a:t>SNS</a:t>
            </a:r>
            <a:r>
              <a:rPr lang="ja-JP" altLang="en-US" sz="1600" b="1" dirty="0">
                <a:solidFill>
                  <a:schemeClr val="tx1">
                    <a:lumMod val="50000"/>
                    <a:lumOff val="50000"/>
                  </a:schemeClr>
                </a:solidFill>
              </a:rPr>
              <a:t>のトレンドワードや検索ボリュームをリアルタイムでモデルに入力し、突発的なブームを早期に検知する仕組みを構築する。静的な広告予定だけでなく、動的な社会的関心を需要予測に反映させる。</a:t>
            </a:r>
          </a:p>
          <a:p>
            <a:pPr algn="ctr"/>
            <a:endParaRPr kumimoji="1" lang="ja-JP" altLang="en-US" dirty="0"/>
          </a:p>
        </p:txBody>
      </p:sp>
      <p:sp>
        <p:nvSpPr>
          <p:cNvPr id="2" name="タイトル 1">
            <a:extLst>
              <a:ext uri="{FF2B5EF4-FFF2-40B4-BE49-F238E27FC236}">
                <a16:creationId xmlns:a16="http://schemas.microsoft.com/office/drawing/2014/main" id="{1219F943-CCD6-9703-58A9-E960065F1D2A}"/>
              </a:ext>
            </a:extLst>
          </p:cNvPr>
          <p:cNvSpPr>
            <a:spLocks noGrp="1"/>
          </p:cNvSpPr>
          <p:nvPr>
            <p:ph type="title"/>
          </p:nvPr>
        </p:nvSpPr>
        <p:spPr>
          <a:xfrm>
            <a:off x="838200" y="365125"/>
            <a:ext cx="10515600" cy="741299"/>
          </a:xfrm>
        </p:spPr>
        <p:txBody>
          <a:bodyPr/>
          <a:lstStyle/>
          <a:p>
            <a:r>
              <a:rPr lang="ja-JP" altLang="en-US" b="1" dirty="0"/>
              <a:t>今後の展望</a:t>
            </a:r>
            <a:endParaRPr kumimoji="1" lang="ja-JP" altLang="en-US" dirty="0"/>
          </a:p>
        </p:txBody>
      </p:sp>
      <p:sp>
        <p:nvSpPr>
          <p:cNvPr id="3" name="コンテンツ プレースホルダー 2">
            <a:extLst>
              <a:ext uri="{FF2B5EF4-FFF2-40B4-BE49-F238E27FC236}">
                <a16:creationId xmlns:a16="http://schemas.microsoft.com/office/drawing/2014/main" id="{9DC98EB2-F70E-402E-3ED0-95954131010B}"/>
              </a:ext>
            </a:extLst>
          </p:cNvPr>
          <p:cNvSpPr>
            <a:spLocks noGrp="1"/>
          </p:cNvSpPr>
          <p:nvPr>
            <p:ph idx="1"/>
          </p:nvPr>
        </p:nvSpPr>
        <p:spPr>
          <a:xfrm>
            <a:off x="826008" y="1106424"/>
            <a:ext cx="10515600" cy="576072"/>
          </a:xfrm>
        </p:spPr>
        <p:txBody>
          <a:bodyPr>
            <a:normAutofit fontScale="92500" lnSpcReduction="10000"/>
          </a:bodyPr>
          <a:lstStyle/>
          <a:p>
            <a:pPr marL="0" indent="0">
              <a:buNone/>
            </a:pPr>
            <a:r>
              <a:rPr lang="ja-JP" altLang="en-US" sz="2000" dirty="0"/>
              <a:t>本研究で得られた知見と構築モデルに基づき、実務への応用と更なる発展のために以下の</a:t>
            </a:r>
            <a:r>
              <a:rPr lang="en-US" altLang="ja-JP" sz="2000" dirty="0"/>
              <a:t>4</a:t>
            </a:r>
            <a:r>
              <a:rPr lang="ja-JP" altLang="en-US" sz="2000" dirty="0"/>
              <a:t>つの展開を提案する。</a:t>
            </a:r>
            <a:endParaRPr kumimoji="1" lang="ja-JP" altLang="en-US" sz="2000" dirty="0"/>
          </a:p>
        </p:txBody>
      </p:sp>
      <p:sp>
        <p:nvSpPr>
          <p:cNvPr id="4" name="四角形: 角を丸くする 3">
            <a:extLst>
              <a:ext uri="{FF2B5EF4-FFF2-40B4-BE49-F238E27FC236}">
                <a16:creationId xmlns:a16="http://schemas.microsoft.com/office/drawing/2014/main" id="{1241A14B-E33C-4769-5C77-07DD31720CBF}"/>
              </a:ext>
            </a:extLst>
          </p:cNvPr>
          <p:cNvSpPr/>
          <p:nvPr/>
        </p:nvSpPr>
        <p:spPr>
          <a:xfrm>
            <a:off x="274320" y="1810512"/>
            <a:ext cx="5568696" cy="21488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2C2C644E-DF5C-89A8-CD95-B36A925BAEBF}"/>
              </a:ext>
            </a:extLst>
          </p:cNvPr>
          <p:cNvSpPr/>
          <p:nvPr/>
        </p:nvSpPr>
        <p:spPr>
          <a:xfrm>
            <a:off x="6348984" y="1810512"/>
            <a:ext cx="5568696" cy="2148840"/>
          </a:xfrm>
          <a:prstGeom prst="round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4266BA24-AA8D-095E-C584-C5586FDAEFF8}"/>
              </a:ext>
            </a:extLst>
          </p:cNvPr>
          <p:cNvSpPr/>
          <p:nvPr/>
        </p:nvSpPr>
        <p:spPr>
          <a:xfrm>
            <a:off x="274320" y="4392168"/>
            <a:ext cx="5568696" cy="2148840"/>
          </a:xfrm>
          <a:prstGeom prst="round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4ACE9F88-05E0-8E52-9CEA-2E2C6B15F7EE}"/>
              </a:ext>
            </a:extLst>
          </p:cNvPr>
          <p:cNvSpPr/>
          <p:nvPr/>
        </p:nvSpPr>
        <p:spPr>
          <a:xfrm>
            <a:off x="374904" y="1810512"/>
            <a:ext cx="5468112" cy="214884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altLang="ja-JP" sz="3200" b="1" dirty="0">
                <a:solidFill>
                  <a:schemeClr val="bg1">
                    <a:lumMod val="65000"/>
                  </a:schemeClr>
                </a:solidFill>
              </a:rPr>
              <a:t>01</a:t>
            </a:r>
            <a:r>
              <a:rPr lang="en-US" altLang="ja-JP" b="1" dirty="0"/>
              <a:t>   </a:t>
            </a:r>
            <a:r>
              <a:rPr lang="ja-JP" altLang="en-US" b="1" dirty="0"/>
              <a:t>動的在庫管理システムの構築</a:t>
            </a:r>
          </a:p>
          <a:p>
            <a:endParaRPr lang="en-US" altLang="ja-JP" sz="1600" dirty="0"/>
          </a:p>
          <a:p>
            <a:r>
              <a:rPr lang="ja-JP" altLang="en-US" sz="1600" b="1" dirty="0">
                <a:solidFill>
                  <a:schemeClr val="tx1">
                    <a:lumMod val="50000"/>
                    <a:lumOff val="50000"/>
                  </a:schemeClr>
                </a:solidFill>
              </a:rPr>
              <a:t>広告スケジュールから</a:t>
            </a:r>
            <a:r>
              <a:rPr lang="en-US" altLang="ja-JP" sz="1600" b="1" dirty="0">
                <a:solidFill>
                  <a:schemeClr val="tx1">
                    <a:lumMod val="50000"/>
                    <a:lumOff val="50000"/>
                  </a:schemeClr>
                </a:solidFill>
              </a:rPr>
              <a:t>3</a:t>
            </a:r>
            <a:r>
              <a:rPr lang="ja-JP" altLang="en-US" sz="1600" b="1" dirty="0">
                <a:solidFill>
                  <a:schemeClr val="tx1">
                    <a:lumMod val="50000"/>
                    <a:lumOff val="50000"/>
                  </a:schemeClr>
                </a:solidFill>
              </a:rPr>
              <a:t>週間後の需要増（</a:t>
            </a:r>
            <a:r>
              <a:rPr lang="en-US" altLang="ja-JP" sz="1600" b="1" dirty="0">
                <a:solidFill>
                  <a:schemeClr val="tx1">
                    <a:lumMod val="50000"/>
                    <a:lumOff val="50000"/>
                  </a:schemeClr>
                </a:solidFill>
              </a:rPr>
              <a:t>Uplift</a:t>
            </a:r>
            <a:r>
              <a:rPr lang="ja-JP" altLang="en-US" sz="1600" b="1" dirty="0">
                <a:solidFill>
                  <a:schemeClr val="tx1">
                    <a:lumMod val="50000"/>
                    <a:lumOff val="50000"/>
                  </a:schemeClr>
                </a:solidFill>
              </a:rPr>
              <a:t>）を逆算し、最適な納入タイミングを自動指示するシステムへ発展させる。これにより、欠品による機会損失と過剰在庫の廃棄リスクを同時に最小化する。</a:t>
            </a:r>
          </a:p>
          <a:p>
            <a:pPr algn="ctr"/>
            <a:endParaRPr kumimoji="1" lang="ja-JP" altLang="en-US" dirty="0"/>
          </a:p>
        </p:txBody>
      </p:sp>
      <p:sp>
        <p:nvSpPr>
          <p:cNvPr id="10" name="四角形: 角を丸くする 9">
            <a:extLst>
              <a:ext uri="{FF2B5EF4-FFF2-40B4-BE49-F238E27FC236}">
                <a16:creationId xmlns:a16="http://schemas.microsoft.com/office/drawing/2014/main" id="{4062F13D-7F80-EF9F-CD6A-2FF8F2287421}"/>
              </a:ext>
            </a:extLst>
          </p:cNvPr>
          <p:cNvSpPr/>
          <p:nvPr/>
        </p:nvSpPr>
        <p:spPr>
          <a:xfrm>
            <a:off x="374904" y="4392168"/>
            <a:ext cx="5468112" cy="214884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r>
              <a:rPr lang="en-US" altLang="ja-JP" sz="3200" b="1" dirty="0">
                <a:solidFill>
                  <a:schemeClr val="bg1">
                    <a:lumMod val="65000"/>
                  </a:schemeClr>
                </a:solidFill>
              </a:rPr>
              <a:t>03</a:t>
            </a:r>
            <a:r>
              <a:rPr lang="en-US" altLang="ja-JP" b="1" dirty="0"/>
              <a:t>    </a:t>
            </a:r>
            <a:r>
              <a:rPr lang="ja-JP" altLang="en-US" b="1" dirty="0"/>
              <a:t>他カテゴリーへの展開</a:t>
            </a:r>
          </a:p>
          <a:p>
            <a:endParaRPr lang="en-US" altLang="ja-JP" sz="1600" dirty="0"/>
          </a:p>
          <a:p>
            <a:r>
              <a:rPr lang="ja-JP" altLang="en-US" sz="1600" b="1" dirty="0">
                <a:solidFill>
                  <a:schemeClr val="tx1">
                    <a:lumMod val="50000"/>
                    <a:lumOff val="50000"/>
                  </a:schemeClr>
                </a:solidFill>
              </a:rPr>
              <a:t>レトルトカレー以外の生活雑貨（衣類、文房具など）においても、同様のタイムラグや意味的特徴が存在するかを検証する。カテゴリーごとの特性に合わせたモデルチューニングを行い、店舗全体の最適化を図る。</a:t>
            </a:r>
          </a:p>
          <a:p>
            <a:pPr algn="ctr"/>
            <a:endParaRPr kumimoji="1" lang="ja-JP" altLang="en-US" dirty="0"/>
          </a:p>
        </p:txBody>
      </p:sp>
      <p:sp>
        <p:nvSpPr>
          <p:cNvPr id="11" name="四角形: 角を丸くする 10">
            <a:extLst>
              <a:ext uri="{FF2B5EF4-FFF2-40B4-BE49-F238E27FC236}">
                <a16:creationId xmlns:a16="http://schemas.microsoft.com/office/drawing/2014/main" id="{EA5DE1A3-B972-EBEA-4DA0-14FB5B32FD13}"/>
              </a:ext>
            </a:extLst>
          </p:cNvPr>
          <p:cNvSpPr/>
          <p:nvPr/>
        </p:nvSpPr>
        <p:spPr>
          <a:xfrm>
            <a:off x="6446520" y="1810512"/>
            <a:ext cx="5468112" cy="214884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r>
              <a:rPr lang="en-US" altLang="ja-JP" sz="3200" b="1" dirty="0">
                <a:solidFill>
                  <a:schemeClr val="bg1">
                    <a:lumMod val="65000"/>
                  </a:schemeClr>
                </a:solidFill>
              </a:rPr>
              <a:t>02</a:t>
            </a:r>
            <a:r>
              <a:rPr lang="en-US" altLang="ja-JP" b="1" dirty="0"/>
              <a:t>   </a:t>
            </a:r>
            <a:r>
              <a:rPr lang="ja-JP" altLang="en-US" b="1" dirty="0"/>
              <a:t>広告クリエイティブの最適化</a:t>
            </a:r>
          </a:p>
          <a:p>
            <a:endParaRPr lang="en-US" altLang="ja-JP" sz="1600" dirty="0"/>
          </a:p>
          <a:p>
            <a:r>
              <a:rPr lang="en-US" altLang="ja-JP" sz="1600" b="1" dirty="0">
                <a:solidFill>
                  <a:schemeClr val="tx1">
                    <a:lumMod val="50000"/>
                    <a:lumOff val="50000"/>
                  </a:schemeClr>
                </a:solidFill>
              </a:rPr>
              <a:t>BERT</a:t>
            </a:r>
            <a:r>
              <a:rPr lang="ja-JP" altLang="en-US" sz="1600" b="1" dirty="0">
                <a:solidFill>
                  <a:schemeClr val="tx1">
                    <a:lumMod val="50000"/>
                    <a:lumOff val="50000"/>
                  </a:schemeClr>
                </a:solidFill>
              </a:rPr>
              <a:t>特徴量の解析により、どのような商品名やフレーズ（例：「素材感」「辛さの強調」）がより高い</a:t>
            </a:r>
            <a:r>
              <a:rPr lang="en-US" altLang="ja-JP" sz="1600" b="1" dirty="0">
                <a:solidFill>
                  <a:schemeClr val="tx1">
                    <a:lumMod val="50000"/>
                    <a:lumOff val="50000"/>
                  </a:schemeClr>
                </a:solidFill>
              </a:rPr>
              <a:t>Uplift</a:t>
            </a:r>
            <a:r>
              <a:rPr lang="ja-JP" altLang="en-US" sz="1600" b="1" dirty="0">
                <a:solidFill>
                  <a:schemeClr val="tx1">
                    <a:lumMod val="50000"/>
                    <a:lumOff val="50000"/>
                  </a:schemeClr>
                </a:solidFill>
              </a:rPr>
              <a:t>を生むかを特定。商品開発時のネーミング支援や、効果的な広告作成に応用する。</a:t>
            </a:r>
          </a:p>
          <a:p>
            <a:pPr algn="ctr"/>
            <a:endParaRPr kumimoji="1" lang="ja-JP" altLang="en-US" dirty="0"/>
          </a:p>
        </p:txBody>
      </p:sp>
      <p:pic>
        <p:nvPicPr>
          <p:cNvPr id="15" name="グラフィックス 14" descr="クリップボード 単色塗りつぶし">
            <a:extLst>
              <a:ext uri="{FF2B5EF4-FFF2-40B4-BE49-F238E27FC236}">
                <a16:creationId xmlns:a16="http://schemas.microsoft.com/office/drawing/2014/main" id="{22E11F23-348D-6C93-3D6C-02F8207239A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80432" y="1810512"/>
            <a:ext cx="758952" cy="758952"/>
          </a:xfrm>
          <a:prstGeom prst="rect">
            <a:avLst/>
          </a:prstGeom>
        </p:spPr>
      </p:pic>
      <p:pic>
        <p:nvPicPr>
          <p:cNvPr id="17" name="グラフィックス 16" descr="ツール 単色塗りつぶし">
            <a:extLst>
              <a:ext uri="{FF2B5EF4-FFF2-40B4-BE49-F238E27FC236}">
                <a16:creationId xmlns:a16="http://schemas.microsoft.com/office/drawing/2014/main" id="{A52693E4-6984-2792-12D1-05CC0EEA860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91672" y="1847723"/>
            <a:ext cx="725424" cy="725424"/>
          </a:xfrm>
          <a:prstGeom prst="rect">
            <a:avLst/>
          </a:prstGeom>
        </p:spPr>
      </p:pic>
      <p:pic>
        <p:nvPicPr>
          <p:cNvPr id="19" name="グラフィックス 18" descr="プレゼンテーション (円グラフ) 単色塗りつぶし">
            <a:extLst>
              <a:ext uri="{FF2B5EF4-FFF2-40B4-BE49-F238E27FC236}">
                <a16:creationId xmlns:a16="http://schemas.microsoft.com/office/drawing/2014/main" id="{4871BB0C-20E8-3E2A-EE8B-439D98807F5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80432" y="4392168"/>
            <a:ext cx="758952" cy="758952"/>
          </a:xfrm>
          <a:prstGeom prst="rect">
            <a:avLst/>
          </a:prstGeom>
        </p:spPr>
      </p:pic>
      <p:pic>
        <p:nvPicPr>
          <p:cNvPr id="23" name="グラフィックス 22" descr="ワイヤレス 単色塗りつぶし">
            <a:extLst>
              <a:ext uri="{FF2B5EF4-FFF2-40B4-BE49-F238E27FC236}">
                <a16:creationId xmlns:a16="http://schemas.microsoft.com/office/drawing/2014/main" id="{C5B978D9-410C-6241-4AF7-116FE875E33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155680" y="4392168"/>
            <a:ext cx="758952" cy="758952"/>
          </a:xfrm>
          <a:prstGeom prst="rect">
            <a:avLst/>
          </a:prstGeom>
        </p:spPr>
      </p:pic>
      <p:cxnSp>
        <p:nvCxnSpPr>
          <p:cNvPr id="13" name="直線コネクタ 12">
            <a:extLst>
              <a:ext uri="{FF2B5EF4-FFF2-40B4-BE49-F238E27FC236}">
                <a16:creationId xmlns:a16="http://schemas.microsoft.com/office/drawing/2014/main" id="{D3DE0CD5-52B3-C988-5CD8-6ECAE4D73C86}"/>
              </a:ext>
            </a:extLst>
          </p:cNvPr>
          <p:cNvCxnSpPr/>
          <p:nvPr/>
        </p:nvCxnSpPr>
        <p:spPr>
          <a:xfrm>
            <a:off x="826008" y="365125"/>
            <a:ext cx="0" cy="677291"/>
          </a:xfrm>
          <a:prstGeom prst="line">
            <a:avLst/>
          </a:prstGeom>
          <a:ln w="762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4" name="直線コネクタ 13">
            <a:extLst>
              <a:ext uri="{FF2B5EF4-FFF2-40B4-BE49-F238E27FC236}">
                <a16:creationId xmlns:a16="http://schemas.microsoft.com/office/drawing/2014/main" id="{93E4B8BF-9CE8-0BF3-1418-07D45736AAB2}"/>
              </a:ext>
            </a:extLst>
          </p:cNvPr>
          <p:cNvCxnSpPr/>
          <p:nvPr/>
        </p:nvCxnSpPr>
        <p:spPr>
          <a:xfrm>
            <a:off x="0" y="0"/>
            <a:ext cx="12192000" cy="0"/>
          </a:xfrm>
          <a:prstGeom prst="line">
            <a:avLst/>
          </a:prstGeom>
          <a:ln w="762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263008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5709</TotalTime>
  <Words>2563</Words>
  <Application>Microsoft Office PowerPoint</Application>
  <PresentationFormat>ワイド画面</PresentationFormat>
  <Paragraphs>489</Paragraphs>
  <Slides>16</Slides>
  <Notes>4</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16</vt:i4>
      </vt:variant>
    </vt:vector>
  </HeadingPairs>
  <TitlesOfParts>
    <vt:vector size="24" baseType="lpstr">
      <vt:lpstr>DengXian</vt:lpstr>
      <vt:lpstr>PMingLiU</vt:lpstr>
      <vt:lpstr>游ゴシック</vt:lpstr>
      <vt:lpstr>游ゴシック Light</vt:lpstr>
      <vt:lpstr>Arial</vt:lpstr>
      <vt:lpstr>Cambria Math</vt:lpstr>
      <vt:lpstr>Wingdings</vt:lpstr>
      <vt:lpstr>Office テーマ</vt:lpstr>
      <vt:lpstr>広告施策が需要予測に与える影響分析 </vt:lpstr>
      <vt:lpstr>目次</vt:lpstr>
      <vt:lpstr>研究背景</vt:lpstr>
      <vt:lpstr>研究目的</vt:lpstr>
      <vt:lpstr>方法論・モデル構成</vt:lpstr>
      <vt:lpstr>データセット</vt:lpstr>
      <vt:lpstr>特徴量エンジニアリング(PI・SHAP分析) </vt:lpstr>
      <vt:lpstr>反復的最適化プロセス</vt:lpstr>
      <vt:lpstr>最終モデル構造</vt:lpstr>
      <vt:lpstr>結果：精度向上の達成</vt:lpstr>
      <vt:lpstr>考察➀：特徴量の重要度分析</vt:lpstr>
      <vt:lpstr>考察➁： Uplift分析による広告効果の個別化 因果推論(S-Learner)とAIの融合による顧客セグメント分類</vt:lpstr>
      <vt:lpstr>データが明かす決定的差異 説得可能層（Persuadables）と無反応層（Sleepers/Lost Causes）の特徴量プロファイル比較</vt:lpstr>
      <vt:lpstr>データドリブン意思決定 実務への戦略的提言とROI改善シミュレーション</vt:lpstr>
      <vt:lpstr>結論</vt:lpstr>
      <vt:lpstr>今後の展望</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青柳　匠真</dc:creator>
  <cp:lastModifiedBy>青柳　匠真</cp:lastModifiedBy>
  <cp:revision>28</cp:revision>
  <dcterms:created xsi:type="dcterms:W3CDTF">2026-01-05T06:17:29Z</dcterms:created>
  <dcterms:modified xsi:type="dcterms:W3CDTF">2026-01-27T13:14:15Z</dcterms:modified>
</cp:coreProperties>
</file>